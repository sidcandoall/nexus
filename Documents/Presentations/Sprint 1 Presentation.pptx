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x="18288000" cy="10287000"/>
  <p:notesSz cx="6858000" cy="9144000"/>
  <p:embeddedFontLst>
    <p:embeddedFont>
      <p:font typeface="Lato" charset="1" panose="020F0502020204030203"/>
      <p:regular r:id="rId48"/>
    </p:embeddedFont>
    <p:embeddedFont>
      <p:font typeface="Helios Extended Bold" charset="1" panose="02000805050000020004"/>
      <p:regular r:id="rId49"/>
    </p:embeddedFont>
    <p:embeddedFont>
      <p:font typeface="Heebo Bold" charset="1" panose="00000800000000000000"/>
      <p:regular r:id="rId50"/>
    </p:embeddedFont>
    <p:embeddedFont>
      <p:font typeface="Arimo" charset="1" panose="020B0604020202020204"/>
      <p:regular r:id="rId51"/>
    </p:embeddedFont>
    <p:embeddedFont>
      <p:font typeface="Helios Extended" charset="1" panose="02000505040000020004"/>
      <p:regular r:id="rId54"/>
    </p:embeddedFont>
    <p:embeddedFont>
      <p:font typeface="Lato Bold" charset="1" panose="020F0502020204030203"/>
      <p:regular r:id="rId55"/>
    </p:embeddedFont>
    <p:embeddedFont>
      <p:font typeface="Open Sauce Bold" charset="1" panose="00000800000000000000"/>
      <p:regular r:id="rId56"/>
    </p:embeddedFont>
    <p:embeddedFont>
      <p:font typeface="Open Sauce" charset="1" panose="00000500000000000000"/>
      <p:regular r:id="rId5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notesMasters/notesMaster1.xml" Type="http://schemas.openxmlformats.org/officeDocument/2006/relationships/notesMaster"/><Relationship Id="rId46" Target="theme/theme2.xml" Type="http://schemas.openxmlformats.org/officeDocument/2006/relationships/theme"/><Relationship Id="rId47" Target="notesSlides/notesSlide1.xml" Type="http://schemas.openxmlformats.org/officeDocument/2006/relationships/notesSlide"/><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notesSlides/notesSlide2.xml" Type="http://schemas.openxmlformats.org/officeDocument/2006/relationships/notesSlide"/><Relationship Id="rId53" Target="notesSlides/notesSlide3.xml" Type="http://schemas.openxmlformats.org/officeDocument/2006/relationships/notesSlide"/><Relationship Id="rId54" Target="fonts/font54.fntdata" Type="http://schemas.openxmlformats.org/officeDocument/2006/relationships/font"/><Relationship Id="rId55" Target="fonts/font55.fntdata" Type="http://schemas.openxmlformats.org/officeDocument/2006/relationships/font"/><Relationship Id="rId56" Target="fonts/font56.fntdata" Type="http://schemas.openxmlformats.org/officeDocument/2006/relationships/font"/><Relationship Id="rId57" Target="fonts/font57.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still need to choose a logo and replace it with the one here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Are we including Professor Wong like he asked? I did it in case, if not, we can take it out.</a:t>
            </a:r>
          </a:p>
          <a:p>
            <a:r>
              <a:rPr lang="en-US"/>
              <a:t/>
            </a:r>
          </a:p>
          <a:p>
            <a:r>
              <a:rPr lang="en-US"/>
              <a:t>Also we need Sanket's and Sai's roles</a:t>
            </a:r>
          </a:p>
          <a:p>
            <a:r>
              <a:rPr lang="en-US"/>
              <a:t/>
            </a:r>
          </a:p>
          <a:p>
            <a:r>
              <a:rPr lang="en-US"/>
              <a:t>We also need pictures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Used a random sad man's picture to depict mental health, lmk if it works! if not, we can change 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 Id="rId7" Target="../media/image6.jpeg" Type="http://schemas.openxmlformats.org/officeDocument/2006/relationships/image"/><Relationship Id="rId8"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https://1drv.ms/x/c/c30f4680ccc79b8c/IQC9fztrzBx4Rrh7wy889blgAWKdZ5Khnt9L0mDcJNT6C-c" TargetMode="External" Type="http://schemas.openxmlformats.org/officeDocument/2006/relationships/hyperlink"/></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https://1drv.ms/x/c/c30f4680ccc79b8c/IQC9fztrzBx4Rrh7wy889blgAWKdZ5Khnt9L0mDcJNT6C-c" TargetMode="External" Type="http://schemas.openxmlformats.org/officeDocument/2006/relationships/hyperlink"/></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embeddings/oleObject1.bin" Type="http://schemas.openxmlformats.org/officeDocument/2006/relationships/oleObject"/><Relationship Id="rId4" Target="https://1drv.ms/x/c/c30f4680ccc79b8c/IQC9fztrzBx4Rrh7wy889blgAWKdZ5Khnt9L0mDcJNT6C-c" TargetMode="External" Type="http://schemas.openxmlformats.org/officeDocument/2006/relationships/hyperlink"/><Relationship Id="rId5" Target="../media/image24.png" Type="http://schemas.openxmlformats.org/officeDocument/2006/relationships/image"/><Relationship Id="rId6" Target="../embeddings/oleObject2.bin" Type="http://schemas.openxmlformats.org/officeDocument/2006/relationships/oleObjec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embeddings/oleObject3.bin" Type="http://schemas.openxmlformats.org/officeDocument/2006/relationships/oleObject"/><Relationship Id="rId4" Target="https://1drv.ms/x/c/c30f4680ccc79b8c/IQC9fztrzBx4Rrh7wy889blgAWKdZ5Khnt9L0mDcJNT6C-c" TargetMode="External" Type="http://schemas.openxmlformats.org/officeDocument/2006/relationships/hyperlink"/></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embeddings/oleObject4.bin" Type="http://schemas.openxmlformats.org/officeDocument/2006/relationships/oleObject"/><Relationship Id="rId4" Target="https://1drv.ms/x/c/c30f4680ccc79b8c/IQC9fztrzBx4Rrh7wy889blgAWKdZ5Khnt9L0mDcJNT6C-c" TargetMode="External" Type="http://schemas.openxmlformats.org/officeDocument/2006/relationships/hyperlink"/></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embeddings/oleObject5.bin" Type="http://schemas.openxmlformats.org/officeDocument/2006/relationships/oleObject"/><Relationship Id="rId4" Target="https://1drv.ms/x/c/c30f4680ccc79b8c/IQC9fztrzBx4Rrh7wy889blgAWKdZ5Khnt9L0mDcJNT6C-c" TargetMode="External" Type="http://schemas.openxmlformats.org/officeDocument/2006/relationships/hyperlink"/></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embeddings/oleObject6.bin" Type="http://schemas.openxmlformats.org/officeDocument/2006/relationships/oleObject"/><Relationship Id="rId4" Target="https://1drv.ms/x/c/c30f4680ccc79b8c/IQC9fztrzBx4Rrh7wy889blgAWKdZ5Khnt9L0mDcJNT6C-c" TargetMode="External" Type="http://schemas.openxmlformats.org/officeDocument/2006/relationships/hyperlink"/></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embeddings/oleObject7.bin" Type="http://schemas.openxmlformats.org/officeDocument/2006/relationships/oleObject"/><Relationship Id="rId4" Target="https://1drv.ms/x/c/c30f4680ccc79b8c/IQC9fztrzBx4Rrh7wy889blgAWKdZ5Khnt9L0mDcJNT6C-c" TargetMode="External" Type="http://schemas.openxmlformats.org/officeDocument/2006/relationships/hyperlink"/></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https://1drv.ms/x/c/c30f4680ccc79b8c/IQC9fztrzBx4Rrh7wy889blgAWKdZ5Khnt9L0mDcJNT6C-c" TargetMode="External" Type="http://schemas.openxmlformats.org/officeDocument/2006/relationships/hyperlink"/></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https://1drv.ms/x/c/c30f4680ccc79b8c/IQC9fztrzBx4Rrh7wy889blgAWKdZ5Khnt9L0mDcJNT6C-c" TargetMode="External" Type="http://schemas.openxmlformats.org/officeDocument/2006/relationships/hyperlink"/></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https://github.com/htmw/2026S-Nexus/wiki" TargetMode="External" Type="http://schemas.openxmlformats.org/officeDocument/2006/relationships/hyperlink"/></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https://youtu.be/KfUrnQxYIyY?si=NbWz5MAF7ZNi5ot7" TargetMode="External" Type="http://schemas.openxmlformats.org/officeDocument/2006/relationships/hyperlink"/></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944078" y="1326430"/>
            <a:ext cx="21203378" cy="7634140"/>
            <a:chOff x="0" y="0"/>
            <a:chExt cx="1128752" cy="406400"/>
          </a:xfrm>
        </p:grpSpPr>
        <p:sp>
          <p:nvSpPr>
            <p:cNvPr name="Freeform 3" id="3"/>
            <p:cNvSpPr/>
            <p:nvPr/>
          </p:nvSpPr>
          <p:spPr>
            <a:xfrm flipH="false" flipV="false" rot="0">
              <a:off x="0" y="0"/>
              <a:ext cx="1128752" cy="406400"/>
            </a:xfrm>
            <a:custGeom>
              <a:avLst/>
              <a:gdLst/>
              <a:ahLst/>
              <a:cxnLst/>
              <a:rect r="r" b="b" t="t" l="l"/>
              <a:pathLst>
                <a:path h="406400" w="1128752">
                  <a:moveTo>
                    <a:pt x="925552" y="0"/>
                  </a:moveTo>
                  <a:cubicBezTo>
                    <a:pt x="1037776" y="0"/>
                    <a:pt x="1128752" y="90976"/>
                    <a:pt x="1128752" y="203200"/>
                  </a:cubicBezTo>
                  <a:cubicBezTo>
                    <a:pt x="1128752" y="315424"/>
                    <a:pt x="1037776" y="406400"/>
                    <a:pt x="925552" y="406400"/>
                  </a:cubicBezTo>
                  <a:lnTo>
                    <a:pt x="203200" y="406400"/>
                  </a:lnTo>
                  <a:cubicBezTo>
                    <a:pt x="90976" y="406400"/>
                    <a:pt x="0" y="315424"/>
                    <a:pt x="0" y="203200"/>
                  </a:cubicBezTo>
                  <a:cubicBezTo>
                    <a:pt x="0" y="90976"/>
                    <a:pt x="90976" y="0"/>
                    <a:pt x="203200" y="0"/>
                  </a:cubicBezTo>
                  <a:close/>
                </a:path>
              </a:pathLst>
            </a:custGeom>
            <a:solidFill>
              <a:srgbClr val="F2F1F1">
                <a:alpha val="80000"/>
              </a:srgbClr>
            </a:solidFill>
          </p:spPr>
        </p:sp>
        <p:sp>
          <p:nvSpPr>
            <p:cNvPr name="TextBox 4" id="4"/>
            <p:cNvSpPr txBox="true"/>
            <p:nvPr/>
          </p:nvSpPr>
          <p:spPr>
            <a:xfrm>
              <a:off x="0" y="-47625"/>
              <a:ext cx="1128752" cy="4540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7600950" y="6932479"/>
            <a:ext cx="3086100" cy="804358"/>
            <a:chOff x="0" y="0"/>
            <a:chExt cx="812800" cy="211847"/>
          </a:xfrm>
        </p:grpSpPr>
        <p:sp>
          <p:nvSpPr>
            <p:cNvPr name="Freeform 6" id="6"/>
            <p:cNvSpPr/>
            <p:nvPr/>
          </p:nvSpPr>
          <p:spPr>
            <a:xfrm flipH="false" flipV="false" rot="0">
              <a:off x="0" y="0"/>
              <a:ext cx="812800" cy="211847"/>
            </a:xfrm>
            <a:custGeom>
              <a:avLst/>
              <a:gdLst/>
              <a:ahLst/>
              <a:cxnLst/>
              <a:rect r="r" b="b" t="t" l="l"/>
              <a:pathLst>
                <a:path h="211847" w="812800">
                  <a:moveTo>
                    <a:pt x="50173" y="0"/>
                  </a:moveTo>
                  <a:lnTo>
                    <a:pt x="762627" y="0"/>
                  </a:lnTo>
                  <a:cubicBezTo>
                    <a:pt x="775934" y="0"/>
                    <a:pt x="788695" y="5286"/>
                    <a:pt x="798105" y="14695"/>
                  </a:cubicBezTo>
                  <a:cubicBezTo>
                    <a:pt x="807514" y="24105"/>
                    <a:pt x="812800" y="36866"/>
                    <a:pt x="812800" y="50173"/>
                  </a:cubicBezTo>
                  <a:lnTo>
                    <a:pt x="812800" y="161675"/>
                  </a:lnTo>
                  <a:cubicBezTo>
                    <a:pt x="812800" y="174981"/>
                    <a:pt x="807514" y="187743"/>
                    <a:pt x="798105" y="197152"/>
                  </a:cubicBezTo>
                  <a:cubicBezTo>
                    <a:pt x="788695" y="206561"/>
                    <a:pt x="775934" y="211847"/>
                    <a:pt x="762627" y="211847"/>
                  </a:cubicBezTo>
                  <a:lnTo>
                    <a:pt x="50173" y="211847"/>
                  </a:lnTo>
                  <a:cubicBezTo>
                    <a:pt x="36866" y="211847"/>
                    <a:pt x="24105" y="206561"/>
                    <a:pt x="14695" y="197152"/>
                  </a:cubicBezTo>
                  <a:cubicBezTo>
                    <a:pt x="5286" y="187743"/>
                    <a:pt x="0" y="174981"/>
                    <a:pt x="0" y="161675"/>
                  </a:cubicBezTo>
                  <a:lnTo>
                    <a:pt x="0" y="50173"/>
                  </a:lnTo>
                  <a:cubicBezTo>
                    <a:pt x="0" y="36866"/>
                    <a:pt x="5286" y="24105"/>
                    <a:pt x="14695" y="14695"/>
                  </a:cubicBezTo>
                  <a:cubicBezTo>
                    <a:pt x="24105" y="5286"/>
                    <a:pt x="36866" y="0"/>
                    <a:pt x="50173" y="0"/>
                  </a:cubicBezTo>
                  <a:close/>
                </a:path>
              </a:pathLst>
            </a:custGeom>
            <a:solidFill>
              <a:srgbClr val="006D77"/>
            </a:solidFill>
          </p:spPr>
        </p:sp>
        <p:sp>
          <p:nvSpPr>
            <p:cNvPr name="TextBox 7" id="7"/>
            <p:cNvSpPr txBox="true"/>
            <p:nvPr/>
          </p:nvSpPr>
          <p:spPr>
            <a:xfrm>
              <a:off x="0" y="-47625"/>
              <a:ext cx="812800" cy="259472"/>
            </a:xfrm>
            <a:prstGeom prst="rect">
              <a:avLst/>
            </a:prstGeom>
          </p:spPr>
          <p:txBody>
            <a:bodyPr anchor="ctr" rtlCol="false" tIns="50800" lIns="50800" bIns="50800" rIns="50800"/>
            <a:lstStyle/>
            <a:p>
              <a:pPr algn="ctr">
                <a:lnSpc>
                  <a:spcPts val="3079"/>
                </a:lnSpc>
              </a:pPr>
              <a:r>
                <a:rPr lang="en-US" sz="2199" spc="219">
                  <a:solidFill>
                    <a:srgbClr val="FFFFFF"/>
                  </a:solidFill>
                  <a:latin typeface="Lato"/>
                  <a:ea typeface="Lato"/>
                  <a:cs typeface="Lato"/>
                  <a:sym typeface="Lato"/>
                </a:rPr>
                <a:t>26 March, 2026</a:t>
              </a:r>
            </a:p>
          </p:txBody>
        </p:sp>
      </p:grpSp>
      <p:sp>
        <p:nvSpPr>
          <p:cNvPr name="Freeform 8" id="8"/>
          <p:cNvSpPr/>
          <p:nvPr/>
        </p:nvSpPr>
        <p:spPr>
          <a:xfrm flipH="false" flipV="false" rot="0">
            <a:off x="7591425" y="1188033"/>
            <a:ext cx="2889609" cy="2889609"/>
          </a:xfrm>
          <a:custGeom>
            <a:avLst/>
            <a:gdLst/>
            <a:ahLst/>
            <a:cxnLst/>
            <a:rect r="r" b="b" t="t" l="l"/>
            <a:pathLst>
              <a:path h="2889609" w="2889609">
                <a:moveTo>
                  <a:pt x="0" y="0"/>
                </a:moveTo>
                <a:lnTo>
                  <a:pt x="2889609" y="0"/>
                </a:lnTo>
                <a:lnTo>
                  <a:pt x="2889609" y="2889609"/>
                </a:lnTo>
                <a:lnTo>
                  <a:pt x="0" y="2889609"/>
                </a:lnTo>
                <a:lnTo>
                  <a:pt x="0" y="0"/>
                </a:lnTo>
                <a:close/>
              </a:path>
            </a:pathLst>
          </a:custGeom>
          <a:blipFill>
            <a:blip r:embed="rId3"/>
            <a:stretch>
              <a:fillRect l="0" t="0" r="0" b="0"/>
            </a:stretch>
          </a:blipFill>
        </p:spPr>
      </p:sp>
      <p:sp>
        <p:nvSpPr>
          <p:cNvPr name="TextBox 9" id="9"/>
          <p:cNvSpPr txBox="true"/>
          <p:nvPr/>
        </p:nvSpPr>
        <p:spPr>
          <a:xfrm rot="0">
            <a:off x="2958126" y="3659446"/>
            <a:ext cx="12371749" cy="21431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AI JOURNAL WITH SENTIMENT ANALYSIS</a:t>
            </a:r>
          </a:p>
        </p:txBody>
      </p:sp>
      <p:sp>
        <p:nvSpPr>
          <p:cNvPr name="TextBox 10" id="10"/>
          <p:cNvSpPr txBox="true"/>
          <p:nvPr/>
        </p:nvSpPr>
        <p:spPr>
          <a:xfrm rot="0">
            <a:off x="2958126" y="6149085"/>
            <a:ext cx="12371749" cy="389255"/>
          </a:xfrm>
          <a:prstGeom prst="rect">
            <a:avLst/>
          </a:prstGeom>
        </p:spPr>
        <p:txBody>
          <a:bodyPr anchor="t" rtlCol="false" tIns="0" lIns="0" bIns="0" rIns="0">
            <a:spAutoFit/>
          </a:bodyPr>
          <a:lstStyle/>
          <a:p>
            <a:pPr algn="ctr" marL="0" indent="0" lvl="0">
              <a:lnSpc>
                <a:spcPts val="3219"/>
              </a:lnSpc>
            </a:pPr>
            <a:r>
              <a:rPr lang="en-US" b="true" sz="2299" spc="229">
                <a:solidFill>
                  <a:srgbClr val="000000"/>
                </a:solidFill>
                <a:latin typeface="Heebo Bold"/>
                <a:ea typeface="Heebo Bold"/>
                <a:cs typeface="Heebo Bold"/>
                <a:sym typeface="Heebo Bold"/>
              </a:rPr>
              <a:t>SPRINT 1</a:t>
            </a:r>
          </a:p>
        </p:txBody>
      </p:sp>
      <p:sp>
        <p:nvSpPr>
          <p:cNvPr name="TextBox 11" id="11"/>
          <p:cNvSpPr txBox="true"/>
          <p:nvPr/>
        </p:nvSpPr>
        <p:spPr>
          <a:xfrm rot="0">
            <a:off x="7591425" y="4039542"/>
            <a:ext cx="2889609" cy="603250"/>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 </a:t>
            </a:r>
          </a:p>
          <a:p>
            <a:pPr algn="ctr">
              <a:lnSpc>
                <a:spcPts val="3219"/>
              </a:lnSpc>
              <a:spcBef>
                <a:spcPct val="0"/>
              </a:spcBef>
            </a:pPr>
            <a:r>
              <a:rPr lang="en-US" b="true" sz="2299" spc="229">
                <a:solidFill>
                  <a:srgbClr val="000000"/>
                </a:solidFill>
                <a:latin typeface="Heebo Bold"/>
                <a:ea typeface="Heebo Bold"/>
                <a:cs typeface="Heebo Bold"/>
                <a:sym typeface="Heebo Bold"/>
              </a:rPr>
              <a:t> </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82226" y="973929"/>
            <a:ext cx="14523548" cy="892175"/>
          </a:xfrm>
          <a:prstGeom prst="rect">
            <a:avLst/>
          </a:prstGeom>
        </p:spPr>
        <p:txBody>
          <a:bodyPr anchor="t" rtlCol="false" tIns="0" lIns="0" bIns="0" rIns="0">
            <a:spAutoFit/>
          </a:bodyPr>
          <a:lstStyle/>
          <a:p>
            <a:pPr algn="ctr" marL="0" indent="0" lvl="0">
              <a:lnSpc>
                <a:spcPts val="7000"/>
              </a:lnSpc>
            </a:pPr>
            <a:r>
              <a:rPr lang="en-US" b="true" sz="5000" spc="250">
                <a:solidFill>
                  <a:srgbClr val="000000"/>
                </a:solidFill>
                <a:latin typeface="Helios Extended Bold"/>
                <a:ea typeface="Helios Extended Bold"/>
                <a:cs typeface="Helios Extended Bold"/>
                <a:sym typeface="Helios Extended Bold"/>
              </a:rPr>
              <a:t>AGENDA OVERVIEW</a:t>
            </a:r>
          </a:p>
        </p:txBody>
      </p:sp>
      <p:sp>
        <p:nvSpPr>
          <p:cNvPr name="TextBox 3" id="3"/>
          <p:cNvSpPr txBox="true"/>
          <p:nvPr/>
        </p:nvSpPr>
        <p:spPr>
          <a:xfrm rot="0">
            <a:off x="1882226" y="2026804"/>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01</a:t>
            </a:r>
          </a:p>
        </p:txBody>
      </p:sp>
      <p:sp>
        <p:nvSpPr>
          <p:cNvPr name="TextBox 4" id="4"/>
          <p:cNvSpPr txBox="true"/>
          <p:nvPr/>
        </p:nvSpPr>
        <p:spPr>
          <a:xfrm rot="0">
            <a:off x="11630356" y="2026804"/>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06</a:t>
            </a:r>
          </a:p>
        </p:txBody>
      </p:sp>
      <p:sp>
        <p:nvSpPr>
          <p:cNvPr name="TextBox 5" id="5"/>
          <p:cNvSpPr txBox="true"/>
          <p:nvPr/>
        </p:nvSpPr>
        <p:spPr>
          <a:xfrm rot="0">
            <a:off x="1882226" y="352635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02</a:t>
            </a:r>
          </a:p>
        </p:txBody>
      </p:sp>
      <p:sp>
        <p:nvSpPr>
          <p:cNvPr name="TextBox 6" id="6"/>
          <p:cNvSpPr txBox="true"/>
          <p:nvPr/>
        </p:nvSpPr>
        <p:spPr>
          <a:xfrm rot="0">
            <a:off x="11630356" y="352635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07</a:t>
            </a:r>
          </a:p>
        </p:txBody>
      </p:sp>
      <p:sp>
        <p:nvSpPr>
          <p:cNvPr name="TextBox 7" id="7"/>
          <p:cNvSpPr txBox="true"/>
          <p:nvPr/>
        </p:nvSpPr>
        <p:spPr>
          <a:xfrm rot="0">
            <a:off x="1882226" y="502749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03</a:t>
            </a:r>
          </a:p>
        </p:txBody>
      </p:sp>
      <p:sp>
        <p:nvSpPr>
          <p:cNvPr name="TextBox 8" id="8"/>
          <p:cNvSpPr txBox="true"/>
          <p:nvPr/>
        </p:nvSpPr>
        <p:spPr>
          <a:xfrm rot="0">
            <a:off x="11630356" y="502749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08</a:t>
            </a:r>
          </a:p>
        </p:txBody>
      </p:sp>
      <p:sp>
        <p:nvSpPr>
          <p:cNvPr name="TextBox 9" id="9"/>
          <p:cNvSpPr txBox="true"/>
          <p:nvPr/>
        </p:nvSpPr>
        <p:spPr>
          <a:xfrm rot="0">
            <a:off x="1882226" y="3014228"/>
            <a:ext cx="7558757"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TEAM MEMBER ROLES AND RESPONSIBILITIES</a:t>
            </a:r>
          </a:p>
        </p:txBody>
      </p:sp>
      <p:sp>
        <p:nvSpPr>
          <p:cNvPr name="TextBox 10" id="10"/>
          <p:cNvSpPr txBox="true"/>
          <p:nvPr/>
        </p:nvSpPr>
        <p:spPr>
          <a:xfrm rot="0">
            <a:off x="11630356" y="3014228"/>
            <a:ext cx="5151545"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MVP</a:t>
            </a:r>
          </a:p>
        </p:txBody>
      </p:sp>
      <p:sp>
        <p:nvSpPr>
          <p:cNvPr name="TextBox 11" id="11"/>
          <p:cNvSpPr txBox="true"/>
          <p:nvPr/>
        </p:nvSpPr>
        <p:spPr>
          <a:xfrm rot="0">
            <a:off x="1882226" y="4513781"/>
            <a:ext cx="7558757"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IMP</a:t>
            </a:r>
            <a:r>
              <a:rPr lang="en-US" b="true" sz="1899" spc="189">
                <a:solidFill>
                  <a:srgbClr val="000000"/>
                </a:solidFill>
                <a:latin typeface="Heebo Bold"/>
                <a:ea typeface="Heebo Bold"/>
                <a:cs typeface="Heebo Bold"/>
                <a:sym typeface="Heebo Bold"/>
              </a:rPr>
              <a:t>ROVEMENTS MADE FROM FEEDBACK</a:t>
            </a:r>
          </a:p>
        </p:txBody>
      </p:sp>
      <p:sp>
        <p:nvSpPr>
          <p:cNvPr name="TextBox 12" id="12"/>
          <p:cNvSpPr txBox="true"/>
          <p:nvPr/>
        </p:nvSpPr>
        <p:spPr>
          <a:xfrm rot="0">
            <a:off x="11630356" y="451378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TECHNOLOGIES</a:t>
            </a:r>
          </a:p>
        </p:txBody>
      </p:sp>
      <p:sp>
        <p:nvSpPr>
          <p:cNvPr name="TextBox 13" id="13"/>
          <p:cNvSpPr txBox="true"/>
          <p:nvPr/>
        </p:nvSpPr>
        <p:spPr>
          <a:xfrm rot="0">
            <a:off x="1882226" y="601492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PROJECT DESCRIPTION</a:t>
            </a:r>
          </a:p>
        </p:txBody>
      </p:sp>
      <p:sp>
        <p:nvSpPr>
          <p:cNvPr name="TextBox 14" id="14"/>
          <p:cNvSpPr txBox="true"/>
          <p:nvPr/>
        </p:nvSpPr>
        <p:spPr>
          <a:xfrm rot="0">
            <a:off x="11630356" y="601492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ALGORITHMS</a:t>
            </a:r>
          </a:p>
        </p:txBody>
      </p:sp>
      <p:sp>
        <p:nvSpPr>
          <p:cNvPr name="TextBox 15" id="15"/>
          <p:cNvSpPr txBox="true"/>
          <p:nvPr/>
        </p:nvSpPr>
        <p:spPr>
          <a:xfrm rot="0">
            <a:off x="1882226" y="652863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04</a:t>
            </a:r>
          </a:p>
        </p:txBody>
      </p:sp>
      <p:sp>
        <p:nvSpPr>
          <p:cNvPr name="TextBox 16" id="16"/>
          <p:cNvSpPr txBox="true"/>
          <p:nvPr/>
        </p:nvSpPr>
        <p:spPr>
          <a:xfrm rot="0">
            <a:off x="11630356" y="652863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09</a:t>
            </a:r>
          </a:p>
        </p:txBody>
      </p:sp>
      <p:sp>
        <p:nvSpPr>
          <p:cNvPr name="TextBox 17" id="17"/>
          <p:cNvSpPr txBox="true"/>
          <p:nvPr/>
        </p:nvSpPr>
        <p:spPr>
          <a:xfrm rot="0">
            <a:off x="1882226" y="751606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TEAM WORKING AGREEMENT</a:t>
            </a:r>
          </a:p>
        </p:txBody>
      </p:sp>
      <p:sp>
        <p:nvSpPr>
          <p:cNvPr name="TextBox 18" id="18"/>
          <p:cNvSpPr txBox="true"/>
          <p:nvPr/>
        </p:nvSpPr>
        <p:spPr>
          <a:xfrm rot="0">
            <a:off x="11630356" y="7516061"/>
            <a:ext cx="6204700"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DIAGRAMS</a:t>
            </a:r>
          </a:p>
        </p:txBody>
      </p:sp>
      <p:sp>
        <p:nvSpPr>
          <p:cNvPr name="TextBox 19" id="19"/>
          <p:cNvSpPr txBox="true"/>
          <p:nvPr/>
        </p:nvSpPr>
        <p:spPr>
          <a:xfrm rot="0">
            <a:off x="1882226" y="802977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05</a:t>
            </a:r>
          </a:p>
        </p:txBody>
      </p:sp>
      <p:sp>
        <p:nvSpPr>
          <p:cNvPr name="TextBox 20" id="20"/>
          <p:cNvSpPr txBox="true"/>
          <p:nvPr/>
        </p:nvSpPr>
        <p:spPr>
          <a:xfrm rot="0">
            <a:off x="11630356" y="802977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10</a:t>
            </a:r>
          </a:p>
        </p:txBody>
      </p:sp>
      <p:sp>
        <p:nvSpPr>
          <p:cNvPr name="TextBox 21" id="21"/>
          <p:cNvSpPr txBox="true"/>
          <p:nvPr/>
        </p:nvSpPr>
        <p:spPr>
          <a:xfrm rot="0">
            <a:off x="1882226" y="901720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USER PERSONAS</a:t>
            </a:r>
          </a:p>
        </p:txBody>
      </p:sp>
      <p:sp>
        <p:nvSpPr>
          <p:cNvPr name="TextBox 22" id="22"/>
          <p:cNvSpPr txBox="true"/>
          <p:nvPr/>
        </p:nvSpPr>
        <p:spPr>
          <a:xfrm rot="0">
            <a:off x="11630356" y="901720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PRODUCT BACKLOG</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82226" y="973929"/>
            <a:ext cx="14523548" cy="892175"/>
          </a:xfrm>
          <a:prstGeom prst="rect">
            <a:avLst/>
          </a:prstGeom>
        </p:spPr>
        <p:txBody>
          <a:bodyPr anchor="t" rtlCol="false" tIns="0" lIns="0" bIns="0" rIns="0">
            <a:spAutoFit/>
          </a:bodyPr>
          <a:lstStyle/>
          <a:p>
            <a:pPr algn="ctr" marL="0" indent="0" lvl="0">
              <a:lnSpc>
                <a:spcPts val="7000"/>
              </a:lnSpc>
            </a:pPr>
            <a:r>
              <a:rPr lang="en-US" b="true" sz="5000" spc="250">
                <a:solidFill>
                  <a:srgbClr val="000000"/>
                </a:solidFill>
                <a:latin typeface="Helios Extended Bold"/>
                <a:ea typeface="Helios Extended Bold"/>
                <a:cs typeface="Helios Extended Bold"/>
                <a:sym typeface="Helios Extended Bold"/>
              </a:rPr>
              <a:t>AGENDA OVERVIEW CONTD.</a:t>
            </a:r>
          </a:p>
        </p:txBody>
      </p:sp>
      <p:sp>
        <p:nvSpPr>
          <p:cNvPr name="TextBox 3" id="3"/>
          <p:cNvSpPr txBox="true"/>
          <p:nvPr/>
        </p:nvSpPr>
        <p:spPr>
          <a:xfrm rot="0">
            <a:off x="1882226" y="2026804"/>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11</a:t>
            </a:r>
          </a:p>
        </p:txBody>
      </p:sp>
      <p:sp>
        <p:nvSpPr>
          <p:cNvPr name="TextBox 4" id="4"/>
          <p:cNvSpPr txBox="true"/>
          <p:nvPr/>
        </p:nvSpPr>
        <p:spPr>
          <a:xfrm rot="0">
            <a:off x="11630356" y="2026804"/>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16</a:t>
            </a:r>
          </a:p>
        </p:txBody>
      </p:sp>
      <p:sp>
        <p:nvSpPr>
          <p:cNvPr name="TextBox 5" id="5"/>
          <p:cNvSpPr txBox="true"/>
          <p:nvPr/>
        </p:nvSpPr>
        <p:spPr>
          <a:xfrm rot="0">
            <a:off x="1882226" y="352635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12</a:t>
            </a:r>
          </a:p>
        </p:txBody>
      </p:sp>
      <p:sp>
        <p:nvSpPr>
          <p:cNvPr name="TextBox 6" id="6"/>
          <p:cNvSpPr txBox="true"/>
          <p:nvPr/>
        </p:nvSpPr>
        <p:spPr>
          <a:xfrm rot="0">
            <a:off x="11630356" y="352635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17</a:t>
            </a:r>
          </a:p>
        </p:txBody>
      </p:sp>
      <p:sp>
        <p:nvSpPr>
          <p:cNvPr name="TextBox 7" id="7"/>
          <p:cNvSpPr txBox="true"/>
          <p:nvPr/>
        </p:nvSpPr>
        <p:spPr>
          <a:xfrm rot="0">
            <a:off x="1882226" y="502749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13</a:t>
            </a:r>
          </a:p>
        </p:txBody>
      </p:sp>
      <p:sp>
        <p:nvSpPr>
          <p:cNvPr name="TextBox 8" id="8"/>
          <p:cNvSpPr txBox="true"/>
          <p:nvPr/>
        </p:nvSpPr>
        <p:spPr>
          <a:xfrm rot="0">
            <a:off x="11630356" y="502749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18</a:t>
            </a:r>
          </a:p>
        </p:txBody>
      </p:sp>
      <p:sp>
        <p:nvSpPr>
          <p:cNvPr name="TextBox 9" id="9"/>
          <p:cNvSpPr txBox="true"/>
          <p:nvPr/>
        </p:nvSpPr>
        <p:spPr>
          <a:xfrm rot="0">
            <a:off x="1882226" y="3014228"/>
            <a:ext cx="7558757"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SPRINT 1 BACKLOG</a:t>
            </a:r>
          </a:p>
        </p:txBody>
      </p:sp>
      <p:sp>
        <p:nvSpPr>
          <p:cNvPr name="TextBox 10" id="10"/>
          <p:cNvSpPr txBox="true"/>
          <p:nvPr/>
        </p:nvSpPr>
        <p:spPr>
          <a:xfrm rot="0">
            <a:off x="11630356" y="3014228"/>
            <a:ext cx="5151545"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MVP</a:t>
            </a:r>
          </a:p>
        </p:txBody>
      </p:sp>
      <p:sp>
        <p:nvSpPr>
          <p:cNvPr name="TextBox 11" id="11"/>
          <p:cNvSpPr txBox="true"/>
          <p:nvPr/>
        </p:nvSpPr>
        <p:spPr>
          <a:xfrm rot="0">
            <a:off x="1882226" y="4513781"/>
            <a:ext cx="7558757"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METRICS</a:t>
            </a:r>
          </a:p>
        </p:txBody>
      </p:sp>
      <p:sp>
        <p:nvSpPr>
          <p:cNvPr name="TextBox 12" id="12"/>
          <p:cNvSpPr txBox="true"/>
          <p:nvPr/>
        </p:nvSpPr>
        <p:spPr>
          <a:xfrm rot="0">
            <a:off x="11630356" y="451378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OUR GITHUB</a:t>
            </a:r>
          </a:p>
        </p:txBody>
      </p:sp>
      <p:sp>
        <p:nvSpPr>
          <p:cNvPr name="TextBox 13" id="13"/>
          <p:cNvSpPr txBox="true"/>
          <p:nvPr/>
        </p:nvSpPr>
        <p:spPr>
          <a:xfrm rot="0">
            <a:off x="1882226" y="601492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RETROSPECTIVE</a:t>
            </a:r>
          </a:p>
        </p:txBody>
      </p:sp>
      <p:sp>
        <p:nvSpPr>
          <p:cNvPr name="TextBox 14" id="14"/>
          <p:cNvSpPr txBox="true"/>
          <p:nvPr/>
        </p:nvSpPr>
        <p:spPr>
          <a:xfrm rot="0">
            <a:off x="11630356" y="601492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LIVE APP DEMO</a:t>
            </a:r>
          </a:p>
        </p:txBody>
      </p:sp>
      <p:sp>
        <p:nvSpPr>
          <p:cNvPr name="TextBox 15" id="15"/>
          <p:cNvSpPr txBox="true"/>
          <p:nvPr/>
        </p:nvSpPr>
        <p:spPr>
          <a:xfrm rot="0">
            <a:off x="1882226" y="652863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14</a:t>
            </a:r>
          </a:p>
        </p:txBody>
      </p:sp>
      <p:sp>
        <p:nvSpPr>
          <p:cNvPr name="TextBox 16" id="16"/>
          <p:cNvSpPr txBox="true"/>
          <p:nvPr/>
        </p:nvSpPr>
        <p:spPr>
          <a:xfrm rot="0">
            <a:off x="11630356" y="652863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19</a:t>
            </a:r>
          </a:p>
        </p:txBody>
      </p:sp>
      <p:sp>
        <p:nvSpPr>
          <p:cNvPr name="TextBox 17" id="17"/>
          <p:cNvSpPr txBox="true"/>
          <p:nvPr/>
        </p:nvSpPr>
        <p:spPr>
          <a:xfrm rot="0">
            <a:off x="1882226" y="751606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SPRINT 2 PLANNING</a:t>
            </a:r>
          </a:p>
        </p:txBody>
      </p:sp>
      <p:sp>
        <p:nvSpPr>
          <p:cNvPr name="TextBox 18" id="18"/>
          <p:cNvSpPr txBox="true"/>
          <p:nvPr/>
        </p:nvSpPr>
        <p:spPr>
          <a:xfrm rot="0">
            <a:off x="11630356" y="7516061"/>
            <a:ext cx="6204700"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WIKI PAGE</a:t>
            </a:r>
          </a:p>
        </p:txBody>
      </p:sp>
      <p:sp>
        <p:nvSpPr>
          <p:cNvPr name="TextBox 19" id="19"/>
          <p:cNvSpPr txBox="true"/>
          <p:nvPr/>
        </p:nvSpPr>
        <p:spPr>
          <a:xfrm rot="0">
            <a:off x="1882226" y="802977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15</a:t>
            </a:r>
          </a:p>
        </p:txBody>
      </p:sp>
      <p:sp>
        <p:nvSpPr>
          <p:cNvPr name="TextBox 20" id="20"/>
          <p:cNvSpPr txBox="true"/>
          <p:nvPr/>
        </p:nvSpPr>
        <p:spPr>
          <a:xfrm rot="0">
            <a:off x="11630356" y="802977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20</a:t>
            </a:r>
          </a:p>
        </p:txBody>
      </p:sp>
      <p:sp>
        <p:nvSpPr>
          <p:cNvPr name="TextBox 21" id="21"/>
          <p:cNvSpPr txBox="true"/>
          <p:nvPr/>
        </p:nvSpPr>
        <p:spPr>
          <a:xfrm rot="0">
            <a:off x="1882226" y="901720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PROJECT DEMO</a:t>
            </a:r>
          </a:p>
        </p:txBody>
      </p:sp>
      <p:sp>
        <p:nvSpPr>
          <p:cNvPr name="TextBox 22" id="22"/>
          <p:cNvSpPr txBox="true"/>
          <p:nvPr/>
        </p:nvSpPr>
        <p:spPr>
          <a:xfrm rot="0">
            <a:off x="11630356" y="901720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TEAM NEXUS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976124" y="0"/>
            <a:ext cx="13352049" cy="7634140"/>
            <a:chOff x="0" y="0"/>
            <a:chExt cx="710790" cy="406400"/>
          </a:xfrm>
        </p:grpSpPr>
        <p:sp>
          <p:nvSpPr>
            <p:cNvPr name="Freeform 3" id="3"/>
            <p:cNvSpPr/>
            <p:nvPr/>
          </p:nvSpPr>
          <p:spPr>
            <a:xfrm flipH="false" flipV="false" rot="0">
              <a:off x="0" y="0"/>
              <a:ext cx="710790" cy="406400"/>
            </a:xfrm>
            <a:custGeom>
              <a:avLst/>
              <a:gdLst/>
              <a:ahLst/>
              <a:cxnLst/>
              <a:rect r="r" b="b" t="t" l="l"/>
              <a:pathLst>
                <a:path h="406400" w="710790">
                  <a:moveTo>
                    <a:pt x="507590" y="0"/>
                  </a:moveTo>
                  <a:cubicBezTo>
                    <a:pt x="619815" y="0"/>
                    <a:pt x="710790" y="90976"/>
                    <a:pt x="710790" y="203200"/>
                  </a:cubicBezTo>
                  <a:cubicBezTo>
                    <a:pt x="710790" y="315424"/>
                    <a:pt x="619815" y="406400"/>
                    <a:pt x="507590" y="406400"/>
                  </a:cubicBezTo>
                  <a:lnTo>
                    <a:pt x="203200" y="406400"/>
                  </a:lnTo>
                  <a:cubicBezTo>
                    <a:pt x="90976" y="406400"/>
                    <a:pt x="0" y="315424"/>
                    <a:pt x="0" y="203200"/>
                  </a:cubicBezTo>
                  <a:cubicBezTo>
                    <a:pt x="0" y="90976"/>
                    <a:pt x="90976" y="0"/>
                    <a:pt x="203200" y="0"/>
                  </a:cubicBezTo>
                  <a:close/>
                </a:path>
              </a:pathLst>
            </a:custGeom>
            <a:solidFill>
              <a:srgbClr val="F2F1F1">
                <a:alpha val="80000"/>
              </a:srgbClr>
            </a:solidFill>
          </p:spPr>
        </p:sp>
        <p:sp>
          <p:nvSpPr>
            <p:cNvPr name="TextBox 4" id="4"/>
            <p:cNvSpPr txBox="true"/>
            <p:nvPr/>
          </p:nvSpPr>
          <p:spPr>
            <a:xfrm>
              <a:off x="0" y="-47625"/>
              <a:ext cx="710790" cy="4540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906309" y="2822891"/>
            <a:ext cx="2561144" cy="2263492"/>
            <a:chOff x="0" y="0"/>
            <a:chExt cx="516362" cy="456352"/>
          </a:xfrm>
        </p:grpSpPr>
        <p:sp>
          <p:nvSpPr>
            <p:cNvPr name="Freeform 6" id="6"/>
            <p:cNvSpPr/>
            <p:nvPr/>
          </p:nvSpPr>
          <p:spPr>
            <a:xfrm flipH="false" flipV="false" rot="0">
              <a:off x="0" y="0"/>
              <a:ext cx="516362" cy="456352"/>
            </a:xfrm>
            <a:custGeom>
              <a:avLst/>
              <a:gdLst/>
              <a:ahLst/>
              <a:cxnLst/>
              <a:rect r="r" b="b" t="t" l="l"/>
              <a:pathLst>
                <a:path h="456352" w="516362">
                  <a:moveTo>
                    <a:pt x="0" y="0"/>
                  </a:moveTo>
                  <a:lnTo>
                    <a:pt x="516362" y="0"/>
                  </a:lnTo>
                  <a:lnTo>
                    <a:pt x="516362" y="456352"/>
                  </a:lnTo>
                  <a:lnTo>
                    <a:pt x="0" y="456352"/>
                  </a:lnTo>
                  <a:close/>
                </a:path>
              </a:pathLst>
            </a:custGeom>
            <a:blipFill>
              <a:blip r:embed="rId3"/>
              <a:stretch>
                <a:fillRect l="0" t="-26711" r="0" b="-26711"/>
              </a:stretch>
            </a:blipFill>
          </p:spPr>
        </p:sp>
      </p:grpSp>
      <p:grpSp>
        <p:nvGrpSpPr>
          <p:cNvPr name="Group 7" id="7"/>
          <p:cNvGrpSpPr/>
          <p:nvPr/>
        </p:nvGrpSpPr>
        <p:grpSpPr>
          <a:xfrm rot="0">
            <a:off x="4482036" y="2822891"/>
            <a:ext cx="2561144" cy="2263492"/>
            <a:chOff x="0" y="0"/>
            <a:chExt cx="516362" cy="456352"/>
          </a:xfrm>
        </p:grpSpPr>
        <p:sp>
          <p:nvSpPr>
            <p:cNvPr name="Freeform 8" id="8"/>
            <p:cNvSpPr/>
            <p:nvPr/>
          </p:nvSpPr>
          <p:spPr>
            <a:xfrm flipH="false" flipV="false" rot="0">
              <a:off x="0" y="0"/>
              <a:ext cx="516362" cy="456352"/>
            </a:xfrm>
            <a:custGeom>
              <a:avLst/>
              <a:gdLst/>
              <a:ahLst/>
              <a:cxnLst/>
              <a:rect r="r" b="b" t="t" l="l"/>
              <a:pathLst>
                <a:path h="456352" w="516362">
                  <a:moveTo>
                    <a:pt x="0" y="0"/>
                  </a:moveTo>
                  <a:lnTo>
                    <a:pt x="516362" y="0"/>
                  </a:lnTo>
                  <a:lnTo>
                    <a:pt x="516362" y="456352"/>
                  </a:lnTo>
                  <a:lnTo>
                    <a:pt x="0" y="456352"/>
                  </a:lnTo>
                  <a:close/>
                </a:path>
              </a:pathLst>
            </a:custGeom>
            <a:blipFill>
              <a:blip r:embed="rId4"/>
              <a:stretch>
                <a:fillRect l="0" t="-51041" r="0" b="-8"/>
              </a:stretch>
            </a:blipFill>
          </p:spPr>
        </p:sp>
      </p:grpSp>
      <p:grpSp>
        <p:nvGrpSpPr>
          <p:cNvPr name="Group 9" id="9"/>
          <p:cNvGrpSpPr/>
          <p:nvPr/>
        </p:nvGrpSpPr>
        <p:grpSpPr>
          <a:xfrm rot="0">
            <a:off x="8062362" y="2822891"/>
            <a:ext cx="2561144" cy="2263492"/>
            <a:chOff x="0" y="0"/>
            <a:chExt cx="516362" cy="456352"/>
          </a:xfrm>
        </p:grpSpPr>
        <p:sp>
          <p:nvSpPr>
            <p:cNvPr name="Freeform 10" id="10"/>
            <p:cNvSpPr/>
            <p:nvPr/>
          </p:nvSpPr>
          <p:spPr>
            <a:xfrm flipH="false" flipV="false" rot="0">
              <a:off x="0" y="0"/>
              <a:ext cx="516362" cy="456352"/>
            </a:xfrm>
            <a:custGeom>
              <a:avLst/>
              <a:gdLst/>
              <a:ahLst/>
              <a:cxnLst/>
              <a:rect r="r" b="b" t="t" l="l"/>
              <a:pathLst>
                <a:path h="456352" w="516362">
                  <a:moveTo>
                    <a:pt x="0" y="0"/>
                  </a:moveTo>
                  <a:lnTo>
                    <a:pt x="516362" y="0"/>
                  </a:lnTo>
                  <a:lnTo>
                    <a:pt x="516362" y="456352"/>
                  </a:lnTo>
                  <a:lnTo>
                    <a:pt x="0" y="456352"/>
                  </a:lnTo>
                  <a:close/>
                </a:path>
              </a:pathLst>
            </a:custGeom>
            <a:blipFill>
              <a:blip r:embed="rId5"/>
              <a:stretch>
                <a:fillRect l="0" t="-8531" r="0" b="-46662"/>
              </a:stretch>
            </a:blipFill>
          </p:spPr>
        </p:sp>
      </p:grpSp>
      <p:grpSp>
        <p:nvGrpSpPr>
          <p:cNvPr name="Group 11" id="11"/>
          <p:cNvGrpSpPr/>
          <p:nvPr/>
        </p:nvGrpSpPr>
        <p:grpSpPr>
          <a:xfrm rot="0">
            <a:off x="906309" y="6454378"/>
            <a:ext cx="2561144" cy="2263492"/>
            <a:chOff x="0" y="0"/>
            <a:chExt cx="516362" cy="456352"/>
          </a:xfrm>
        </p:grpSpPr>
        <p:sp>
          <p:nvSpPr>
            <p:cNvPr name="Freeform 12" id="12"/>
            <p:cNvSpPr/>
            <p:nvPr/>
          </p:nvSpPr>
          <p:spPr>
            <a:xfrm flipH="false" flipV="false" rot="0">
              <a:off x="0" y="0"/>
              <a:ext cx="516362" cy="456352"/>
            </a:xfrm>
            <a:custGeom>
              <a:avLst/>
              <a:gdLst/>
              <a:ahLst/>
              <a:cxnLst/>
              <a:rect r="r" b="b" t="t" l="l"/>
              <a:pathLst>
                <a:path h="456352" w="516362">
                  <a:moveTo>
                    <a:pt x="0" y="0"/>
                  </a:moveTo>
                  <a:lnTo>
                    <a:pt x="516362" y="0"/>
                  </a:lnTo>
                  <a:lnTo>
                    <a:pt x="516362" y="456352"/>
                  </a:lnTo>
                  <a:lnTo>
                    <a:pt x="0" y="456352"/>
                  </a:lnTo>
                  <a:close/>
                </a:path>
              </a:pathLst>
            </a:custGeom>
            <a:blipFill>
              <a:blip r:embed="rId6"/>
              <a:stretch>
                <a:fillRect l="0" t="-16482" r="0" b="-53552"/>
              </a:stretch>
            </a:blipFill>
          </p:spPr>
        </p:sp>
      </p:grpSp>
      <p:grpSp>
        <p:nvGrpSpPr>
          <p:cNvPr name="Group 13" id="13"/>
          <p:cNvGrpSpPr/>
          <p:nvPr/>
        </p:nvGrpSpPr>
        <p:grpSpPr>
          <a:xfrm rot="0">
            <a:off x="4482036" y="6454378"/>
            <a:ext cx="2561144" cy="2263492"/>
            <a:chOff x="0" y="0"/>
            <a:chExt cx="516362" cy="456352"/>
          </a:xfrm>
        </p:grpSpPr>
        <p:sp>
          <p:nvSpPr>
            <p:cNvPr name="Freeform 14" id="14"/>
            <p:cNvSpPr/>
            <p:nvPr/>
          </p:nvSpPr>
          <p:spPr>
            <a:xfrm flipH="false" flipV="false" rot="0">
              <a:off x="0" y="0"/>
              <a:ext cx="516362" cy="456352"/>
            </a:xfrm>
            <a:custGeom>
              <a:avLst/>
              <a:gdLst/>
              <a:ahLst/>
              <a:cxnLst/>
              <a:rect r="r" b="b" t="t" l="l"/>
              <a:pathLst>
                <a:path h="456352" w="516362">
                  <a:moveTo>
                    <a:pt x="0" y="0"/>
                  </a:moveTo>
                  <a:lnTo>
                    <a:pt x="516362" y="0"/>
                  </a:lnTo>
                  <a:lnTo>
                    <a:pt x="516362" y="456352"/>
                  </a:lnTo>
                  <a:lnTo>
                    <a:pt x="0" y="456352"/>
                  </a:lnTo>
                  <a:close/>
                </a:path>
              </a:pathLst>
            </a:custGeom>
            <a:blipFill>
              <a:blip r:embed="rId7"/>
              <a:stretch>
                <a:fillRect l="-113171" t="-182233" r="-81142" b="-162328"/>
              </a:stretch>
            </a:blipFill>
          </p:spPr>
        </p:sp>
      </p:grpSp>
      <p:grpSp>
        <p:nvGrpSpPr>
          <p:cNvPr name="Group 15" id="15"/>
          <p:cNvGrpSpPr/>
          <p:nvPr/>
        </p:nvGrpSpPr>
        <p:grpSpPr>
          <a:xfrm rot="0">
            <a:off x="8062362" y="6454378"/>
            <a:ext cx="2561144" cy="2263492"/>
            <a:chOff x="0" y="0"/>
            <a:chExt cx="516362" cy="456352"/>
          </a:xfrm>
        </p:grpSpPr>
        <p:sp>
          <p:nvSpPr>
            <p:cNvPr name="Freeform 16" id="16"/>
            <p:cNvSpPr/>
            <p:nvPr/>
          </p:nvSpPr>
          <p:spPr>
            <a:xfrm flipH="false" flipV="false" rot="0">
              <a:off x="0" y="0"/>
              <a:ext cx="516362" cy="456352"/>
            </a:xfrm>
            <a:custGeom>
              <a:avLst/>
              <a:gdLst/>
              <a:ahLst/>
              <a:cxnLst/>
              <a:rect r="r" b="b" t="t" l="l"/>
              <a:pathLst>
                <a:path h="456352" w="516362">
                  <a:moveTo>
                    <a:pt x="0" y="0"/>
                  </a:moveTo>
                  <a:lnTo>
                    <a:pt x="516362" y="0"/>
                  </a:lnTo>
                  <a:lnTo>
                    <a:pt x="516362" y="456352"/>
                  </a:lnTo>
                  <a:lnTo>
                    <a:pt x="0" y="456352"/>
                  </a:lnTo>
                  <a:close/>
                </a:path>
              </a:pathLst>
            </a:custGeom>
            <a:blipFill>
              <a:blip r:embed="rId8"/>
              <a:stretch>
                <a:fillRect l="0" t="-5302" r="0" b="-5302"/>
              </a:stretch>
            </a:blipFill>
          </p:spPr>
        </p:sp>
      </p:grpSp>
      <p:sp>
        <p:nvSpPr>
          <p:cNvPr name="TextBox 17" id="17"/>
          <p:cNvSpPr txBox="true"/>
          <p:nvPr/>
        </p:nvSpPr>
        <p:spPr>
          <a:xfrm rot="0">
            <a:off x="591981" y="8860745"/>
            <a:ext cx="3189800" cy="356235"/>
          </a:xfrm>
          <a:prstGeom prst="rect">
            <a:avLst/>
          </a:prstGeom>
        </p:spPr>
        <p:txBody>
          <a:bodyPr anchor="t" rtlCol="false" tIns="0" lIns="0" bIns="0" rIns="0">
            <a:spAutoFit/>
          </a:bodyPr>
          <a:lstStyle/>
          <a:p>
            <a:pPr algn="ctr" marL="0" indent="0" lvl="0">
              <a:lnSpc>
                <a:spcPts val="2940"/>
              </a:lnSpc>
            </a:pPr>
            <a:r>
              <a:rPr lang="en-US" b="true" sz="2100" spc="210">
                <a:solidFill>
                  <a:srgbClr val="264653"/>
                </a:solidFill>
                <a:latin typeface="Heebo Bold"/>
                <a:ea typeface="Heebo Bold"/>
                <a:cs typeface="Heebo Bold"/>
                <a:sym typeface="Heebo Bold"/>
              </a:rPr>
              <a:t>VANESSA AGBUGBA</a:t>
            </a:r>
          </a:p>
        </p:txBody>
      </p:sp>
      <p:sp>
        <p:nvSpPr>
          <p:cNvPr name="TextBox 18" id="18"/>
          <p:cNvSpPr txBox="true"/>
          <p:nvPr/>
        </p:nvSpPr>
        <p:spPr>
          <a:xfrm rot="0">
            <a:off x="4167708" y="8860745"/>
            <a:ext cx="3189800" cy="356235"/>
          </a:xfrm>
          <a:prstGeom prst="rect">
            <a:avLst/>
          </a:prstGeom>
        </p:spPr>
        <p:txBody>
          <a:bodyPr anchor="t" rtlCol="false" tIns="0" lIns="0" bIns="0" rIns="0">
            <a:spAutoFit/>
          </a:bodyPr>
          <a:lstStyle/>
          <a:p>
            <a:pPr algn="ctr" marL="0" indent="0" lvl="0">
              <a:lnSpc>
                <a:spcPts val="2940"/>
              </a:lnSpc>
            </a:pPr>
            <a:r>
              <a:rPr lang="en-US" b="true" sz="2100" spc="210">
                <a:solidFill>
                  <a:srgbClr val="264653"/>
                </a:solidFill>
                <a:latin typeface="Heebo Bold"/>
                <a:ea typeface="Heebo Bold"/>
                <a:cs typeface="Heebo Bold"/>
                <a:sym typeface="Heebo Bold"/>
              </a:rPr>
              <a:t>SANKET MATROJA</a:t>
            </a:r>
          </a:p>
        </p:txBody>
      </p:sp>
      <p:sp>
        <p:nvSpPr>
          <p:cNvPr name="TextBox 19" id="19"/>
          <p:cNvSpPr txBox="true"/>
          <p:nvPr/>
        </p:nvSpPr>
        <p:spPr>
          <a:xfrm rot="0">
            <a:off x="591981" y="9197781"/>
            <a:ext cx="3189800" cy="384175"/>
          </a:xfrm>
          <a:prstGeom prst="rect">
            <a:avLst/>
          </a:prstGeom>
        </p:spPr>
        <p:txBody>
          <a:bodyPr anchor="t" rtlCol="false" tIns="0" lIns="0" bIns="0" rIns="0">
            <a:spAutoFit/>
          </a:bodyPr>
          <a:lstStyle/>
          <a:p>
            <a:pPr algn="ctr" marL="0" indent="0" lvl="0">
              <a:lnSpc>
                <a:spcPts val="3200"/>
              </a:lnSpc>
            </a:pPr>
            <a:r>
              <a:rPr lang="en-US" sz="2000" spc="200">
                <a:solidFill>
                  <a:srgbClr val="000000"/>
                </a:solidFill>
                <a:latin typeface="Lato"/>
                <a:ea typeface="Lato"/>
                <a:cs typeface="Lato"/>
                <a:sym typeface="Lato"/>
              </a:rPr>
              <a:t>Front End Developer</a:t>
            </a:r>
          </a:p>
        </p:txBody>
      </p:sp>
      <p:sp>
        <p:nvSpPr>
          <p:cNvPr name="TextBox 20" id="20"/>
          <p:cNvSpPr txBox="true"/>
          <p:nvPr/>
        </p:nvSpPr>
        <p:spPr>
          <a:xfrm rot="0">
            <a:off x="4167708" y="9197781"/>
            <a:ext cx="3189800" cy="384175"/>
          </a:xfrm>
          <a:prstGeom prst="rect">
            <a:avLst/>
          </a:prstGeom>
        </p:spPr>
        <p:txBody>
          <a:bodyPr anchor="t" rtlCol="false" tIns="0" lIns="0" bIns="0" rIns="0">
            <a:spAutoFit/>
          </a:bodyPr>
          <a:lstStyle/>
          <a:p>
            <a:pPr algn="ctr" marL="0" indent="0" lvl="0">
              <a:lnSpc>
                <a:spcPts val="3200"/>
              </a:lnSpc>
            </a:pPr>
            <a:r>
              <a:rPr lang="en-US" sz="2000" spc="200">
                <a:solidFill>
                  <a:srgbClr val="000000"/>
                </a:solidFill>
                <a:latin typeface="Lato"/>
                <a:ea typeface="Lato"/>
                <a:cs typeface="Lato"/>
                <a:sym typeface="Lato"/>
              </a:rPr>
              <a:t>AI Generalist</a:t>
            </a:r>
          </a:p>
        </p:txBody>
      </p:sp>
      <p:sp>
        <p:nvSpPr>
          <p:cNvPr name="TextBox 21" id="21"/>
          <p:cNvSpPr txBox="true"/>
          <p:nvPr/>
        </p:nvSpPr>
        <p:spPr>
          <a:xfrm rot="0">
            <a:off x="7748033" y="8860745"/>
            <a:ext cx="3189800" cy="356235"/>
          </a:xfrm>
          <a:prstGeom prst="rect">
            <a:avLst/>
          </a:prstGeom>
        </p:spPr>
        <p:txBody>
          <a:bodyPr anchor="t" rtlCol="false" tIns="0" lIns="0" bIns="0" rIns="0">
            <a:spAutoFit/>
          </a:bodyPr>
          <a:lstStyle/>
          <a:p>
            <a:pPr algn="ctr" marL="0" indent="0" lvl="0">
              <a:lnSpc>
                <a:spcPts val="2940"/>
              </a:lnSpc>
            </a:pPr>
            <a:r>
              <a:rPr lang="en-US" b="true" sz="2100" spc="210">
                <a:solidFill>
                  <a:srgbClr val="264653"/>
                </a:solidFill>
                <a:latin typeface="Heebo Bold"/>
                <a:ea typeface="Heebo Bold"/>
                <a:cs typeface="Heebo Bold"/>
                <a:sym typeface="Heebo Bold"/>
              </a:rPr>
              <a:t>SAI</a:t>
            </a:r>
          </a:p>
        </p:txBody>
      </p:sp>
      <p:sp>
        <p:nvSpPr>
          <p:cNvPr name="TextBox 22" id="22"/>
          <p:cNvSpPr txBox="true"/>
          <p:nvPr/>
        </p:nvSpPr>
        <p:spPr>
          <a:xfrm rot="0">
            <a:off x="7748033" y="9197781"/>
            <a:ext cx="3189800" cy="384175"/>
          </a:xfrm>
          <a:prstGeom prst="rect">
            <a:avLst/>
          </a:prstGeom>
        </p:spPr>
        <p:txBody>
          <a:bodyPr anchor="t" rtlCol="false" tIns="0" lIns="0" bIns="0" rIns="0">
            <a:spAutoFit/>
          </a:bodyPr>
          <a:lstStyle/>
          <a:p>
            <a:pPr algn="ctr" marL="0" indent="0" lvl="0">
              <a:lnSpc>
                <a:spcPts val="3200"/>
              </a:lnSpc>
            </a:pPr>
            <a:r>
              <a:rPr lang="en-US" sz="2000" spc="200">
                <a:solidFill>
                  <a:srgbClr val="000000"/>
                </a:solidFill>
                <a:latin typeface="Lato"/>
                <a:ea typeface="Lato"/>
                <a:cs typeface="Lato"/>
                <a:sym typeface="Lato"/>
              </a:rPr>
              <a:t>Developer</a:t>
            </a:r>
          </a:p>
        </p:txBody>
      </p:sp>
      <p:sp>
        <p:nvSpPr>
          <p:cNvPr name="TextBox 23" id="23"/>
          <p:cNvSpPr txBox="true"/>
          <p:nvPr/>
        </p:nvSpPr>
        <p:spPr>
          <a:xfrm rot="0">
            <a:off x="591981" y="5228578"/>
            <a:ext cx="3189800" cy="356235"/>
          </a:xfrm>
          <a:prstGeom prst="rect">
            <a:avLst/>
          </a:prstGeom>
        </p:spPr>
        <p:txBody>
          <a:bodyPr anchor="t" rtlCol="false" tIns="0" lIns="0" bIns="0" rIns="0">
            <a:spAutoFit/>
          </a:bodyPr>
          <a:lstStyle/>
          <a:p>
            <a:pPr algn="ctr" marL="0" indent="0" lvl="0">
              <a:lnSpc>
                <a:spcPts val="2940"/>
              </a:lnSpc>
            </a:pPr>
            <a:r>
              <a:rPr lang="en-US" b="true" sz="2100" spc="210">
                <a:solidFill>
                  <a:srgbClr val="264653"/>
                </a:solidFill>
                <a:latin typeface="Heebo Bold"/>
                <a:ea typeface="Heebo Bold"/>
                <a:cs typeface="Heebo Bold"/>
                <a:sym typeface="Heebo Bold"/>
              </a:rPr>
              <a:t>KRISHNA </a:t>
            </a:r>
          </a:p>
        </p:txBody>
      </p:sp>
      <p:sp>
        <p:nvSpPr>
          <p:cNvPr name="TextBox 24" id="24"/>
          <p:cNvSpPr txBox="true"/>
          <p:nvPr/>
        </p:nvSpPr>
        <p:spPr>
          <a:xfrm rot="0">
            <a:off x="4167708" y="5228578"/>
            <a:ext cx="3189800" cy="356235"/>
          </a:xfrm>
          <a:prstGeom prst="rect">
            <a:avLst/>
          </a:prstGeom>
        </p:spPr>
        <p:txBody>
          <a:bodyPr anchor="t" rtlCol="false" tIns="0" lIns="0" bIns="0" rIns="0">
            <a:spAutoFit/>
          </a:bodyPr>
          <a:lstStyle/>
          <a:p>
            <a:pPr algn="ctr" marL="0" indent="0" lvl="0">
              <a:lnSpc>
                <a:spcPts val="2940"/>
              </a:lnSpc>
            </a:pPr>
            <a:r>
              <a:rPr lang="en-US" b="true" sz="2100" spc="210">
                <a:solidFill>
                  <a:srgbClr val="264653"/>
                </a:solidFill>
                <a:latin typeface="Heebo Bold"/>
                <a:ea typeface="Heebo Bold"/>
                <a:cs typeface="Heebo Bold"/>
                <a:sym typeface="Heebo Bold"/>
              </a:rPr>
              <a:t>CHINTAN KOTADIYA </a:t>
            </a:r>
          </a:p>
        </p:txBody>
      </p:sp>
      <p:sp>
        <p:nvSpPr>
          <p:cNvPr name="TextBox 25" id="25"/>
          <p:cNvSpPr txBox="true"/>
          <p:nvPr/>
        </p:nvSpPr>
        <p:spPr>
          <a:xfrm rot="0">
            <a:off x="591981" y="5498939"/>
            <a:ext cx="3189800" cy="784225"/>
          </a:xfrm>
          <a:prstGeom prst="rect">
            <a:avLst/>
          </a:prstGeom>
        </p:spPr>
        <p:txBody>
          <a:bodyPr anchor="t" rtlCol="false" tIns="0" lIns="0" bIns="0" rIns="0">
            <a:spAutoFit/>
          </a:bodyPr>
          <a:lstStyle/>
          <a:p>
            <a:pPr algn="ctr" marL="0" indent="0" lvl="0">
              <a:lnSpc>
                <a:spcPts val="3200"/>
              </a:lnSpc>
            </a:pPr>
            <a:r>
              <a:rPr lang="en-US" sz="2000" spc="200">
                <a:solidFill>
                  <a:srgbClr val="000000"/>
                </a:solidFill>
                <a:latin typeface="Lato"/>
                <a:ea typeface="Lato"/>
                <a:cs typeface="Lato"/>
                <a:sym typeface="Lato"/>
              </a:rPr>
              <a:t>Scrum Master | Developer</a:t>
            </a:r>
          </a:p>
        </p:txBody>
      </p:sp>
      <p:sp>
        <p:nvSpPr>
          <p:cNvPr name="TextBox 26" id="26"/>
          <p:cNvSpPr txBox="true"/>
          <p:nvPr/>
        </p:nvSpPr>
        <p:spPr>
          <a:xfrm rot="0">
            <a:off x="4167708" y="5498939"/>
            <a:ext cx="3189800" cy="384175"/>
          </a:xfrm>
          <a:prstGeom prst="rect">
            <a:avLst/>
          </a:prstGeom>
        </p:spPr>
        <p:txBody>
          <a:bodyPr anchor="t" rtlCol="false" tIns="0" lIns="0" bIns="0" rIns="0">
            <a:spAutoFit/>
          </a:bodyPr>
          <a:lstStyle/>
          <a:p>
            <a:pPr algn="ctr" marL="0" indent="0" lvl="0">
              <a:lnSpc>
                <a:spcPts val="3200"/>
              </a:lnSpc>
            </a:pPr>
            <a:r>
              <a:rPr lang="en-US" sz="2000" spc="200">
                <a:solidFill>
                  <a:srgbClr val="000000"/>
                </a:solidFill>
                <a:latin typeface="Lato"/>
                <a:ea typeface="Lato"/>
                <a:cs typeface="Lato"/>
                <a:sym typeface="Lato"/>
              </a:rPr>
              <a:t>Developer  | Tester</a:t>
            </a:r>
          </a:p>
        </p:txBody>
      </p:sp>
      <p:sp>
        <p:nvSpPr>
          <p:cNvPr name="TextBox 27" id="27"/>
          <p:cNvSpPr txBox="true"/>
          <p:nvPr/>
        </p:nvSpPr>
        <p:spPr>
          <a:xfrm rot="0">
            <a:off x="7748033" y="5228578"/>
            <a:ext cx="3189800" cy="356235"/>
          </a:xfrm>
          <a:prstGeom prst="rect">
            <a:avLst/>
          </a:prstGeom>
        </p:spPr>
        <p:txBody>
          <a:bodyPr anchor="t" rtlCol="false" tIns="0" lIns="0" bIns="0" rIns="0">
            <a:spAutoFit/>
          </a:bodyPr>
          <a:lstStyle/>
          <a:p>
            <a:pPr algn="ctr" marL="0" indent="0" lvl="0">
              <a:lnSpc>
                <a:spcPts val="2940"/>
              </a:lnSpc>
            </a:pPr>
            <a:r>
              <a:rPr lang="en-US" b="true" sz="2100" spc="210">
                <a:solidFill>
                  <a:srgbClr val="264653"/>
                </a:solidFill>
                <a:latin typeface="Heebo Bold"/>
                <a:ea typeface="Heebo Bold"/>
                <a:cs typeface="Heebo Bold"/>
                <a:sym typeface="Heebo Bold"/>
              </a:rPr>
              <a:t>RAFAELA HOLLANDA</a:t>
            </a:r>
          </a:p>
        </p:txBody>
      </p:sp>
      <p:sp>
        <p:nvSpPr>
          <p:cNvPr name="TextBox 28" id="28"/>
          <p:cNvSpPr txBox="true"/>
          <p:nvPr/>
        </p:nvSpPr>
        <p:spPr>
          <a:xfrm rot="0">
            <a:off x="7748033" y="5498939"/>
            <a:ext cx="3189800" cy="784225"/>
          </a:xfrm>
          <a:prstGeom prst="rect">
            <a:avLst/>
          </a:prstGeom>
        </p:spPr>
        <p:txBody>
          <a:bodyPr anchor="t" rtlCol="false" tIns="0" lIns="0" bIns="0" rIns="0">
            <a:spAutoFit/>
          </a:bodyPr>
          <a:lstStyle/>
          <a:p>
            <a:pPr algn="ctr" marL="0" indent="0" lvl="0">
              <a:lnSpc>
                <a:spcPts val="3200"/>
              </a:lnSpc>
            </a:pPr>
            <a:r>
              <a:rPr lang="en-US" sz="2000" spc="200">
                <a:solidFill>
                  <a:srgbClr val="000000"/>
                </a:solidFill>
                <a:latin typeface="Lato"/>
                <a:ea typeface="Lato"/>
                <a:cs typeface="Lato"/>
                <a:sym typeface="Lato"/>
              </a:rPr>
              <a:t>Team Leader | Developer</a:t>
            </a:r>
          </a:p>
        </p:txBody>
      </p:sp>
      <p:sp>
        <p:nvSpPr>
          <p:cNvPr name="TextBox 29" id="29"/>
          <p:cNvSpPr txBox="true"/>
          <p:nvPr/>
        </p:nvSpPr>
        <p:spPr>
          <a:xfrm rot="0">
            <a:off x="11328359" y="4730589"/>
            <a:ext cx="6410123" cy="2143125"/>
          </a:xfrm>
          <a:prstGeom prst="rect">
            <a:avLst/>
          </a:prstGeom>
        </p:spPr>
        <p:txBody>
          <a:bodyPr anchor="t" rtlCol="false" tIns="0" lIns="0" bIns="0" rIns="0">
            <a:spAutoFit/>
          </a:bodyPr>
          <a:lstStyle/>
          <a:p>
            <a:pPr algn="l" marL="0" indent="0" lvl="0">
              <a:lnSpc>
                <a:spcPts val="8400"/>
              </a:lnSpc>
            </a:pPr>
            <a:r>
              <a:rPr lang="en-US" b="true" sz="6000" spc="300">
                <a:solidFill>
                  <a:srgbClr val="000000"/>
                </a:solidFill>
                <a:latin typeface="Helios Extended Bold"/>
                <a:ea typeface="Helios Extended Bold"/>
                <a:cs typeface="Helios Extended Bold"/>
                <a:sym typeface="Helios Extended Bold"/>
              </a:rPr>
              <a:t>TEAM MEMBERS</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95350"/>
            <a:ext cx="16230600" cy="1778000"/>
          </a:xfrm>
          <a:prstGeom prst="rect">
            <a:avLst/>
          </a:prstGeom>
        </p:spPr>
        <p:txBody>
          <a:bodyPr anchor="t" rtlCol="false" tIns="0" lIns="0" bIns="0" rIns="0">
            <a:spAutoFit/>
          </a:bodyPr>
          <a:lstStyle/>
          <a:p>
            <a:pPr algn="ctr" marL="0" indent="0" lvl="0">
              <a:lnSpc>
                <a:spcPts val="7000"/>
              </a:lnSpc>
            </a:pPr>
            <a:r>
              <a:rPr lang="en-US" b="true" sz="5000" spc="250">
                <a:solidFill>
                  <a:srgbClr val="000000"/>
                </a:solidFill>
                <a:latin typeface="Helios Extended Bold"/>
                <a:ea typeface="Helios Extended Bold"/>
                <a:cs typeface="Helios Extended Bold"/>
                <a:sym typeface="Helios Extended Bold"/>
              </a:rPr>
              <a:t>IMPROVEMENTS MADE FROM PROFESSOR’S FEEDBACK</a:t>
            </a:r>
          </a:p>
        </p:txBody>
      </p:sp>
      <p:sp>
        <p:nvSpPr>
          <p:cNvPr name="TextBox 3" id="3"/>
          <p:cNvSpPr txBox="true"/>
          <p:nvPr/>
        </p:nvSpPr>
        <p:spPr>
          <a:xfrm rot="0">
            <a:off x="11153920" y="6492863"/>
            <a:ext cx="6105380" cy="424815"/>
          </a:xfrm>
          <a:prstGeom prst="rect">
            <a:avLst/>
          </a:prstGeom>
        </p:spPr>
        <p:txBody>
          <a:bodyPr anchor="t" rtlCol="false" tIns="0" lIns="0" bIns="0" rIns="0">
            <a:spAutoFit/>
          </a:bodyPr>
          <a:lstStyle/>
          <a:p>
            <a:pPr algn="l" marL="0" indent="0" lvl="0">
              <a:lnSpc>
                <a:spcPts val="3359"/>
              </a:lnSpc>
              <a:spcBef>
                <a:spcPct val="0"/>
              </a:spcBef>
            </a:pPr>
            <a:r>
              <a:rPr lang="en-US" b="true" sz="2399" spc="119" strike="noStrike" u="none">
                <a:solidFill>
                  <a:srgbClr val="000000"/>
                </a:solidFill>
                <a:latin typeface="Helios Extended Bold"/>
                <a:ea typeface="Helios Extended Bold"/>
                <a:cs typeface="Helios Extended Bold"/>
                <a:sym typeface="Helios Extended Bold"/>
              </a:rPr>
              <a:t>4. AGENTIC AI </a:t>
            </a:r>
          </a:p>
        </p:txBody>
      </p:sp>
      <p:sp>
        <p:nvSpPr>
          <p:cNvPr name="TextBox 4" id="4"/>
          <p:cNvSpPr txBox="true"/>
          <p:nvPr/>
        </p:nvSpPr>
        <p:spPr>
          <a:xfrm rot="0">
            <a:off x="1745879" y="6492863"/>
            <a:ext cx="6105380" cy="424815"/>
          </a:xfrm>
          <a:prstGeom prst="rect">
            <a:avLst/>
          </a:prstGeom>
        </p:spPr>
        <p:txBody>
          <a:bodyPr anchor="t" rtlCol="false" tIns="0" lIns="0" bIns="0" rIns="0">
            <a:spAutoFit/>
          </a:bodyPr>
          <a:lstStyle/>
          <a:p>
            <a:pPr algn="l" marL="0" indent="0" lvl="0">
              <a:lnSpc>
                <a:spcPts val="3359"/>
              </a:lnSpc>
              <a:spcBef>
                <a:spcPct val="0"/>
              </a:spcBef>
            </a:pPr>
            <a:r>
              <a:rPr lang="en-US" b="true" sz="2399" spc="119">
                <a:solidFill>
                  <a:srgbClr val="000000"/>
                </a:solidFill>
                <a:latin typeface="Helios Extended Bold"/>
                <a:ea typeface="Helios Extended Bold"/>
                <a:cs typeface="Helios Extended Bold"/>
                <a:sym typeface="Helios Extended Bold"/>
              </a:rPr>
              <a:t>3</a:t>
            </a:r>
            <a:r>
              <a:rPr lang="en-US" b="true" sz="2399" spc="119" strike="noStrike" u="none">
                <a:solidFill>
                  <a:srgbClr val="000000"/>
                </a:solidFill>
                <a:latin typeface="Helios Extended Bold"/>
                <a:ea typeface="Helios Extended Bold"/>
                <a:cs typeface="Helios Extended Bold"/>
                <a:sym typeface="Helios Extended Bold"/>
              </a:rPr>
              <a:t>. BOARD USAGE</a:t>
            </a:r>
          </a:p>
        </p:txBody>
      </p:sp>
      <p:sp>
        <p:nvSpPr>
          <p:cNvPr name="TextBox 5" id="5"/>
          <p:cNvSpPr txBox="true"/>
          <p:nvPr/>
        </p:nvSpPr>
        <p:spPr>
          <a:xfrm rot="0">
            <a:off x="11153920" y="3476587"/>
            <a:ext cx="6105380" cy="424815"/>
          </a:xfrm>
          <a:prstGeom prst="rect">
            <a:avLst/>
          </a:prstGeom>
        </p:spPr>
        <p:txBody>
          <a:bodyPr anchor="t" rtlCol="false" tIns="0" lIns="0" bIns="0" rIns="0">
            <a:spAutoFit/>
          </a:bodyPr>
          <a:lstStyle/>
          <a:p>
            <a:pPr algn="l" marL="0" indent="0" lvl="0">
              <a:lnSpc>
                <a:spcPts val="3359"/>
              </a:lnSpc>
              <a:spcBef>
                <a:spcPct val="0"/>
              </a:spcBef>
            </a:pPr>
            <a:r>
              <a:rPr lang="en-US" b="true" sz="2399" spc="119" strike="noStrike" u="none">
                <a:solidFill>
                  <a:srgbClr val="000000"/>
                </a:solidFill>
                <a:latin typeface="Helios Extended Bold"/>
                <a:ea typeface="Helios Extended Bold"/>
                <a:cs typeface="Helios Extended Bold"/>
                <a:sym typeface="Helios Extended Bold"/>
              </a:rPr>
              <a:t>2. RETROSPECTIVE FOCUS</a:t>
            </a:r>
          </a:p>
        </p:txBody>
      </p:sp>
      <p:sp>
        <p:nvSpPr>
          <p:cNvPr name="TextBox 6" id="6"/>
          <p:cNvSpPr txBox="true"/>
          <p:nvPr/>
        </p:nvSpPr>
        <p:spPr>
          <a:xfrm rot="0">
            <a:off x="1745879" y="3476587"/>
            <a:ext cx="6105380" cy="424815"/>
          </a:xfrm>
          <a:prstGeom prst="rect">
            <a:avLst/>
          </a:prstGeom>
        </p:spPr>
        <p:txBody>
          <a:bodyPr anchor="t" rtlCol="false" tIns="0" lIns="0" bIns="0" rIns="0">
            <a:spAutoFit/>
          </a:bodyPr>
          <a:lstStyle/>
          <a:p>
            <a:pPr algn="l">
              <a:lnSpc>
                <a:spcPts val="3359"/>
              </a:lnSpc>
            </a:pPr>
            <a:r>
              <a:rPr lang="en-US" b="true" sz="2399" spc="119">
                <a:solidFill>
                  <a:srgbClr val="000000"/>
                </a:solidFill>
                <a:latin typeface="Helios Extended Bold"/>
                <a:ea typeface="Helios Extended Bold"/>
                <a:cs typeface="Helios Extended Bold"/>
                <a:sym typeface="Helios Extended Bold"/>
              </a:rPr>
              <a:t>1. TEAM PRESENCE</a:t>
            </a:r>
          </a:p>
        </p:txBody>
      </p:sp>
      <p:sp>
        <p:nvSpPr>
          <p:cNvPr name="TextBox 7" id="7"/>
          <p:cNvSpPr txBox="true"/>
          <p:nvPr/>
        </p:nvSpPr>
        <p:spPr>
          <a:xfrm rot="0">
            <a:off x="2159304" y="4045452"/>
            <a:ext cx="6105380" cy="358775"/>
          </a:xfrm>
          <a:prstGeom prst="rect">
            <a:avLst/>
          </a:prstGeom>
        </p:spPr>
        <p:txBody>
          <a:bodyPr anchor="t" rtlCol="false" tIns="0" lIns="0" bIns="0" rIns="0">
            <a:spAutoFit/>
          </a:bodyPr>
          <a:lstStyle/>
          <a:p>
            <a:pPr algn="l">
              <a:lnSpc>
                <a:spcPts val="2799"/>
              </a:lnSpc>
            </a:pPr>
            <a:r>
              <a:rPr lang="en-US" sz="1999" spc="99">
                <a:solidFill>
                  <a:srgbClr val="000000"/>
                </a:solidFill>
                <a:latin typeface="Helios Extended"/>
                <a:ea typeface="Helios Extended"/>
                <a:cs typeface="Helios Extended"/>
                <a:sym typeface="Helios Extended"/>
              </a:rPr>
              <a:t>FEEDBACK:</a:t>
            </a:r>
          </a:p>
        </p:txBody>
      </p:sp>
      <p:sp>
        <p:nvSpPr>
          <p:cNvPr name="TextBox 8" id="8"/>
          <p:cNvSpPr txBox="true"/>
          <p:nvPr/>
        </p:nvSpPr>
        <p:spPr>
          <a:xfrm rot="0">
            <a:off x="2159304" y="7060553"/>
            <a:ext cx="6105380" cy="358775"/>
          </a:xfrm>
          <a:prstGeom prst="rect">
            <a:avLst/>
          </a:prstGeom>
        </p:spPr>
        <p:txBody>
          <a:bodyPr anchor="t" rtlCol="false" tIns="0" lIns="0" bIns="0" rIns="0">
            <a:spAutoFit/>
          </a:bodyPr>
          <a:lstStyle/>
          <a:p>
            <a:pPr algn="l">
              <a:lnSpc>
                <a:spcPts val="2799"/>
              </a:lnSpc>
            </a:pPr>
            <a:r>
              <a:rPr lang="en-US" sz="1999" spc="99">
                <a:solidFill>
                  <a:srgbClr val="000000"/>
                </a:solidFill>
                <a:latin typeface="Helios Extended"/>
                <a:ea typeface="Helios Extended"/>
                <a:cs typeface="Helios Extended"/>
                <a:sym typeface="Helios Extended"/>
              </a:rPr>
              <a:t>FEEDBACK:</a:t>
            </a:r>
          </a:p>
        </p:txBody>
      </p:sp>
      <p:sp>
        <p:nvSpPr>
          <p:cNvPr name="TextBox 9" id="9"/>
          <p:cNvSpPr txBox="true"/>
          <p:nvPr/>
        </p:nvSpPr>
        <p:spPr>
          <a:xfrm rot="0">
            <a:off x="11664618" y="7060553"/>
            <a:ext cx="6105380" cy="358775"/>
          </a:xfrm>
          <a:prstGeom prst="rect">
            <a:avLst/>
          </a:prstGeom>
        </p:spPr>
        <p:txBody>
          <a:bodyPr anchor="t" rtlCol="false" tIns="0" lIns="0" bIns="0" rIns="0">
            <a:spAutoFit/>
          </a:bodyPr>
          <a:lstStyle/>
          <a:p>
            <a:pPr algn="l">
              <a:lnSpc>
                <a:spcPts val="2799"/>
              </a:lnSpc>
            </a:pPr>
            <a:r>
              <a:rPr lang="en-US" sz="1999" spc="99">
                <a:solidFill>
                  <a:srgbClr val="000000"/>
                </a:solidFill>
                <a:latin typeface="Helios Extended"/>
                <a:ea typeface="Helios Extended"/>
                <a:cs typeface="Helios Extended"/>
                <a:sym typeface="Helios Extended"/>
              </a:rPr>
              <a:t>FEEDBACK:</a:t>
            </a:r>
          </a:p>
        </p:txBody>
      </p:sp>
      <p:sp>
        <p:nvSpPr>
          <p:cNvPr name="TextBox 10" id="10"/>
          <p:cNvSpPr txBox="true"/>
          <p:nvPr/>
        </p:nvSpPr>
        <p:spPr>
          <a:xfrm rot="0">
            <a:off x="11664618" y="4045452"/>
            <a:ext cx="6105380" cy="358775"/>
          </a:xfrm>
          <a:prstGeom prst="rect">
            <a:avLst/>
          </a:prstGeom>
        </p:spPr>
        <p:txBody>
          <a:bodyPr anchor="t" rtlCol="false" tIns="0" lIns="0" bIns="0" rIns="0">
            <a:spAutoFit/>
          </a:bodyPr>
          <a:lstStyle/>
          <a:p>
            <a:pPr algn="l">
              <a:lnSpc>
                <a:spcPts val="2799"/>
              </a:lnSpc>
            </a:pPr>
            <a:r>
              <a:rPr lang="en-US" sz="1999" spc="99">
                <a:solidFill>
                  <a:srgbClr val="000000"/>
                </a:solidFill>
                <a:latin typeface="Helios Extended"/>
                <a:ea typeface="Helios Extended"/>
                <a:cs typeface="Helios Extended"/>
                <a:sym typeface="Helios Extended"/>
              </a:rPr>
              <a:t>FEEDBACK:</a:t>
            </a:r>
          </a:p>
        </p:txBody>
      </p:sp>
      <p:sp>
        <p:nvSpPr>
          <p:cNvPr name="TextBox 11" id="11"/>
          <p:cNvSpPr txBox="true"/>
          <p:nvPr/>
        </p:nvSpPr>
        <p:spPr>
          <a:xfrm rot="0">
            <a:off x="2159304" y="4547102"/>
            <a:ext cx="6105380" cy="711200"/>
          </a:xfrm>
          <a:prstGeom prst="rect">
            <a:avLst/>
          </a:prstGeom>
        </p:spPr>
        <p:txBody>
          <a:bodyPr anchor="t" rtlCol="false" tIns="0" lIns="0" bIns="0" rIns="0">
            <a:spAutoFit/>
          </a:bodyPr>
          <a:lstStyle/>
          <a:p>
            <a:pPr algn="l">
              <a:lnSpc>
                <a:spcPts val="2799"/>
              </a:lnSpc>
            </a:pPr>
            <a:r>
              <a:rPr lang="en-US" sz="1999" spc="99">
                <a:solidFill>
                  <a:srgbClr val="000000"/>
                </a:solidFill>
                <a:latin typeface="Helios Extended"/>
                <a:ea typeface="Helios Extended"/>
                <a:cs typeface="Helios Extended"/>
                <a:sym typeface="Helios Extended"/>
              </a:rPr>
              <a:t>ONE MEMBER WAS AWAY DURING THE PRESENTATION VIDEO</a:t>
            </a:r>
          </a:p>
        </p:txBody>
      </p:sp>
      <p:sp>
        <p:nvSpPr>
          <p:cNvPr name="TextBox 12" id="12"/>
          <p:cNvSpPr txBox="true"/>
          <p:nvPr/>
        </p:nvSpPr>
        <p:spPr>
          <a:xfrm rot="0">
            <a:off x="2159304" y="5376790"/>
            <a:ext cx="5804221" cy="711200"/>
          </a:xfrm>
          <a:prstGeom prst="rect">
            <a:avLst/>
          </a:prstGeom>
        </p:spPr>
        <p:txBody>
          <a:bodyPr anchor="t" rtlCol="false" tIns="0" lIns="0" bIns="0" rIns="0">
            <a:spAutoFit/>
          </a:bodyPr>
          <a:lstStyle/>
          <a:p>
            <a:pPr algn="l">
              <a:lnSpc>
                <a:spcPts val="2799"/>
              </a:lnSpc>
            </a:pPr>
            <a:r>
              <a:rPr lang="en-US" sz="1999" spc="99">
                <a:solidFill>
                  <a:srgbClr val="066B72"/>
                </a:solidFill>
                <a:latin typeface="Helios Extended"/>
                <a:ea typeface="Helios Extended"/>
                <a:cs typeface="Helios Extended"/>
                <a:sym typeface="Helios Extended"/>
              </a:rPr>
              <a:t>ALL MEMBERS WILL RECORD TOGETHER GOING FORWARD</a:t>
            </a:r>
          </a:p>
        </p:txBody>
      </p:sp>
      <p:sp>
        <p:nvSpPr>
          <p:cNvPr name="TextBox 13" id="13"/>
          <p:cNvSpPr txBox="true"/>
          <p:nvPr/>
        </p:nvSpPr>
        <p:spPr>
          <a:xfrm rot="0">
            <a:off x="2159304" y="8387704"/>
            <a:ext cx="5804221" cy="711200"/>
          </a:xfrm>
          <a:prstGeom prst="rect">
            <a:avLst/>
          </a:prstGeom>
        </p:spPr>
        <p:txBody>
          <a:bodyPr anchor="t" rtlCol="false" tIns="0" lIns="0" bIns="0" rIns="0">
            <a:spAutoFit/>
          </a:bodyPr>
          <a:lstStyle/>
          <a:p>
            <a:pPr algn="l">
              <a:lnSpc>
                <a:spcPts val="2799"/>
              </a:lnSpc>
            </a:pPr>
            <a:r>
              <a:rPr lang="en-US" sz="1999" spc="99">
                <a:solidFill>
                  <a:srgbClr val="066B72"/>
                </a:solidFill>
                <a:latin typeface="Helios Extended"/>
                <a:ea typeface="Helios Extended"/>
                <a:cs typeface="Helios Extended"/>
                <a:sym typeface="Helios Extended"/>
              </a:rPr>
              <a:t>CONTINUE USING OUR BOARD FOR RETROSPECTIVES &amp; PLANNING</a:t>
            </a:r>
          </a:p>
        </p:txBody>
      </p:sp>
      <p:sp>
        <p:nvSpPr>
          <p:cNvPr name="TextBox 14" id="14"/>
          <p:cNvSpPr txBox="true"/>
          <p:nvPr/>
        </p:nvSpPr>
        <p:spPr>
          <a:xfrm rot="0">
            <a:off x="11567346" y="5376790"/>
            <a:ext cx="5804221" cy="711200"/>
          </a:xfrm>
          <a:prstGeom prst="rect">
            <a:avLst/>
          </a:prstGeom>
        </p:spPr>
        <p:txBody>
          <a:bodyPr anchor="t" rtlCol="false" tIns="0" lIns="0" bIns="0" rIns="0">
            <a:spAutoFit/>
          </a:bodyPr>
          <a:lstStyle/>
          <a:p>
            <a:pPr algn="l">
              <a:lnSpc>
                <a:spcPts val="2799"/>
              </a:lnSpc>
            </a:pPr>
            <a:r>
              <a:rPr lang="en-US" sz="1999" spc="99">
                <a:solidFill>
                  <a:srgbClr val="066B72"/>
                </a:solidFill>
                <a:latin typeface="Helios Extended"/>
                <a:ea typeface="Helios Extended"/>
                <a:cs typeface="Helios Extended"/>
                <a:sym typeface="Helios Extended"/>
              </a:rPr>
              <a:t>KEEP RETROSPECTIVES STRICTLY ON PROCESS IMPROVEMENT</a:t>
            </a:r>
          </a:p>
        </p:txBody>
      </p:sp>
      <p:sp>
        <p:nvSpPr>
          <p:cNvPr name="TextBox 15" id="15"/>
          <p:cNvSpPr txBox="true"/>
          <p:nvPr/>
        </p:nvSpPr>
        <p:spPr>
          <a:xfrm rot="0">
            <a:off x="11567346" y="8387704"/>
            <a:ext cx="5804221" cy="711200"/>
          </a:xfrm>
          <a:prstGeom prst="rect">
            <a:avLst/>
          </a:prstGeom>
        </p:spPr>
        <p:txBody>
          <a:bodyPr anchor="t" rtlCol="false" tIns="0" lIns="0" bIns="0" rIns="0">
            <a:spAutoFit/>
          </a:bodyPr>
          <a:lstStyle/>
          <a:p>
            <a:pPr algn="l">
              <a:lnSpc>
                <a:spcPts val="2799"/>
              </a:lnSpc>
            </a:pPr>
            <a:r>
              <a:rPr lang="en-US" sz="1999" spc="99">
                <a:solidFill>
                  <a:srgbClr val="066B72"/>
                </a:solidFill>
                <a:latin typeface="Helios Extended"/>
                <a:ea typeface="Helios Extended"/>
                <a:cs typeface="Helios Extended"/>
                <a:sym typeface="Helios Extended"/>
              </a:rPr>
              <a:t>IMPLEMENTING AGENTIC AI IDEAS IN SPRINT 2</a:t>
            </a:r>
          </a:p>
        </p:txBody>
      </p:sp>
      <p:sp>
        <p:nvSpPr>
          <p:cNvPr name="TextBox 16" id="16"/>
          <p:cNvSpPr txBox="true"/>
          <p:nvPr/>
        </p:nvSpPr>
        <p:spPr>
          <a:xfrm rot="0">
            <a:off x="2159304" y="7562204"/>
            <a:ext cx="6105380" cy="711200"/>
          </a:xfrm>
          <a:prstGeom prst="rect">
            <a:avLst/>
          </a:prstGeom>
        </p:spPr>
        <p:txBody>
          <a:bodyPr anchor="t" rtlCol="false" tIns="0" lIns="0" bIns="0" rIns="0">
            <a:spAutoFit/>
          </a:bodyPr>
          <a:lstStyle/>
          <a:p>
            <a:pPr algn="l">
              <a:lnSpc>
                <a:spcPts val="2799"/>
              </a:lnSpc>
            </a:pPr>
            <a:r>
              <a:rPr lang="en-US" sz="1999" spc="99">
                <a:solidFill>
                  <a:srgbClr val="000000"/>
                </a:solidFill>
                <a:latin typeface="Helios Extended"/>
                <a:ea typeface="Helios Extended"/>
                <a:cs typeface="Helios Extended"/>
                <a:sym typeface="Helios Extended"/>
              </a:rPr>
              <a:t>KUDOS FOR USING A BOARD IN OUR RETROSPECTIVE</a:t>
            </a:r>
          </a:p>
        </p:txBody>
      </p:sp>
      <p:sp>
        <p:nvSpPr>
          <p:cNvPr name="TextBox 17" id="17"/>
          <p:cNvSpPr txBox="true"/>
          <p:nvPr/>
        </p:nvSpPr>
        <p:spPr>
          <a:xfrm rot="0">
            <a:off x="11664618" y="7562204"/>
            <a:ext cx="6105380" cy="711200"/>
          </a:xfrm>
          <a:prstGeom prst="rect">
            <a:avLst/>
          </a:prstGeom>
        </p:spPr>
        <p:txBody>
          <a:bodyPr anchor="t" rtlCol="false" tIns="0" lIns="0" bIns="0" rIns="0">
            <a:spAutoFit/>
          </a:bodyPr>
          <a:lstStyle/>
          <a:p>
            <a:pPr algn="l">
              <a:lnSpc>
                <a:spcPts val="2799"/>
              </a:lnSpc>
            </a:pPr>
            <a:r>
              <a:rPr lang="en-US" sz="1999" spc="99">
                <a:solidFill>
                  <a:srgbClr val="000000"/>
                </a:solidFill>
                <a:latin typeface="Helios Extended"/>
                <a:ea typeface="Helios Extended"/>
                <a:cs typeface="Helios Extended"/>
                <a:sym typeface="Helios Extended"/>
              </a:rPr>
              <a:t>TRY TO INTEGRATE AGENTIC AI / AI AGENTS INTO THE PROJECT</a:t>
            </a:r>
          </a:p>
        </p:txBody>
      </p:sp>
      <p:sp>
        <p:nvSpPr>
          <p:cNvPr name="TextBox 18" id="18"/>
          <p:cNvSpPr txBox="true"/>
          <p:nvPr/>
        </p:nvSpPr>
        <p:spPr>
          <a:xfrm rot="0">
            <a:off x="11664618" y="4547102"/>
            <a:ext cx="6105380" cy="711200"/>
          </a:xfrm>
          <a:prstGeom prst="rect">
            <a:avLst/>
          </a:prstGeom>
        </p:spPr>
        <p:txBody>
          <a:bodyPr anchor="t" rtlCol="false" tIns="0" lIns="0" bIns="0" rIns="0">
            <a:spAutoFit/>
          </a:bodyPr>
          <a:lstStyle/>
          <a:p>
            <a:pPr algn="l">
              <a:lnSpc>
                <a:spcPts val="2799"/>
              </a:lnSpc>
            </a:pPr>
            <a:r>
              <a:rPr lang="en-US" sz="1999" spc="99">
                <a:solidFill>
                  <a:srgbClr val="000000"/>
                </a:solidFill>
                <a:latin typeface="Helios Extended"/>
                <a:ea typeface="Helios Extended"/>
                <a:cs typeface="Helios Extended"/>
                <a:sym typeface="Helios Extended"/>
              </a:rPr>
              <a:t>ONLY SPEAK ABOUT EFFECTIVENESS DURING RETROSPECTIVES</a:t>
            </a:r>
          </a:p>
        </p:txBody>
      </p:sp>
      <p:sp>
        <p:nvSpPr>
          <p:cNvPr name="AutoShape 19" id="19"/>
          <p:cNvSpPr/>
          <p:nvPr/>
        </p:nvSpPr>
        <p:spPr>
          <a:xfrm flipV="true">
            <a:off x="1745879" y="5557765"/>
            <a:ext cx="206342" cy="0"/>
          </a:xfrm>
          <a:prstGeom prst="line">
            <a:avLst/>
          </a:prstGeom>
          <a:ln cap="flat" w="38100">
            <a:solidFill>
              <a:srgbClr val="000000"/>
            </a:solidFill>
            <a:prstDash val="solid"/>
            <a:headEnd type="none" len="sm" w="sm"/>
            <a:tailEnd type="triangle" len="med" w="lg"/>
          </a:ln>
        </p:spPr>
      </p:sp>
      <p:sp>
        <p:nvSpPr>
          <p:cNvPr name="AutoShape 20" id="20"/>
          <p:cNvSpPr/>
          <p:nvPr/>
        </p:nvSpPr>
        <p:spPr>
          <a:xfrm flipV="true">
            <a:off x="1745879" y="8568679"/>
            <a:ext cx="206342" cy="0"/>
          </a:xfrm>
          <a:prstGeom prst="line">
            <a:avLst/>
          </a:prstGeom>
          <a:ln cap="flat" w="38100">
            <a:solidFill>
              <a:srgbClr val="000000"/>
            </a:solidFill>
            <a:prstDash val="solid"/>
            <a:headEnd type="none" len="sm" w="sm"/>
            <a:tailEnd type="triangle" len="med" w="lg"/>
          </a:ln>
        </p:spPr>
      </p:sp>
      <p:sp>
        <p:nvSpPr>
          <p:cNvPr name="AutoShape 21" id="21"/>
          <p:cNvSpPr/>
          <p:nvPr/>
        </p:nvSpPr>
        <p:spPr>
          <a:xfrm flipV="true">
            <a:off x="11153920" y="5557765"/>
            <a:ext cx="206342" cy="0"/>
          </a:xfrm>
          <a:prstGeom prst="line">
            <a:avLst/>
          </a:prstGeom>
          <a:ln cap="flat" w="38100">
            <a:solidFill>
              <a:srgbClr val="000000"/>
            </a:solidFill>
            <a:prstDash val="solid"/>
            <a:headEnd type="none" len="sm" w="sm"/>
            <a:tailEnd type="triangle" len="med" w="lg"/>
          </a:ln>
        </p:spPr>
      </p:sp>
      <p:sp>
        <p:nvSpPr>
          <p:cNvPr name="AutoShape 22" id="22"/>
          <p:cNvSpPr/>
          <p:nvPr/>
        </p:nvSpPr>
        <p:spPr>
          <a:xfrm flipV="true">
            <a:off x="11153920" y="8568679"/>
            <a:ext cx="206342" cy="0"/>
          </a:xfrm>
          <a:prstGeom prst="line">
            <a:avLst/>
          </a:prstGeom>
          <a:ln cap="flat" w="38100">
            <a:solidFill>
              <a:srgbClr val="000000"/>
            </a:solidFill>
            <a:prstDash val="solid"/>
            <a:headEnd type="none" len="sm" w="sm"/>
            <a:tailEnd type="triangle" len="med" w="lg"/>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001007" y="0"/>
            <a:ext cx="10286993" cy="10287000"/>
            <a:chOff x="0" y="0"/>
            <a:chExt cx="2709331" cy="2709333"/>
          </a:xfrm>
        </p:grpSpPr>
        <p:sp>
          <p:nvSpPr>
            <p:cNvPr name="Freeform 3" id="3"/>
            <p:cNvSpPr/>
            <p:nvPr/>
          </p:nvSpPr>
          <p:spPr>
            <a:xfrm flipH="false" flipV="false" rot="0">
              <a:off x="0" y="0"/>
              <a:ext cx="2709331" cy="2709333"/>
            </a:xfrm>
            <a:custGeom>
              <a:avLst/>
              <a:gdLst/>
              <a:ahLst/>
              <a:cxnLst/>
              <a:rect r="r" b="b" t="t" l="l"/>
              <a:pathLst>
                <a:path h="2709333" w="2709331">
                  <a:moveTo>
                    <a:pt x="0" y="0"/>
                  </a:moveTo>
                  <a:lnTo>
                    <a:pt x="2709331" y="0"/>
                  </a:lnTo>
                  <a:lnTo>
                    <a:pt x="2709331" y="2709333"/>
                  </a:lnTo>
                  <a:lnTo>
                    <a:pt x="0" y="2709333"/>
                  </a:lnTo>
                  <a:close/>
                </a:path>
              </a:pathLst>
            </a:custGeom>
            <a:solidFill>
              <a:srgbClr val="F2F1F1">
                <a:alpha val="80000"/>
              </a:srgbClr>
            </a:solidFill>
          </p:spPr>
        </p:sp>
        <p:sp>
          <p:nvSpPr>
            <p:cNvPr name="TextBox 4" id="4"/>
            <p:cNvSpPr txBox="true"/>
            <p:nvPr/>
          </p:nvSpPr>
          <p:spPr>
            <a:xfrm>
              <a:off x="0" y="-47625"/>
              <a:ext cx="2709331" cy="2756958"/>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8001007" y="1640982"/>
            <a:ext cx="10286993" cy="7005036"/>
          </a:xfrm>
          <a:custGeom>
            <a:avLst/>
            <a:gdLst/>
            <a:ahLst/>
            <a:cxnLst/>
            <a:rect r="r" b="b" t="t" l="l"/>
            <a:pathLst>
              <a:path h="7005036" w="10286993">
                <a:moveTo>
                  <a:pt x="0" y="0"/>
                </a:moveTo>
                <a:lnTo>
                  <a:pt x="10286993" y="0"/>
                </a:lnTo>
                <a:lnTo>
                  <a:pt x="10286993" y="7005036"/>
                </a:lnTo>
                <a:lnTo>
                  <a:pt x="0" y="7005036"/>
                </a:lnTo>
                <a:lnTo>
                  <a:pt x="0" y="0"/>
                </a:lnTo>
                <a:close/>
              </a:path>
            </a:pathLst>
          </a:custGeom>
          <a:blipFill>
            <a:blip r:embed="rId2"/>
            <a:stretch>
              <a:fillRect l="0" t="0" r="0" b="0"/>
            </a:stretch>
          </a:blipFill>
        </p:spPr>
      </p:sp>
      <p:sp>
        <p:nvSpPr>
          <p:cNvPr name="TextBox 6" id="6"/>
          <p:cNvSpPr txBox="true"/>
          <p:nvPr/>
        </p:nvSpPr>
        <p:spPr>
          <a:xfrm rot="0">
            <a:off x="1004888" y="3964677"/>
            <a:ext cx="6996120" cy="2143125"/>
          </a:xfrm>
          <a:prstGeom prst="rect">
            <a:avLst/>
          </a:prstGeom>
        </p:spPr>
        <p:txBody>
          <a:bodyPr anchor="t" rtlCol="false" tIns="0" lIns="0" bIns="0" rIns="0">
            <a:spAutoFit/>
          </a:bodyPr>
          <a:lstStyle/>
          <a:p>
            <a:pPr algn="l" marL="0" indent="0" lvl="0">
              <a:lnSpc>
                <a:spcPts val="8400"/>
              </a:lnSpc>
            </a:pPr>
            <a:r>
              <a:rPr lang="en-US" b="true" sz="6000" spc="300">
                <a:solidFill>
                  <a:srgbClr val="000000"/>
                </a:solidFill>
                <a:latin typeface="Helios Extended Bold"/>
                <a:ea typeface="Helios Extended Bold"/>
                <a:cs typeface="Helios Extended Bold"/>
                <a:sym typeface="Helios Extended Bold"/>
              </a:rPr>
              <a:t>PROJECT DESCRIPTION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04888" y="8668933"/>
            <a:ext cx="533846" cy="589367"/>
          </a:xfrm>
          <a:custGeom>
            <a:avLst/>
            <a:gdLst/>
            <a:ahLst/>
            <a:cxnLst/>
            <a:rect r="r" b="b" t="t" l="l"/>
            <a:pathLst>
              <a:path h="589367" w="533846">
                <a:moveTo>
                  <a:pt x="0" y="0"/>
                </a:moveTo>
                <a:lnTo>
                  <a:pt x="533846" y="0"/>
                </a:lnTo>
                <a:lnTo>
                  <a:pt x="533846" y="589367"/>
                </a:lnTo>
                <a:lnTo>
                  <a:pt x="0" y="5893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33462" y="0"/>
            <a:ext cx="0" cy="3768928"/>
          </a:xfrm>
          <a:prstGeom prst="line">
            <a:avLst/>
          </a:prstGeom>
          <a:ln cap="flat" w="57150">
            <a:solidFill>
              <a:srgbClr val="264653"/>
            </a:solidFill>
            <a:prstDash val="sysDash"/>
            <a:headEnd type="none" len="sm" w="sm"/>
            <a:tailEnd type="none" len="sm" w="sm"/>
          </a:ln>
        </p:spPr>
      </p:sp>
      <p:grpSp>
        <p:nvGrpSpPr>
          <p:cNvPr name="Group 4" id="4"/>
          <p:cNvGrpSpPr/>
          <p:nvPr/>
        </p:nvGrpSpPr>
        <p:grpSpPr>
          <a:xfrm rot="0">
            <a:off x="7503574" y="0"/>
            <a:ext cx="10784426" cy="10287000"/>
            <a:chOff x="0" y="0"/>
            <a:chExt cx="2840343" cy="2709333"/>
          </a:xfrm>
        </p:grpSpPr>
        <p:sp>
          <p:nvSpPr>
            <p:cNvPr name="Freeform 5" id="5"/>
            <p:cNvSpPr/>
            <p:nvPr/>
          </p:nvSpPr>
          <p:spPr>
            <a:xfrm flipH="false" flipV="false" rot="0">
              <a:off x="0" y="0"/>
              <a:ext cx="2840343" cy="2709333"/>
            </a:xfrm>
            <a:custGeom>
              <a:avLst/>
              <a:gdLst/>
              <a:ahLst/>
              <a:cxnLst/>
              <a:rect r="r" b="b" t="t" l="l"/>
              <a:pathLst>
                <a:path h="2709333" w="2840343">
                  <a:moveTo>
                    <a:pt x="0" y="0"/>
                  </a:moveTo>
                  <a:lnTo>
                    <a:pt x="2840343" y="0"/>
                  </a:lnTo>
                  <a:lnTo>
                    <a:pt x="2840343" y="2709333"/>
                  </a:lnTo>
                  <a:lnTo>
                    <a:pt x="0" y="2709333"/>
                  </a:lnTo>
                  <a:close/>
                </a:path>
              </a:pathLst>
            </a:custGeom>
            <a:solidFill>
              <a:srgbClr val="F2F1F1">
                <a:alpha val="80000"/>
              </a:srgbClr>
            </a:solidFill>
          </p:spPr>
        </p:sp>
        <p:sp>
          <p:nvSpPr>
            <p:cNvPr name="TextBox 6" id="6"/>
            <p:cNvSpPr txBox="true"/>
            <p:nvPr/>
          </p:nvSpPr>
          <p:spPr>
            <a:xfrm>
              <a:off x="0" y="-47625"/>
              <a:ext cx="2840343" cy="2756958"/>
            </a:xfrm>
            <a:prstGeom prst="rect">
              <a:avLst/>
            </a:prstGeom>
          </p:spPr>
          <p:txBody>
            <a:bodyPr anchor="ctr" rtlCol="false" tIns="50800" lIns="50800" bIns="50800" rIns="50800"/>
            <a:lstStyle/>
            <a:p>
              <a:pPr algn="ctr">
                <a:lnSpc>
                  <a:spcPts val="3359"/>
                </a:lnSpc>
              </a:pPr>
            </a:p>
          </p:txBody>
        </p:sp>
      </p:grpSp>
      <p:sp>
        <p:nvSpPr>
          <p:cNvPr name="TextBox 7" id="7"/>
          <p:cNvSpPr txBox="true"/>
          <p:nvPr/>
        </p:nvSpPr>
        <p:spPr>
          <a:xfrm rot="0">
            <a:off x="1744383" y="8852684"/>
            <a:ext cx="6256624" cy="405765"/>
          </a:xfrm>
          <a:prstGeom prst="rect">
            <a:avLst/>
          </a:prstGeom>
        </p:spPr>
        <p:txBody>
          <a:bodyPr anchor="t" rtlCol="false" tIns="0" lIns="0" bIns="0" rIns="0">
            <a:spAutoFit/>
          </a:bodyPr>
          <a:lstStyle/>
          <a:p>
            <a:pPr algn="l" marL="0" indent="0" lvl="0">
              <a:lnSpc>
                <a:spcPts val="3359"/>
              </a:lnSpc>
              <a:spcBef>
                <a:spcPct val="0"/>
              </a:spcBef>
            </a:pPr>
            <a:r>
              <a:rPr lang="en-US" sz="2399" spc="239">
                <a:solidFill>
                  <a:srgbClr val="000000"/>
                </a:solidFill>
                <a:latin typeface="Lato"/>
                <a:ea typeface="Lato"/>
                <a:cs typeface="Lato"/>
                <a:sym typeface="Lato"/>
              </a:rPr>
              <a:t>Team Nexus</a:t>
            </a:r>
          </a:p>
        </p:txBody>
      </p:sp>
      <p:sp>
        <p:nvSpPr>
          <p:cNvPr name="TextBox 8" id="8"/>
          <p:cNvSpPr txBox="true"/>
          <p:nvPr/>
        </p:nvSpPr>
        <p:spPr>
          <a:xfrm rot="0">
            <a:off x="1004888" y="3964677"/>
            <a:ext cx="6235339" cy="3209925"/>
          </a:xfrm>
          <a:prstGeom prst="rect">
            <a:avLst/>
          </a:prstGeom>
        </p:spPr>
        <p:txBody>
          <a:bodyPr anchor="t" rtlCol="false" tIns="0" lIns="0" bIns="0" rIns="0">
            <a:spAutoFit/>
          </a:bodyPr>
          <a:lstStyle/>
          <a:p>
            <a:pPr algn="l" marL="0" indent="0" lvl="0">
              <a:lnSpc>
                <a:spcPts val="8400"/>
              </a:lnSpc>
            </a:pPr>
            <a:r>
              <a:rPr lang="en-US" b="true" sz="6000" spc="300">
                <a:solidFill>
                  <a:srgbClr val="000000"/>
                </a:solidFill>
                <a:latin typeface="Helios Extended Bold"/>
                <a:ea typeface="Helios Extended Bold"/>
                <a:cs typeface="Helios Extended Bold"/>
                <a:sym typeface="Helios Extended Bold"/>
              </a:rPr>
              <a:t>TEAM WORKING AGREEMENT </a:t>
            </a:r>
          </a:p>
        </p:txBody>
      </p:sp>
      <p:sp>
        <p:nvSpPr>
          <p:cNvPr name="TextBox 9" id="9"/>
          <p:cNvSpPr txBox="true"/>
          <p:nvPr/>
        </p:nvSpPr>
        <p:spPr>
          <a:xfrm rot="0">
            <a:off x="7708399" y="771579"/>
            <a:ext cx="9990545" cy="4645660"/>
          </a:xfrm>
          <a:prstGeom prst="rect">
            <a:avLst/>
          </a:prstGeom>
        </p:spPr>
        <p:txBody>
          <a:bodyPr anchor="t" rtlCol="false" tIns="0" lIns="0" bIns="0" rIns="0">
            <a:spAutoFit/>
          </a:bodyPr>
          <a:lstStyle/>
          <a:p>
            <a:pPr algn="l">
              <a:lnSpc>
                <a:spcPts val="3679"/>
              </a:lnSpc>
            </a:pPr>
            <a:r>
              <a:rPr lang="en-US" sz="2299" spc="229">
                <a:solidFill>
                  <a:srgbClr val="000000"/>
                </a:solidFill>
                <a:latin typeface="Lato"/>
                <a:ea typeface="Lato"/>
                <a:cs typeface="Lato"/>
                <a:sym typeface="Lato"/>
              </a:rPr>
              <a:t>• </a:t>
            </a:r>
            <a:r>
              <a:rPr lang="en-US" sz="2299" spc="229">
                <a:solidFill>
                  <a:srgbClr val="000000"/>
                </a:solidFill>
                <a:latin typeface="Lato"/>
                <a:ea typeface="Lato"/>
                <a:cs typeface="Lato"/>
                <a:sym typeface="Lato"/>
              </a:rPr>
              <a:t>Primary instant meeting platform: WhatsApp </a:t>
            </a:r>
          </a:p>
          <a:p>
            <a:pPr algn="l">
              <a:lnSpc>
                <a:spcPts val="3679"/>
              </a:lnSpc>
            </a:pPr>
            <a:r>
              <a:rPr lang="en-US" sz="2299" spc="229">
                <a:solidFill>
                  <a:srgbClr val="000000"/>
                </a:solidFill>
                <a:latin typeface="Lato"/>
                <a:ea typeface="Lato"/>
                <a:cs typeface="Lato"/>
                <a:sym typeface="Lato"/>
              </a:rPr>
              <a:t>• Video Meeting: Discord </a:t>
            </a:r>
          </a:p>
          <a:p>
            <a:pPr algn="l">
              <a:lnSpc>
                <a:spcPts val="3679"/>
              </a:lnSpc>
            </a:pPr>
          </a:p>
          <a:p>
            <a:pPr algn="l">
              <a:lnSpc>
                <a:spcPts val="3679"/>
              </a:lnSpc>
            </a:pPr>
            <a:r>
              <a:rPr lang="en-US" sz="2299" spc="229">
                <a:solidFill>
                  <a:srgbClr val="000000"/>
                </a:solidFill>
                <a:latin typeface="Lato"/>
                <a:ea typeface="Lato"/>
                <a:cs typeface="Lato"/>
                <a:sym typeface="Lato"/>
              </a:rPr>
              <a:t>Team members are expected to: </a:t>
            </a:r>
          </a:p>
          <a:p>
            <a:pPr algn="l">
              <a:lnSpc>
                <a:spcPts val="3679"/>
              </a:lnSpc>
            </a:pPr>
            <a:r>
              <a:rPr lang="en-US" sz="2299" spc="229">
                <a:solidFill>
                  <a:srgbClr val="000000"/>
                </a:solidFill>
                <a:latin typeface="Lato"/>
                <a:ea typeface="Lato"/>
                <a:cs typeface="Lato"/>
                <a:sym typeface="Lato"/>
              </a:rPr>
              <a:t>• Communicate respectfully and professionally </a:t>
            </a:r>
          </a:p>
          <a:p>
            <a:pPr algn="l">
              <a:lnSpc>
                <a:spcPts val="3679"/>
              </a:lnSpc>
            </a:pPr>
            <a:r>
              <a:rPr lang="en-US" sz="2299" spc="229">
                <a:solidFill>
                  <a:srgbClr val="000000"/>
                </a:solidFill>
                <a:latin typeface="Lato"/>
                <a:ea typeface="Lato"/>
                <a:cs typeface="Lato"/>
                <a:sym typeface="Lato"/>
              </a:rPr>
              <a:t>• Respond to messages within a reasonable time frame (ideally within 24 hours) </a:t>
            </a:r>
          </a:p>
          <a:p>
            <a:pPr algn="l">
              <a:lnSpc>
                <a:spcPts val="3679"/>
              </a:lnSpc>
            </a:pPr>
            <a:r>
              <a:rPr lang="en-US" sz="2299" spc="229">
                <a:solidFill>
                  <a:srgbClr val="000000"/>
                </a:solidFill>
                <a:latin typeface="Lato"/>
                <a:ea typeface="Lato"/>
                <a:cs typeface="Lato"/>
                <a:sym typeface="Lato"/>
              </a:rPr>
              <a:t>• Share progress updates, blockers, and concerns openly </a:t>
            </a:r>
          </a:p>
          <a:p>
            <a:pPr algn="l" marL="0" indent="0" lvl="0">
              <a:lnSpc>
                <a:spcPts val="3679"/>
              </a:lnSpc>
            </a:pPr>
            <a:r>
              <a:rPr lang="en-US" sz="2299" spc="229">
                <a:solidFill>
                  <a:srgbClr val="000000"/>
                </a:solidFill>
                <a:latin typeface="Lato"/>
                <a:ea typeface="Lato"/>
                <a:cs typeface="Lato"/>
                <a:sym typeface="Lato"/>
              </a:rPr>
              <a:t>• Use the agreed communication tools for all project-related discussions</a:t>
            </a:r>
          </a:p>
        </p:txBody>
      </p:sp>
      <p:sp>
        <p:nvSpPr>
          <p:cNvPr name="TextBox 10" id="10"/>
          <p:cNvSpPr txBox="true"/>
          <p:nvPr/>
        </p:nvSpPr>
        <p:spPr>
          <a:xfrm rot="0">
            <a:off x="8001007" y="43871"/>
            <a:ext cx="7100247" cy="641983"/>
          </a:xfrm>
          <a:prstGeom prst="rect">
            <a:avLst/>
          </a:prstGeom>
        </p:spPr>
        <p:txBody>
          <a:bodyPr anchor="t" rtlCol="false" tIns="0" lIns="0" bIns="0" rIns="0">
            <a:spAutoFit/>
          </a:bodyPr>
          <a:lstStyle/>
          <a:p>
            <a:pPr algn="ctr" marL="0" indent="0" lvl="0">
              <a:lnSpc>
                <a:spcPts val="5040"/>
              </a:lnSpc>
            </a:pPr>
            <a:r>
              <a:rPr lang="en-US" b="true" sz="3600" spc="180">
                <a:solidFill>
                  <a:srgbClr val="000000"/>
                </a:solidFill>
                <a:latin typeface="Helios Extended Bold"/>
                <a:ea typeface="Helios Extended Bold"/>
                <a:cs typeface="Helios Extended Bold"/>
                <a:sym typeface="Helios Extended Bold"/>
              </a:rPr>
              <a:t>COMMUNICATION PLAN</a:t>
            </a:r>
          </a:p>
        </p:txBody>
      </p:sp>
      <p:sp>
        <p:nvSpPr>
          <p:cNvPr name="TextBox 11" id="11"/>
          <p:cNvSpPr txBox="true"/>
          <p:nvPr/>
        </p:nvSpPr>
        <p:spPr>
          <a:xfrm rot="0">
            <a:off x="8001007" y="5555352"/>
            <a:ext cx="7854623" cy="641983"/>
          </a:xfrm>
          <a:prstGeom prst="rect">
            <a:avLst/>
          </a:prstGeom>
        </p:spPr>
        <p:txBody>
          <a:bodyPr anchor="t" rtlCol="false" tIns="0" lIns="0" bIns="0" rIns="0">
            <a:spAutoFit/>
          </a:bodyPr>
          <a:lstStyle/>
          <a:p>
            <a:pPr algn="ctr" marL="0" indent="0" lvl="0">
              <a:lnSpc>
                <a:spcPts val="5040"/>
              </a:lnSpc>
            </a:pPr>
            <a:r>
              <a:rPr lang="en-US" b="true" sz="3600" spc="180">
                <a:solidFill>
                  <a:srgbClr val="000000"/>
                </a:solidFill>
                <a:latin typeface="Helios Extended Bold"/>
                <a:ea typeface="Helios Extended Bold"/>
                <a:cs typeface="Helios Extended Bold"/>
                <a:sym typeface="Helios Extended Bold"/>
              </a:rPr>
              <a:t>MEETINGS &amp; AVAILABILITY</a:t>
            </a:r>
          </a:p>
        </p:txBody>
      </p:sp>
      <p:sp>
        <p:nvSpPr>
          <p:cNvPr name="TextBox 12" id="12"/>
          <p:cNvSpPr txBox="true"/>
          <p:nvPr/>
        </p:nvSpPr>
        <p:spPr>
          <a:xfrm rot="0">
            <a:off x="7708399" y="6282566"/>
            <a:ext cx="10285073" cy="3712210"/>
          </a:xfrm>
          <a:prstGeom prst="rect">
            <a:avLst/>
          </a:prstGeom>
        </p:spPr>
        <p:txBody>
          <a:bodyPr anchor="t" rtlCol="false" tIns="0" lIns="0" bIns="0" rIns="0">
            <a:spAutoFit/>
          </a:bodyPr>
          <a:lstStyle/>
          <a:p>
            <a:pPr algn="l">
              <a:lnSpc>
                <a:spcPts val="3679"/>
              </a:lnSpc>
            </a:pPr>
            <a:r>
              <a:rPr lang="en-US" sz="2299" spc="229">
                <a:solidFill>
                  <a:srgbClr val="000000"/>
                </a:solidFill>
                <a:latin typeface="Lato"/>
                <a:ea typeface="Lato"/>
                <a:cs typeface="Lato"/>
                <a:sym typeface="Lato"/>
              </a:rPr>
              <a:t>The team will hold three regular sync meetings per week: </a:t>
            </a:r>
          </a:p>
          <a:p>
            <a:pPr algn="l">
              <a:lnSpc>
                <a:spcPts val="3679"/>
              </a:lnSpc>
            </a:pPr>
            <a:r>
              <a:rPr lang="en-US" sz="2299" spc="229">
                <a:solidFill>
                  <a:srgbClr val="000000"/>
                </a:solidFill>
                <a:latin typeface="Lato"/>
                <a:ea typeface="Lato"/>
                <a:cs typeface="Lato"/>
                <a:sym typeface="Lato"/>
              </a:rPr>
              <a:t>• Sunday: 10:00 AM • Tuesday: 6:30 PM • Thursday: 9:00 PM </a:t>
            </a:r>
          </a:p>
          <a:p>
            <a:pPr algn="l">
              <a:lnSpc>
                <a:spcPts val="3679"/>
              </a:lnSpc>
            </a:pPr>
          </a:p>
          <a:p>
            <a:pPr algn="l">
              <a:lnSpc>
                <a:spcPts val="3679"/>
              </a:lnSpc>
            </a:pPr>
            <a:r>
              <a:rPr lang="en-US" sz="2299" spc="229">
                <a:solidFill>
                  <a:srgbClr val="000000"/>
                </a:solidFill>
                <a:latin typeface="Lato"/>
                <a:ea typeface="Lato"/>
                <a:cs typeface="Lato"/>
                <a:sym typeface="Lato"/>
              </a:rPr>
              <a:t>Additional meetings may be scheduled as needed based on sprint requirements. Expectations:</a:t>
            </a:r>
          </a:p>
          <a:p>
            <a:pPr algn="l">
              <a:lnSpc>
                <a:spcPts val="3679"/>
              </a:lnSpc>
            </a:pPr>
            <a:r>
              <a:rPr lang="en-US" sz="2299" spc="229">
                <a:solidFill>
                  <a:srgbClr val="000000"/>
                </a:solidFill>
                <a:latin typeface="Lato"/>
                <a:ea typeface="Lato"/>
                <a:cs typeface="Lato"/>
                <a:sym typeface="Lato"/>
              </a:rPr>
              <a:t>• All members should attend scheduled meetings </a:t>
            </a:r>
          </a:p>
          <a:p>
            <a:pPr algn="l">
              <a:lnSpc>
                <a:spcPts val="3679"/>
              </a:lnSpc>
            </a:pPr>
            <a:r>
              <a:rPr lang="en-US" sz="2299" spc="229">
                <a:solidFill>
                  <a:srgbClr val="000000"/>
                </a:solidFill>
                <a:latin typeface="Lato"/>
                <a:ea typeface="Lato"/>
                <a:cs typeface="Lato"/>
                <a:sym typeface="Lato"/>
              </a:rPr>
              <a:t>• If unable to attend, members must notify the team in advance</a:t>
            </a:r>
          </a:p>
          <a:p>
            <a:pPr algn="l" marL="0" indent="0" lvl="0">
              <a:lnSpc>
                <a:spcPts val="3679"/>
              </a:lnSpc>
            </a:pPr>
            <a:r>
              <a:rPr lang="en-US" sz="2299" spc="229">
                <a:solidFill>
                  <a:srgbClr val="000000"/>
                </a:solidFill>
                <a:latin typeface="Lato"/>
                <a:ea typeface="Lato"/>
                <a:cs typeface="Lato"/>
                <a:sym typeface="Lato"/>
              </a:rPr>
              <a:t>• Meeting notes and action items will be documented and shared</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375846"/>
            <a:chOff x="0" y="0"/>
            <a:chExt cx="4816593" cy="2732733"/>
          </a:xfrm>
        </p:grpSpPr>
        <p:sp>
          <p:nvSpPr>
            <p:cNvPr name="Freeform 3" id="3"/>
            <p:cNvSpPr/>
            <p:nvPr/>
          </p:nvSpPr>
          <p:spPr>
            <a:xfrm flipH="false" flipV="false" rot="0">
              <a:off x="0" y="0"/>
              <a:ext cx="4816592" cy="2732733"/>
            </a:xfrm>
            <a:custGeom>
              <a:avLst/>
              <a:gdLst/>
              <a:ahLst/>
              <a:cxnLst/>
              <a:rect r="r" b="b" t="t" l="l"/>
              <a:pathLst>
                <a:path h="2732733" w="4816592">
                  <a:moveTo>
                    <a:pt x="0" y="0"/>
                  </a:moveTo>
                  <a:lnTo>
                    <a:pt x="4816592" y="0"/>
                  </a:lnTo>
                  <a:lnTo>
                    <a:pt x="4816592" y="2732733"/>
                  </a:lnTo>
                  <a:lnTo>
                    <a:pt x="0" y="2732733"/>
                  </a:lnTo>
                  <a:close/>
                </a:path>
              </a:pathLst>
            </a:custGeom>
            <a:solidFill>
              <a:srgbClr val="F2F1F1">
                <a:alpha val="80000"/>
              </a:srgbClr>
            </a:solidFill>
          </p:spPr>
        </p:sp>
        <p:sp>
          <p:nvSpPr>
            <p:cNvPr name="TextBox 4" id="4"/>
            <p:cNvSpPr txBox="true"/>
            <p:nvPr/>
          </p:nvSpPr>
          <p:spPr>
            <a:xfrm>
              <a:off x="0" y="-47625"/>
              <a:ext cx="4816593" cy="2780358"/>
            </a:xfrm>
            <a:prstGeom prst="rect">
              <a:avLst/>
            </a:prstGeom>
          </p:spPr>
          <p:txBody>
            <a:bodyPr anchor="ctr" rtlCol="false" tIns="50800" lIns="50800" bIns="50800" rIns="50800"/>
            <a:lstStyle/>
            <a:p>
              <a:pPr algn="ctr">
                <a:lnSpc>
                  <a:spcPts val="3359"/>
                </a:lnSpc>
              </a:pPr>
            </a:p>
          </p:txBody>
        </p:sp>
      </p:grpSp>
      <p:sp>
        <p:nvSpPr>
          <p:cNvPr name="TextBox 5" id="5"/>
          <p:cNvSpPr txBox="true"/>
          <p:nvPr/>
        </p:nvSpPr>
        <p:spPr>
          <a:xfrm rot="0">
            <a:off x="583634" y="1279049"/>
            <a:ext cx="7269291" cy="3245485"/>
          </a:xfrm>
          <a:prstGeom prst="rect">
            <a:avLst/>
          </a:prstGeom>
        </p:spPr>
        <p:txBody>
          <a:bodyPr anchor="t" rtlCol="false" tIns="0" lIns="0" bIns="0" rIns="0">
            <a:spAutoFit/>
          </a:bodyPr>
          <a:lstStyle/>
          <a:p>
            <a:pPr algn="l">
              <a:lnSpc>
                <a:spcPts val="3679"/>
              </a:lnSpc>
            </a:pPr>
            <a:r>
              <a:rPr lang="en-US" sz="2299" spc="229">
                <a:solidFill>
                  <a:srgbClr val="000000"/>
                </a:solidFill>
                <a:latin typeface="Lato"/>
                <a:ea typeface="Lato"/>
                <a:cs typeface="Lato"/>
                <a:sym typeface="Lato"/>
              </a:rPr>
              <a:t>• T</a:t>
            </a:r>
            <a:r>
              <a:rPr lang="en-US" sz="2299" spc="229">
                <a:solidFill>
                  <a:srgbClr val="000000"/>
                </a:solidFill>
                <a:latin typeface="Lato"/>
                <a:ea typeface="Lato"/>
                <a:cs typeface="Lato"/>
                <a:sym typeface="Lato"/>
              </a:rPr>
              <a:t>ask tracking tool: Jira </a:t>
            </a:r>
          </a:p>
          <a:p>
            <a:pPr algn="l">
              <a:lnSpc>
                <a:spcPts val="3679"/>
              </a:lnSpc>
            </a:pPr>
          </a:p>
          <a:p>
            <a:pPr algn="l">
              <a:lnSpc>
                <a:spcPts val="3679"/>
              </a:lnSpc>
            </a:pPr>
            <a:r>
              <a:rPr lang="en-US" sz="2299" spc="229">
                <a:solidFill>
                  <a:srgbClr val="000000"/>
                </a:solidFill>
                <a:latin typeface="Lato"/>
                <a:ea typeface="Lato"/>
                <a:cs typeface="Lato"/>
                <a:sym typeface="Lato"/>
              </a:rPr>
              <a:t>All project tasks will be: </a:t>
            </a:r>
          </a:p>
          <a:p>
            <a:pPr algn="l">
              <a:lnSpc>
                <a:spcPts val="3679"/>
              </a:lnSpc>
            </a:pPr>
            <a:r>
              <a:rPr lang="en-US" sz="2299" spc="229">
                <a:solidFill>
                  <a:srgbClr val="000000"/>
                </a:solidFill>
                <a:latin typeface="Lato"/>
                <a:ea typeface="Lato"/>
                <a:cs typeface="Lato"/>
                <a:sym typeface="Lato"/>
              </a:rPr>
              <a:t>• Clearly defined and assigned </a:t>
            </a:r>
          </a:p>
          <a:p>
            <a:pPr algn="l">
              <a:lnSpc>
                <a:spcPts val="3679"/>
              </a:lnSpc>
            </a:pPr>
            <a:r>
              <a:rPr lang="en-US" sz="2299" spc="229">
                <a:solidFill>
                  <a:srgbClr val="000000"/>
                </a:solidFill>
                <a:latin typeface="Lato"/>
                <a:ea typeface="Lato"/>
                <a:cs typeface="Lato"/>
                <a:sym typeface="Lato"/>
              </a:rPr>
              <a:t>• Tracked through Jira </a:t>
            </a:r>
          </a:p>
          <a:p>
            <a:pPr algn="l">
              <a:lnSpc>
                <a:spcPts val="3679"/>
              </a:lnSpc>
            </a:pPr>
            <a:r>
              <a:rPr lang="en-US" sz="2299" spc="229">
                <a:solidFill>
                  <a:srgbClr val="000000"/>
                </a:solidFill>
                <a:latin typeface="Lato"/>
                <a:ea typeface="Lato"/>
                <a:cs typeface="Lato"/>
                <a:sym typeface="Lato"/>
              </a:rPr>
              <a:t>• Updated regularly to reflect progress </a:t>
            </a:r>
          </a:p>
          <a:p>
            <a:pPr algn="l" marL="0" indent="0" lvl="0">
              <a:lnSpc>
                <a:spcPts val="3679"/>
              </a:lnSpc>
            </a:pPr>
            <a:r>
              <a:rPr lang="en-US" sz="2299" spc="229">
                <a:solidFill>
                  <a:srgbClr val="000000"/>
                </a:solidFill>
                <a:latin typeface="Lato"/>
                <a:ea typeface="Lato"/>
                <a:cs typeface="Lato"/>
                <a:sym typeface="Lato"/>
              </a:rPr>
              <a:t>• Completed before agreed internal deadlines</a:t>
            </a:r>
          </a:p>
        </p:txBody>
      </p:sp>
      <p:sp>
        <p:nvSpPr>
          <p:cNvPr name="TextBox 6" id="6"/>
          <p:cNvSpPr txBox="true"/>
          <p:nvPr/>
        </p:nvSpPr>
        <p:spPr>
          <a:xfrm rot="0">
            <a:off x="583634" y="432437"/>
            <a:ext cx="6105380" cy="641983"/>
          </a:xfrm>
          <a:prstGeom prst="rect">
            <a:avLst/>
          </a:prstGeom>
        </p:spPr>
        <p:txBody>
          <a:bodyPr anchor="t" rtlCol="false" tIns="0" lIns="0" bIns="0" rIns="0">
            <a:spAutoFit/>
          </a:bodyPr>
          <a:lstStyle/>
          <a:p>
            <a:pPr algn="ctr" marL="0" indent="0" lvl="0">
              <a:lnSpc>
                <a:spcPts val="5040"/>
              </a:lnSpc>
            </a:pPr>
            <a:r>
              <a:rPr lang="en-US" b="true" sz="3600" spc="180">
                <a:solidFill>
                  <a:srgbClr val="000000"/>
                </a:solidFill>
                <a:latin typeface="Helios Extended Bold"/>
                <a:ea typeface="Helios Extended Bold"/>
                <a:cs typeface="Helios Extended Bold"/>
                <a:sym typeface="Helios Extended Bold"/>
              </a:rPr>
              <a:t>TASK MANAGEMENT</a:t>
            </a:r>
          </a:p>
        </p:txBody>
      </p:sp>
      <p:sp>
        <p:nvSpPr>
          <p:cNvPr name="TextBox 7" id="7"/>
          <p:cNvSpPr txBox="true"/>
          <p:nvPr/>
        </p:nvSpPr>
        <p:spPr>
          <a:xfrm rot="0">
            <a:off x="9558223" y="386717"/>
            <a:ext cx="7335148" cy="1280158"/>
          </a:xfrm>
          <a:prstGeom prst="rect">
            <a:avLst/>
          </a:prstGeom>
        </p:spPr>
        <p:txBody>
          <a:bodyPr anchor="t" rtlCol="false" tIns="0" lIns="0" bIns="0" rIns="0">
            <a:spAutoFit/>
          </a:bodyPr>
          <a:lstStyle/>
          <a:p>
            <a:pPr algn="ctr">
              <a:lnSpc>
                <a:spcPts val="5040"/>
              </a:lnSpc>
            </a:pPr>
            <a:r>
              <a:rPr lang="en-US" b="true" sz="3600" spc="180">
                <a:solidFill>
                  <a:srgbClr val="000000"/>
                </a:solidFill>
                <a:latin typeface="Helios Extended Bold"/>
                <a:ea typeface="Helios Extended Bold"/>
                <a:cs typeface="Helios Extended Bold"/>
                <a:sym typeface="Helios Extended Bold"/>
              </a:rPr>
              <a:t>WORK EXPECTATIONS &amp; </a:t>
            </a:r>
          </a:p>
          <a:p>
            <a:pPr algn="ctr" marL="0" indent="0" lvl="0">
              <a:lnSpc>
                <a:spcPts val="5040"/>
              </a:lnSpc>
            </a:pPr>
            <a:r>
              <a:rPr lang="en-US" b="true" sz="3600" spc="180">
                <a:solidFill>
                  <a:srgbClr val="000000"/>
                </a:solidFill>
                <a:latin typeface="Helios Extended Bold"/>
                <a:ea typeface="Helios Extended Bold"/>
                <a:cs typeface="Helios Extended Bold"/>
                <a:sym typeface="Helios Extended Bold"/>
              </a:rPr>
              <a:t>DEFINITION OF DONE</a:t>
            </a:r>
          </a:p>
        </p:txBody>
      </p:sp>
      <p:sp>
        <p:nvSpPr>
          <p:cNvPr name="TextBox 8" id="8"/>
          <p:cNvSpPr txBox="true"/>
          <p:nvPr/>
        </p:nvSpPr>
        <p:spPr>
          <a:xfrm rot="0">
            <a:off x="9558223" y="2117380"/>
            <a:ext cx="8729777" cy="6045835"/>
          </a:xfrm>
          <a:prstGeom prst="rect">
            <a:avLst/>
          </a:prstGeom>
        </p:spPr>
        <p:txBody>
          <a:bodyPr anchor="t" rtlCol="false" tIns="0" lIns="0" bIns="0" rIns="0">
            <a:spAutoFit/>
          </a:bodyPr>
          <a:lstStyle/>
          <a:p>
            <a:pPr algn="l">
              <a:lnSpc>
                <a:spcPts val="3679"/>
              </a:lnSpc>
            </a:pPr>
            <a:r>
              <a:rPr lang="en-US" sz="2299" spc="229">
                <a:solidFill>
                  <a:srgbClr val="000000"/>
                </a:solidFill>
                <a:latin typeface="Lato"/>
                <a:ea typeface="Lato"/>
                <a:cs typeface="Lato"/>
                <a:sym typeface="Lato"/>
              </a:rPr>
              <a:t>Each task is considered “Done” when: </a:t>
            </a:r>
          </a:p>
          <a:p>
            <a:pPr algn="l">
              <a:lnSpc>
                <a:spcPts val="3679"/>
              </a:lnSpc>
            </a:pPr>
          </a:p>
          <a:p>
            <a:pPr algn="l">
              <a:lnSpc>
                <a:spcPts val="3679"/>
              </a:lnSpc>
            </a:pPr>
            <a:r>
              <a:rPr lang="en-US" sz="2299" spc="229">
                <a:solidFill>
                  <a:srgbClr val="000000"/>
                </a:solidFill>
                <a:latin typeface="Lato"/>
                <a:ea typeface="Lato"/>
                <a:cs typeface="Lato"/>
                <a:sym typeface="Lato"/>
              </a:rPr>
              <a:t>• It meets the agreed acceptance criteria </a:t>
            </a:r>
          </a:p>
          <a:p>
            <a:pPr algn="l">
              <a:lnSpc>
                <a:spcPts val="3679"/>
              </a:lnSpc>
            </a:pPr>
            <a:r>
              <a:rPr lang="en-US" sz="2299" spc="229">
                <a:solidFill>
                  <a:srgbClr val="000000"/>
                </a:solidFill>
                <a:latin typeface="Lato"/>
                <a:ea typeface="Lato"/>
                <a:cs typeface="Lato"/>
                <a:sym typeface="Lato"/>
              </a:rPr>
              <a:t>• It is reviewed by at least one other team member (when applicable) </a:t>
            </a:r>
          </a:p>
          <a:p>
            <a:pPr algn="l">
              <a:lnSpc>
                <a:spcPts val="3679"/>
              </a:lnSpc>
            </a:pPr>
            <a:r>
              <a:rPr lang="en-US" sz="2299" spc="229">
                <a:solidFill>
                  <a:srgbClr val="000000"/>
                </a:solidFill>
                <a:latin typeface="Lato"/>
                <a:ea typeface="Lato"/>
                <a:cs typeface="Lato"/>
                <a:sym typeface="Lato"/>
              </a:rPr>
              <a:t>• Code runs without critical errors </a:t>
            </a:r>
          </a:p>
          <a:p>
            <a:pPr algn="l">
              <a:lnSpc>
                <a:spcPts val="3679"/>
              </a:lnSpc>
            </a:pPr>
            <a:r>
              <a:rPr lang="en-US" sz="2299" spc="229">
                <a:solidFill>
                  <a:srgbClr val="000000"/>
                </a:solidFill>
                <a:latin typeface="Lato"/>
                <a:ea typeface="Lato"/>
                <a:cs typeface="Lato"/>
                <a:sym typeface="Lato"/>
              </a:rPr>
              <a:t>• Relevant documentation is updated </a:t>
            </a:r>
          </a:p>
          <a:p>
            <a:pPr algn="l">
              <a:lnSpc>
                <a:spcPts val="3679"/>
              </a:lnSpc>
            </a:pPr>
            <a:r>
              <a:rPr lang="en-US" sz="2299" spc="229">
                <a:solidFill>
                  <a:srgbClr val="000000"/>
                </a:solidFill>
                <a:latin typeface="Lato"/>
                <a:ea typeface="Lato"/>
                <a:cs typeface="Lato"/>
                <a:sym typeface="Lato"/>
              </a:rPr>
              <a:t>• Changes are committed to the shared repository </a:t>
            </a:r>
          </a:p>
          <a:p>
            <a:pPr algn="l">
              <a:lnSpc>
                <a:spcPts val="3679"/>
              </a:lnSpc>
            </a:pPr>
          </a:p>
          <a:p>
            <a:pPr algn="l">
              <a:lnSpc>
                <a:spcPts val="3679"/>
              </a:lnSpc>
            </a:pPr>
            <a:r>
              <a:rPr lang="en-US" sz="2299" spc="229">
                <a:solidFill>
                  <a:srgbClr val="000000"/>
                </a:solidFill>
                <a:latin typeface="Lato"/>
                <a:ea typeface="Lato"/>
                <a:cs typeface="Lato"/>
                <a:sym typeface="Lato"/>
              </a:rPr>
              <a:t>Team members are responsible for:</a:t>
            </a:r>
          </a:p>
          <a:p>
            <a:pPr algn="l">
              <a:lnSpc>
                <a:spcPts val="3679"/>
              </a:lnSpc>
            </a:pPr>
            <a:r>
              <a:rPr lang="en-US" sz="2299" spc="229">
                <a:solidFill>
                  <a:srgbClr val="000000"/>
                </a:solidFill>
                <a:latin typeface="Lato"/>
                <a:ea typeface="Lato"/>
                <a:cs typeface="Lato"/>
                <a:sym typeface="Lato"/>
              </a:rPr>
              <a:t>• Completing assigned work on time </a:t>
            </a:r>
          </a:p>
          <a:p>
            <a:pPr algn="l">
              <a:lnSpc>
                <a:spcPts val="3679"/>
              </a:lnSpc>
            </a:pPr>
            <a:r>
              <a:rPr lang="en-US" sz="2299" spc="229">
                <a:solidFill>
                  <a:srgbClr val="000000"/>
                </a:solidFill>
                <a:latin typeface="Lato"/>
                <a:ea typeface="Lato"/>
                <a:cs typeface="Lato"/>
                <a:sym typeface="Lato"/>
              </a:rPr>
              <a:t>• Communicating blockers early </a:t>
            </a:r>
          </a:p>
          <a:p>
            <a:pPr algn="l" marL="0" indent="0" lvl="0">
              <a:lnSpc>
                <a:spcPts val="3679"/>
              </a:lnSpc>
            </a:pPr>
            <a:r>
              <a:rPr lang="en-US" sz="2299" spc="229">
                <a:solidFill>
                  <a:srgbClr val="000000"/>
                </a:solidFill>
                <a:latin typeface="Lato"/>
                <a:ea typeface="Lato"/>
                <a:cs typeface="Lato"/>
                <a:sym typeface="Lato"/>
              </a:rPr>
              <a:t>• Supporting teammates when needed</a:t>
            </a:r>
          </a:p>
        </p:txBody>
      </p:sp>
      <p:sp>
        <p:nvSpPr>
          <p:cNvPr name="TextBox 9" id="9"/>
          <p:cNvSpPr txBox="true"/>
          <p:nvPr/>
        </p:nvSpPr>
        <p:spPr>
          <a:xfrm rot="0">
            <a:off x="583634" y="4774883"/>
            <a:ext cx="7042540" cy="641983"/>
          </a:xfrm>
          <a:prstGeom prst="rect">
            <a:avLst/>
          </a:prstGeom>
        </p:spPr>
        <p:txBody>
          <a:bodyPr anchor="t" rtlCol="false" tIns="0" lIns="0" bIns="0" rIns="0">
            <a:spAutoFit/>
          </a:bodyPr>
          <a:lstStyle/>
          <a:p>
            <a:pPr algn="ctr" marL="0" indent="0" lvl="0">
              <a:lnSpc>
                <a:spcPts val="5040"/>
              </a:lnSpc>
            </a:pPr>
            <a:r>
              <a:rPr lang="en-US" b="true" sz="3600" spc="180">
                <a:solidFill>
                  <a:srgbClr val="000000"/>
                </a:solidFill>
                <a:latin typeface="Helios Extended Bold"/>
                <a:ea typeface="Helios Extended Bold"/>
                <a:cs typeface="Helios Extended Bold"/>
                <a:sym typeface="Helios Extended Bold"/>
              </a:rPr>
              <a:t>CONFLICT RESOLUTION</a:t>
            </a:r>
          </a:p>
        </p:txBody>
      </p:sp>
      <p:sp>
        <p:nvSpPr>
          <p:cNvPr name="TextBox 10" id="10"/>
          <p:cNvSpPr txBox="true"/>
          <p:nvPr/>
        </p:nvSpPr>
        <p:spPr>
          <a:xfrm rot="0">
            <a:off x="583634" y="5369242"/>
            <a:ext cx="8525558" cy="4645660"/>
          </a:xfrm>
          <a:prstGeom prst="rect">
            <a:avLst/>
          </a:prstGeom>
        </p:spPr>
        <p:txBody>
          <a:bodyPr anchor="t" rtlCol="false" tIns="0" lIns="0" bIns="0" rIns="0">
            <a:spAutoFit/>
          </a:bodyPr>
          <a:lstStyle/>
          <a:p>
            <a:pPr algn="l">
              <a:lnSpc>
                <a:spcPts val="3679"/>
              </a:lnSpc>
            </a:pPr>
            <a:r>
              <a:rPr lang="en-US" sz="2299" spc="229">
                <a:solidFill>
                  <a:srgbClr val="000000"/>
                </a:solidFill>
                <a:latin typeface="Lato"/>
                <a:ea typeface="Lato"/>
                <a:cs typeface="Lato"/>
                <a:sym typeface="Lato"/>
              </a:rPr>
              <a:t>In the</a:t>
            </a:r>
            <a:r>
              <a:rPr lang="en-US" sz="2299" spc="229">
                <a:solidFill>
                  <a:srgbClr val="000000"/>
                </a:solidFill>
                <a:latin typeface="Lato"/>
                <a:ea typeface="Lato"/>
                <a:cs typeface="Lato"/>
                <a:sym typeface="Lato"/>
              </a:rPr>
              <a:t> event of conflict: </a:t>
            </a:r>
          </a:p>
          <a:p>
            <a:pPr algn="l">
              <a:lnSpc>
                <a:spcPts val="3679"/>
              </a:lnSpc>
            </a:pPr>
          </a:p>
          <a:p>
            <a:pPr algn="l">
              <a:lnSpc>
                <a:spcPts val="3679"/>
              </a:lnSpc>
            </a:pPr>
            <a:r>
              <a:rPr lang="en-US" sz="2299" spc="229">
                <a:solidFill>
                  <a:srgbClr val="000000"/>
                </a:solidFill>
                <a:latin typeface="Lato"/>
                <a:ea typeface="Lato"/>
                <a:cs typeface="Lato"/>
                <a:sym typeface="Lato"/>
              </a:rPr>
              <a:t>1. The concerned party should first express the issue to the team openly and respectfully</a:t>
            </a:r>
          </a:p>
          <a:p>
            <a:pPr algn="l">
              <a:lnSpc>
                <a:spcPts val="3679"/>
              </a:lnSpc>
            </a:pPr>
            <a:r>
              <a:rPr lang="en-US" sz="2299" spc="229">
                <a:solidFill>
                  <a:srgbClr val="000000"/>
                </a:solidFill>
                <a:latin typeface="Lato"/>
                <a:ea typeface="Lato"/>
                <a:cs typeface="Lato"/>
                <a:sym typeface="Lato"/>
              </a:rPr>
              <a:t>2. The team will attempt to resolve the issue collaboratively </a:t>
            </a:r>
          </a:p>
          <a:p>
            <a:pPr algn="l">
              <a:lnSpc>
                <a:spcPts val="3679"/>
              </a:lnSpc>
            </a:pPr>
            <a:r>
              <a:rPr lang="en-US" sz="2299" spc="229">
                <a:solidFill>
                  <a:srgbClr val="000000"/>
                </a:solidFill>
                <a:latin typeface="Lato"/>
                <a:ea typeface="Lato"/>
                <a:cs typeface="Lato"/>
                <a:sym typeface="Lato"/>
              </a:rPr>
              <a:t>3. If unresolved, the issue will be escalated to the Team Leader / Scrum Coordinator </a:t>
            </a:r>
          </a:p>
          <a:p>
            <a:pPr algn="l" marL="0" indent="0" lvl="0">
              <a:lnSpc>
                <a:spcPts val="3679"/>
              </a:lnSpc>
            </a:pPr>
            <a:r>
              <a:rPr lang="en-US" sz="2299" spc="229">
                <a:solidFill>
                  <a:srgbClr val="000000"/>
                </a:solidFill>
                <a:latin typeface="Lato"/>
                <a:ea typeface="Lato"/>
                <a:cs typeface="Lato"/>
                <a:sym typeface="Lato"/>
              </a:rPr>
              <a:t>4. Further escalation (e.g., to the instructor) will be considered only if necessary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806369" cy="10287000"/>
            <a:chOff x="0" y="0"/>
            <a:chExt cx="1792624" cy="2709333"/>
          </a:xfrm>
        </p:grpSpPr>
        <p:sp>
          <p:nvSpPr>
            <p:cNvPr name="Freeform 3" id="3"/>
            <p:cNvSpPr/>
            <p:nvPr/>
          </p:nvSpPr>
          <p:spPr>
            <a:xfrm flipH="false" flipV="false" rot="0">
              <a:off x="0" y="0"/>
              <a:ext cx="1792624" cy="2709333"/>
            </a:xfrm>
            <a:custGeom>
              <a:avLst/>
              <a:gdLst/>
              <a:ahLst/>
              <a:cxnLst/>
              <a:rect r="r" b="b" t="t" l="l"/>
              <a:pathLst>
                <a:path h="2709333" w="1792624">
                  <a:moveTo>
                    <a:pt x="0" y="0"/>
                  </a:moveTo>
                  <a:lnTo>
                    <a:pt x="1792624" y="0"/>
                  </a:lnTo>
                  <a:lnTo>
                    <a:pt x="1792624" y="2709333"/>
                  </a:lnTo>
                  <a:lnTo>
                    <a:pt x="0" y="2709333"/>
                  </a:lnTo>
                  <a:close/>
                </a:path>
              </a:pathLst>
            </a:custGeom>
            <a:solidFill>
              <a:srgbClr val="F2F1F1">
                <a:alpha val="80000"/>
              </a:srgbClr>
            </a:solidFill>
          </p:spPr>
        </p:sp>
        <p:sp>
          <p:nvSpPr>
            <p:cNvPr name="TextBox 4" id="4"/>
            <p:cNvSpPr txBox="true"/>
            <p:nvPr/>
          </p:nvSpPr>
          <p:spPr>
            <a:xfrm>
              <a:off x="0" y="-47625"/>
              <a:ext cx="1792624" cy="2756958"/>
            </a:xfrm>
            <a:prstGeom prst="rect">
              <a:avLst/>
            </a:prstGeom>
          </p:spPr>
          <p:txBody>
            <a:bodyPr anchor="ctr" rtlCol="false" tIns="50800" lIns="50800" bIns="50800" rIns="50800"/>
            <a:lstStyle/>
            <a:p>
              <a:pPr algn="ctr">
                <a:lnSpc>
                  <a:spcPts val="3359"/>
                </a:lnSpc>
              </a:pPr>
            </a:p>
          </p:txBody>
        </p:sp>
      </p:grpSp>
      <p:sp>
        <p:nvSpPr>
          <p:cNvPr name="TextBox 5" id="5"/>
          <p:cNvSpPr txBox="true"/>
          <p:nvPr/>
        </p:nvSpPr>
        <p:spPr>
          <a:xfrm rot="0">
            <a:off x="111644" y="267016"/>
            <a:ext cx="6694725" cy="691514"/>
          </a:xfrm>
          <a:prstGeom prst="rect">
            <a:avLst/>
          </a:prstGeom>
        </p:spPr>
        <p:txBody>
          <a:bodyPr anchor="t" rtlCol="false" tIns="0" lIns="0" bIns="0" rIns="0">
            <a:spAutoFit/>
          </a:bodyPr>
          <a:lstStyle/>
          <a:p>
            <a:pPr algn="l" marL="0" indent="0" lvl="0">
              <a:lnSpc>
                <a:spcPts val="5460"/>
              </a:lnSpc>
            </a:pPr>
            <a:r>
              <a:rPr lang="en-US" b="true" sz="3900" spc="195">
                <a:solidFill>
                  <a:srgbClr val="000000"/>
                </a:solidFill>
                <a:latin typeface="Helios Extended Bold"/>
                <a:ea typeface="Helios Extended Bold"/>
                <a:cs typeface="Helios Extended Bold"/>
                <a:sym typeface="Helios Extended Bold"/>
              </a:rPr>
              <a:t>STUDENT PERSONA</a:t>
            </a:r>
          </a:p>
        </p:txBody>
      </p:sp>
      <p:sp>
        <p:nvSpPr>
          <p:cNvPr name="TextBox 6" id="6"/>
          <p:cNvSpPr txBox="true"/>
          <p:nvPr/>
        </p:nvSpPr>
        <p:spPr>
          <a:xfrm rot="0">
            <a:off x="6948851" y="579435"/>
            <a:ext cx="10716310" cy="10037445"/>
          </a:xfrm>
          <a:prstGeom prst="rect">
            <a:avLst/>
          </a:prstGeom>
        </p:spPr>
        <p:txBody>
          <a:bodyPr anchor="t" rtlCol="false" tIns="0" lIns="0" bIns="0" rIns="0">
            <a:spAutoFit/>
          </a:bodyPr>
          <a:lstStyle/>
          <a:p>
            <a:pPr algn="l">
              <a:lnSpc>
                <a:spcPts val="3360"/>
              </a:lnSpc>
            </a:pPr>
            <a:r>
              <a:rPr lang="en-US" sz="2100" spc="210" b="true">
                <a:solidFill>
                  <a:srgbClr val="000000"/>
                </a:solidFill>
                <a:latin typeface="Lato Bold"/>
                <a:ea typeface="Lato Bold"/>
                <a:cs typeface="Lato Bold"/>
                <a:sym typeface="Lato Bold"/>
              </a:rPr>
              <a:t>Age</a:t>
            </a:r>
            <a:r>
              <a:rPr lang="en-US" sz="2100" spc="210">
                <a:solidFill>
                  <a:srgbClr val="000000"/>
                </a:solidFill>
                <a:latin typeface="Lato"/>
                <a:ea typeface="Lato"/>
                <a:cs typeface="Lato"/>
                <a:sym typeface="Lato"/>
              </a:rPr>
              <a:t>: 21</a:t>
            </a:r>
          </a:p>
          <a:p>
            <a:pPr algn="l">
              <a:lnSpc>
                <a:spcPts val="3360"/>
              </a:lnSpc>
            </a:pPr>
            <a:r>
              <a:rPr lang="en-US" sz="2100" spc="210" b="true">
                <a:solidFill>
                  <a:srgbClr val="000000"/>
                </a:solidFill>
                <a:latin typeface="Lato Bold"/>
                <a:ea typeface="Lato Bold"/>
                <a:cs typeface="Lato Bold"/>
                <a:sym typeface="Lato Bold"/>
              </a:rPr>
              <a:t>Gender:</a:t>
            </a:r>
            <a:r>
              <a:rPr lang="en-US" sz="2100" spc="210">
                <a:solidFill>
                  <a:srgbClr val="000000"/>
                </a:solidFill>
                <a:latin typeface="Lato"/>
                <a:ea typeface="Lato"/>
                <a:cs typeface="Lato"/>
                <a:sym typeface="Lato"/>
              </a:rPr>
              <a:t> Female</a:t>
            </a:r>
          </a:p>
          <a:p>
            <a:pPr algn="l">
              <a:lnSpc>
                <a:spcPts val="3360"/>
              </a:lnSpc>
            </a:pPr>
            <a:r>
              <a:rPr lang="en-US" sz="2100" spc="210" b="true">
                <a:solidFill>
                  <a:srgbClr val="000000"/>
                </a:solidFill>
                <a:latin typeface="Lato Bold"/>
                <a:ea typeface="Lato Bold"/>
                <a:cs typeface="Lato Bold"/>
                <a:sym typeface="Lato Bold"/>
              </a:rPr>
              <a:t>Occupation:</a:t>
            </a:r>
            <a:r>
              <a:rPr lang="en-US" sz="2100" spc="210">
                <a:solidFill>
                  <a:srgbClr val="000000"/>
                </a:solidFill>
                <a:latin typeface="Lato"/>
                <a:ea typeface="Lato"/>
                <a:cs typeface="Lato"/>
                <a:sym typeface="Lato"/>
              </a:rPr>
              <a:t> Undergraduate Computer Science Student</a:t>
            </a:r>
          </a:p>
          <a:p>
            <a:pPr algn="l">
              <a:lnSpc>
                <a:spcPts val="3360"/>
              </a:lnSpc>
            </a:pPr>
          </a:p>
          <a:p>
            <a:pPr algn="l">
              <a:lnSpc>
                <a:spcPts val="3360"/>
              </a:lnSpc>
            </a:pPr>
            <a:r>
              <a:rPr lang="en-US" sz="2100" spc="210">
                <a:solidFill>
                  <a:srgbClr val="000000"/>
                </a:solidFill>
                <a:latin typeface="Lato"/>
                <a:ea typeface="Lato"/>
                <a:cs typeface="Lato"/>
                <a:sym typeface="Lato"/>
              </a:rPr>
              <a:t>Sarah is a full-time college student balancing coursework, part-time work, and social commitments. During exam periods, her stress levels rise significantly, but she often ignores the early warning signs of burnout. She occasionally journals but finds long entries overwhelming and inconsistent. She wants a simple way to reflect daily without spending too much time.</a:t>
            </a:r>
          </a:p>
          <a:p>
            <a:pPr algn="l">
              <a:lnSpc>
                <a:spcPts val="3360"/>
              </a:lnSpc>
            </a:pPr>
          </a:p>
          <a:p>
            <a:pPr algn="l">
              <a:lnSpc>
                <a:spcPts val="3360"/>
              </a:lnSpc>
            </a:pPr>
            <a:r>
              <a:rPr lang="en-US" sz="2100" spc="210">
                <a:solidFill>
                  <a:srgbClr val="000000"/>
                </a:solidFill>
                <a:latin typeface="Lato"/>
                <a:ea typeface="Lato"/>
                <a:cs typeface="Lato"/>
                <a:sym typeface="Lato"/>
              </a:rPr>
              <a:t>Challenges:</a:t>
            </a:r>
          </a:p>
          <a:p>
            <a:pPr algn="l" marL="453390" indent="-226695" lvl="1">
              <a:lnSpc>
                <a:spcPts val="3360"/>
              </a:lnSpc>
              <a:buFont typeface="Arial"/>
              <a:buChar char="•"/>
            </a:pPr>
            <a:r>
              <a:rPr lang="en-US" sz="2100" spc="210">
                <a:solidFill>
                  <a:srgbClr val="000000"/>
                </a:solidFill>
                <a:latin typeface="Lato"/>
                <a:ea typeface="Lato"/>
                <a:cs typeface="Lato"/>
                <a:sym typeface="Lato"/>
              </a:rPr>
              <a:t>Experiences fluctuating stress levels during the semester</a:t>
            </a:r>
          </a:p>
          <a:p>
            <a:pPr algn="l" marL="453390" indent="-226695" lvl="1">
              <a:lnSpc>
                <a:spcPts val="3360"/>
              </a:lnSpc>
              <a:buFont typeface="Arial"/>
              <a:buChar char="•"/>
            </a:pPr>
            <a:r>
              <a:rPr lang="en-US" sz="2100" spc="210">
                <a:solidFill>
                  <a:srgbClr val="000000"/>
                </a:solidFill>
                <a:latin typeface="Lato"/>
                <a:ea typeface="Lato"/>
                <a:cs typeface="Lato"/>
                <a:sym typeface="Lato"/>
              </a:rPr>
              <a:t>Inconsistent journaling habits</a:t>
            </a:r>
          </a:p>
          <a:p>
            <a:pPr algn="l" marL="453390" indent="-226695" lvl="1">
              <a:lnSpc>
                <a:spcPts val="3360"/>
              </a:lnSpc>
              <a:buFont typeface="Arial"/>
              <a:buChar char="•"/>
            </a:pPr>
            <a:r>
              <a:rPr lang="en-US" sz="2100" spc="210">
                <a:solidFill>
                  <a:srgbClr val="000000"/>
                </a:solidFill>
                <a:latin typeface="Lato"/>
                <a:ea typeface="Lato"/>
                <a:cs typeface="Lato"/>
                <a:sym typeface="Lato"/>
              </a:rPr>
              <a:t>Difficulty recognizing emotional patterns over time</a:t>
            </a:r>
          </a:p>
          <a:p>
            <a:pPr algn="l" marL="453390" indent="-226695" lvl="1">
              <a:lnSpc>
                <a:spcPts val="3360"/>
              </a:lnSpc>
              <a:buFont typeface="Arial"/>
              <a:buChar char="•"/>
            </a:pPr>
            <a:r>
              <a:rPr lang="en-US" sz="2100" spc="210">
                <a:solidFill>
                  <a:srgbClr val="000000"/>
                </a:solidFill>
                <a:latin typeface="Lato"/>
                <a:ea typeface="Lato"/>
                <a:cs typeface="Lato"/>
                <a:sym typeface="Lato"/>
              </a:rPr>
              <a:t>Feels overwhelmed during midterms and finals</a:t>
            </a:r>
          </a:p>
          <a:p>
            <a:pPr algn="l">
              <a:lnSpc>
                <a:spcPts val="3360"/>
              </a:lnSpc>
            </a:pPr>
          </a:p>
          <a:p>
            <a:pPr algn="l">
              <a:lnSpc>
                <a:spcPts val="3360"/>
              </a:lnSpc>
            </a:pPr>
            <a:r>
              <a:rPr lang="en-US" sz="2100" spc="210">
                <a:solidFill>
                  <a:srgbClr val="000000"/>
                </a:solidFill>
                <a:latin typeface="Lato"/>
                <a:ea typeface="Lato"/>
                <a:cs typeface="Lato"/>
                <a:sym typeface="Lato"/>
              </a:rPr>
              <a:t>Goals:</a:t>
            </a:r>
          </a:p>
          <a:p>
            <a:pPr algn="l" marL="453390" indent="-226695" lvl="1">
              <a:lnSpc>
                <a:spcPts val="3360"/>
              </a:lnSpc>
              <a:buFont typeface="Arial"/>
              <a:buChar char="•"/>
            </a:pPr>
            <a:r>
              <a:rPr lang="en-US" sz="2100" spc="210">
                <a:solidFill>
                  <a:srgbClr val="000000"/>
                </a:solidFill>
                <a:latin typeface="Lato"/>
                <a:ea typeface="Lato"/>
                <a:cs typeface="Lato"/>
                <a:sym typeface="Lato"/>
              </a:rPr>
              <a:t>Track emotional trends throughout the semester</a:t>
            </a:r>
          </a:p>
          <a:p>
            <a:pPr algn="l" marL="453390" indent="-226695" lvl="1">
              <a:lnSpc>
                <a:spcPts val="3360"/>
              </a:lnSpc>
              <a:buFont typeface="Arial"/>
              <a:buChar char="•"/>
            </a:pPr>
            <a:r>
              <a:rPr lang="en-US" sz="2100" spc="210">
                <a:solidFill>
                  <a:srgbClr val="000000"/>
                </a:solidFill>
                <a:latin typeface="Lato"/>
                <a:ea typeface="Lato"/>
                <a:cs typeface="Lato"/>
                <a:sym typeface="Lato"/>
              </a:rPr>
              <a:t>Identify early signs of burnout</a:t>
            </a:r>
          </a:p>
          <a:p>
            <a:pPr algn="l" marL="453390" indent="-226695" lvl="1">
              <a:lnSpc>
                <a:spcPts val="3360"/>
              </a:lnSpc>
              <a:buFont typeface="Arial"/>
              <a:buChar char="•"/>
            </a:pPr>
            <a:r>
              <a:rPr lang="en-US" sz="2100" spc="210">
                <a:solidFill>
                  <a:srgbClr val="000000"/>
                </a:solidFill>
                <a:latin typeface="Lato"/>
                <a:ea typeface="Lato"/>
                <a:cs typeface="Lato"/>
                <a:sym typeface="Lato"/>
              </a:rPr>
              <a:t>Receive short, actionable suggestions</a:t>
            </a:r>
          </a:p>
          <a:p>
            <a:pPr algn="l" marL="453390" indent="-226695" lvl="1">
              <a:lnSpc>
                <a:spcPts val="3360"/>
              </a:lnSpc>
              <a:buFont typeface="Arial"/>
              <a:buChar char="•"/>
            </a:pPr>
            <a:r>
              <a:rPr lang="en-US" sz="2100" spc="210">
                <a:solidFill>
                  <a:srgbClr val="000000"/>
                </a:solidFill>
                <a:latin typeface="Lato"/>
                <a:ea typeface="Lato"/>
                <a:cs typeface="Lato"/>
                <a:sym typeface="Lato"/>
              </a:rPr>
              <a:t>Maintain better emotional balance during academic pressure</a:t>
            </a:r>
          </a:p>
          <a:p>
            <a:pPr algn="l">
              <a:lnSpc>
                <a:spcPts val="3360"/>
              </a:lnSpc>
            </a:pPr>
          </a:p>
          <a:p>
            <a:pPr algn="l" marL="0" indent="0" lvl="0">
              <a:lnSpc>
                <a:spcPts val="3360"/>
              </a:lnSpc>
            </a:pPr>
          </a:p>
        </p:txBody>
      </p:sp>
      <p:sp>
        <p:nvSpPr>
          <p:cNvPr name="TextBox 7" id="7"/>
          <p:cNvSpPr txBox="true"/>
          <p:nvPr/>
        </p:nvSpPr>
        <p:spPr>
          <a:xfrm rot="0">
            <a:off x="6948851" y="252410"/>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264653"/>
                </a:solidFill>
                <a:latin typeface="Heebo Bold"/>
                <a:ea typeface="Heebo Bold"/>
                <a:cs typeface="Heebo Bold"/>
                <a:sym typeface="Heebo Bold"/>
              </a:rPr>
              <a:t>NAME: SARAH MARTINEZ</a:t>
            </a:r>
          </a:p>
        </p:txBody>
      </p:sp>
      <p:grpSp>
        <p:nvGrpSpPr>
          <p:cNvPr name="Group 8" id="8"/>
          <p:cNvGrpSpPr/>
          <p:nvPr/>
        </p:nvGrpSpPr>
        <p:grpSpPr>
          <a:xfrm rot="0">
            <a:off x="-36326" y="1958339"/>
            <a:ext cx="6842696" cy="8205345"/>
            <a:chOff x="0" y="0"/>
            <a:chExt cx="1076050" cy="1290334"/>
          </a:xfrm>
        </p:grpSpPr>
        <p:sp>
          <p:nvSpPr>
            <p:cNvPr name="Freeform 9" id="9"/>
            <p:cNvSpPr/>
            <p:nvPr/>
          </p:nvSpPr>
          <p:spPr>
            <a:xfrm flipH="false" flipV="false" rot="0">
              <a:off x="0" y="0"/>
              <a:ext cx="1076050" cy="1290334"/>
            </a:xfrm>
            <a:custGeom>
              <a:avLst/>
              <a:gdLst/>
              <a:ahLst/>
              <a:cxnLst/>
              <a:rect r="r" b="b" t="t" l="l"/>
              <a:pathLst>
                <a:path h="1290334" w="1076050">
                  <a:moveTo>
                    <a:pt x="0" y="0"/>
                  </a:moveTo>
                  <a:lnTo>
                    <a:pt x="1076050" y="0"/>
                  </a:lnTo>
                  <a:lnTo>
                    <a:pt x="1076050" y="1290334"/>
                  </a:lnTo>
                  <a:lnTo>
                    <a:pt x="0" y="1290334"/>
                  </a:lnTo>
                  <a:close/>
                </a:path>
              </a:pathLst>
            </a:custGeom>
            <a:blipFill>
              <a:blip r:embed="rId2"/>
              <a:stretch>
                <a:fillRect l="-9956" t="0" r="-9956"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806369" cy="10287000"/>
            <a:chOff x="0" y="0"/>
            <a:chExt cx="1792624" cy="2709333"/>
          </a:xfrm>
        </p:grpSpPr>
        <p:sp>
          <p:nvSpPr>
            <p:cNvPr name="Freeform 3" id="3"/>
            <p:cNvSpPr/>
            <p:nvPr/>
          </p:nvSpPr>
          <p:spPr>
            <a:xfrm flipH="false" flipV="false" rot="0">
              <a:off x="0" y="0"/>
              <a:ext cx="1792624" cy="2709333"/>
            </a:xfrm>
            <a:custGeom>
              <a:avLst/>
              <a:gdLst/>
              <a:ahLst/>
              <a:cxnLst/>
              <a:rect r="r" b="b" t="t" l="l"/>
              <a:pathLst>
                <a:path h="2709333" w="1792624">
                  <a:moveTo>
                    <a:pt x="0" y="0"/>
                  </a:moveTo>
                  <a:lnTo>
                    <a:pt x="1792624" y="0"/>
                  </a:lnTo>
                  <a:lnTo>
                    <a:pt x="1792624" y="2709333"/>
                  </a:lnTo>
                  <a:lnTo>
                    <a:pt x="0" y="2709333"/>
                  </a:lnTo>
                  <a:close/>
                </a:path>
              </a:pathLst>
            </a:custGeom>
            <a:solidFill>
              <a:srgbClr val="F2F1F1">
                <a:alpha val="80000"/>
              </a:srgbClr>
            </a:solidFill>
          </p:spPr>
        </p:sp>
        <p:sp>
          <p:nvSpPr>
            <p:cNvPr name="TextBox 4" id="4"/>
            <p:cNvSpPr txBox="true"/>
            <p:nvPr/>
          </p:nvSpPr>
          <p:spPr>
            <a:xfrm>
              <a:off x="0" y="-47625"/>
              <a:ext cx="1792624" cy="2756958"/>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36326" y="1958339"/>
            <a:ext cx="6842696" cy="8205345"/>
            <a:chOff x="0" y="0"/>
            <a:chExt cx="1076050" cy="1290334"/>
          </a:xfrm>
        </p:grpSpPr>
        <p:sp>
          <p:nvSpPr>
            <p:cNvPr name="Freeform 6" id="6"/>
            <p:cNvSpPr/>
            <p:nvPr/>
          </p:nvSpPr>
          <p:spPr>
            <a:xfrm flipH="false" flipV="false" rot="0">
              <a:off x="0" y="0"/>
              <a:ext cx="1076050" cy="1290334"/>
            </a:xfrm>
            <a:custGeom>
              <a:avLst/>
              <a:gdLst/>
              <a:ahLst/>
              <a:cxnLst/>
              <a:rect r="r" b="b" t="t" l="l"/>
              <a:pathLst>
                <a:path h="1290334" w="1076050">
                  <a:moveTo>
                    <a:pt x="0" y="0"/>
                  </a:moveTo>
                  <a:lnTo>
                    <a:pt x="1076050" y="0"/>
                  </a:lnTo>
                  <a:lnTo>
                    <a:pt x="1076050" y="1290334"/>
                  </a:lnTo>
                  <a:lnTo>
                    <a:pt x="0" y="1290334"/>
                  </a:lnTo>
                  <a:close/>
                </a:path>
              </a:pathLst>
            </a:custGeom>
            <a:blipFill>
              <a:blip r:embed="rId2"/>
              <a:stretch>
                <a:fillRect l="-9956" t="0" r="-9956" b="0"/>
              </a:stretch>
            </a:blipFill>
          </p:spPr>
        </p:sp>
      </p:grpSp>
      <p:sp>
        <p:nvSpPr>
          <p:cNvPr name="TextBox 7" id="7"/>
          <p:cNvSpPr txBox="true"/>
          <p:nvPr/>
        </p:nvSpPr>
        <p:spPr>
          <a:xfrm rot="0">
            <a:off x="111644" y="-9525"/>
            <a:ext cx="6694725" cy="2063114"/>
          </a:xfrm>
          <a:prstGeom prst="rect">
            <a:avLst/>
          </a:prstGeom>
        </p:spPr>
        <p:txBody>
          <a:bodyPr anchor="t" rtlCol="false" tIns="0" lIns="0" bIns="0" rIns="0">
            <a:spAutoFit/>
          </a:bodyPr>
          <a:lstStyle/>
          <a:p>
            <a:pPr algn="l" marL="0" indent="0" lvl="0">
              <a:lnSpc>
                <a:spcPts val="5460"/>
              </a:lnSpc>
            </a:pPr>
            <a:r>
              <a:rPr lang="en-US" b="true" sz="3900" spc="195">
                <a:solidFill>
                  <a:srgbClr val="000000"/>
                </a:solidFill>
                <a:latin typeface="Helios Extended Bold"/>
                <a:ea typeface="Helios Extended Bold"/>
                <a:cs typeface="Helios Extended Bold"/>
                <a:sym typeface="Helios Extended Bold"/>
              </a:rPr>
              <a:t>WORKING PROFESSIONAL PERSONA</a:t>
            </a:r>
          </a:p>
        </p:txBody>
      </p:sp>
      <p:sp>
        <p:nvSpPr>
          <p:cNvPr name="TextBox 8" id="8"/>
          <p:cNvSpPr txBox="true"/>
          <p:nvPr/>
        </p:nvSpPr>
        <p:spPr>
          <a:xfrm rot="0">
            <a:off x="6948851" y="579435"/>
            <a:ext cx="10716310" cy="9618345"/>
          </a:xfrm>
          <a:prstGeom prst="rect">
            <a:avLst/>
          </a:prstGeom>
        </p:spPr>
        <p:txBody>
          <a:bodyPr anchor="t" rtlCol="false" tIns="0" lIns="0" bIns="0" rIns="0">
            <a:spAutoFit/>
          </a:bodyPr>
          <a:lstStyle/>
          <a:p>
            <a:pPr algn="l">
              <a:lnSpc>
                <a:spcPts val="3360"/>
              </a:lnSpc>
            </a:pPr>
            <a:r>
              <a:rPr lang="en-US" sz="2100" spc="210" b="true">
                <a:solidFill>
                  <a:srgbClr val="000000"/>
                </a:solidFill>
                <a:latin typeface="Lato Bold"/>
                <a:ea typeface="Lato Bold"/>
                <a:cs typeface="Lato Bold"/>
                <a:sym typeface="Lato Bold"/>
              </a:rPr>
              <a:t>Age:</a:t>
            </a:r>
            <a:r>
              <a:rPr lang="en-US" sz="2100" spc="210">
                <a:solidFill>
                  <a:srgbClr val="000000"/>
                </a:solidFill>
                <a:latin typeface="Lato"/>
                <a:ea typeface="Lato"/>
                <a:cs typeface="Lato"/>
                <a:sym typeface="Lato"/>
              </a:rPr>
              <a:t> 32</a:t>
            </a:r>
          </a:p>
          <a:p>
            <a:pPr algn="l">
              <a:lnSpc>
                <a:spcPts val="3360"/>
              </a:lnSpc>
            </a:pPr>
            <a:r>
              <a:rPr lang="en-US" sz="2100" spc="210">
                <a:solidFill>
                  <a:srgbClr val="000000"/>
                </a:solidFill>
                <a:latin typeface="Lato"/>
                <a:ea typeface="Lato"/>
                <a:cs typeface="Lato"/>
                <a:sym typeface="Lato"/>
              </a:rPr>
              <a:t>Gender: Male</a:t>
            </a:r>
          </a:p>
          <a:p>
            <a:pPr algn="l">
              <a:lnSpc>
                <a:spcPts val="3360"/>
              </a:lnSpc>
            </a:pPr>
            <a:r>
              <a:rPr lang="en-US" sz="2100" spc="210" b="true">
                <a:solidFill>
                  <a:srgbClr val="000000"/>
                </a:solidFill>
                <a:latin typeface="Lato Bold"/>
                <a:ea typeface="Lato Bold"/>
                <a:cs typeface="Lato Bold"/>
                <a:sym typeface="Lato Bold"/>
              </a:rPr>
              <a:t>Occupation:</a:t>
            </a:r>
            <a:r>
              <a:rPr lang="en-US" sz="2100" spc="210">
                <a:solidFill>
                  <a:srgbClr val="000000"/>
                </a:solidFill>
                <a:latin typeface="Lato"/>
                <a:ea typeface="Lato"/>
                <a:cs typeface="Lato"/>
                <a:sym typeface="Lato"/>
              </a:rPr>
              <a:t> Software Engineer</a:t>
            </a:r>
          </a:p>
          <a:p>
            <a:pPr algn="l">
              <a:lnSpc>
                <a:spcPts val="3360"/>
              </a:lnSpc>
            </a:pPr>
          </a:p>
          <a:p>
            <a:pPr algn="l">
              <a:lnSpc>
                <a:spcPts val="3360"/>
              </a:lnSpc>
            </a:pPr>
            <a:r>
              <a:rPr lang="en-US" sz="2100" spc="210">
                <a:solidFill>
                  <a:srgbClr val="000000"/>
                </a:solidFill>
                <a:latin typeface="Lato"/>
                <a:ea typeface="Lato"/>
                <a:cs typeface="Lato"/>
                <a:sym typeface="Lato"/>
              </a:rPr>
              <a:t>David works remotely for a tech company and spends most of his day attending meetings and coding. While he performs well professionally, he often feels mentally drained without clearly understanding the cause. He values productivity and self-improvement but rarely pauses to reflect on his emotional state.</a:t>
            </a:r>
          </a:p>
          <a:p>
            <a:pPr algn="l">
              <a:lnSpc>
                <a:spcPts val="3360"/>
              </a:lnSpc>
            </a:pPr>
          </a:p>
          <a:p>
            <a:pPr algn="l">
              <a:lnSpc>
                <a:spcPts val="3360"/>
              </a:lnSpc>
            </a:pPr>
            <a:r>
              <a:rPr lang="en-US" sz="2100" spc="210">
                <a:solidFill>
                  <a:srgbClr val="000000"/>
                </a:solidFill>
                <a:latin typeface="Lato"/>
                <a:ea typeface="Lato"/>
                <a:cs typeface="Lato"/>
                <a:sym typeface="Lato"/>
              </a:rPr>
              <a:t>Challenges:</a:t>
            </a:r>
          </a:p>
          <a:p>
            <a:pPr algn="l" marL="453390" indent="-226695" lvl="1">
              <a:lnSpc>
                <a:spcPts val="3360"/>
              </a:lnSpc>
              <a:buFont typeface="Arial"/>
              <a:buChar char="•"/>
            </a:pPr>
            <a:r>
              <a:rPr lang="en-US" sz="2100" spc="210">
                <a:solidFill>
                  <a:srgbClr val="000000"/>
                </a:solidFill>
                <a:latin typeface="Lato"/>
                <a:ea typeface="Lato"/>
                <a:cs typeface="Lato"/>
                <a:sym typeface="Lato"/>
              </a:rPr>
              <a:t>Blurred boundaries between work and personal life</a:t>
            </a:r>
          </a:p>
          <a:p>
            <a:pPr algn="l" marL="453390" indent="-226695" lvl="1">
              <a:lnSpc>
                <a:spcPts val="3360"/>
              </a:lnSpc>
              <a:buFont typeface="Arial"/>
              <a:buChar char="•"/>
            </a:pPr>
            <a:r>
              <a:rPr lang="en-US" sz="2100" spc="210">
                <a:solidFill>
                  <a:srgbClr val="000000"/>
                </a:solidFill>
                <a:latin typeface="Lato"/>
                <a:ea typeface="Lato"/>
                <a:cs typeface="Lato"/>
                <a:sym typeface="Lato"/>
              </a:rPr>
              <a:t>Emotional fatigue during high-pressure deadlines</a:t>
            </a:r>
          </a:p>
          <a:p>
            <a:pPr algn="l" marL="453390" indent="-226695" lvl="1">
              <a:lnSpc>
                <a:spcPts val="3360"/>
              </a:lnSpc>
              <a:buFont typeface="Arial"/>
              <a:buChar char="•"/>
            </a:pPr>
            <a:r>
              <a:rPr lang="en-US" sz="2100" spc="210">
                <a:solidFill>
                  <a:srgbClr val="000000"/>
                </a:solidFill>
                <a:latin typeface="Lato"/>
                <a:ea typeface="Lato"/>
                <a:cs typeface="Lato"/>
                <a:sym typeface="Lato"/>
              </a:rPr>
              <a:t>N</a:t>
            </a:r>
            <a:r>
              <a:rPr lang="en-US" sz="2100" spc="210">
                <a:solidFill>
                  <a:srgbClr val="000000"/>
                </a:solidFill>
                <a:latin typeface="Lato"/>
                <a:ea typeface="Lato"/>
                <a:cs typeface="Lato"/>
                <a:sym typeface="Lato"/>
              </a:rPr>
              <a:t>o structured way to monitor mood patterns</a:t>
            </a:r>
          </a:p>
          <a:p>
            <a:pPr algn="l" marL="453390" indent="-226695" lvl="1">
              <a:lnSpc>
                <a:spcPts val="3360"/>
              </a:lnSpc>
              <a:buFont typeface="Arial"/>
              <a:buChar char="•"/>
            </a:pPr>
            <a:r>
              <a:rPr lang="en-US" sz="2100" spc="210">
                <a:solidFill>
                  <a:srgbClr val="000000"/>
                </a:solidFill>
                <a:latin typeface="Lato"/>
                <a:ea typeface="Lato"/>
                <a:cs typeface="Lato"/>
                <a:sym typeface="Lato"/>
              </a:rPr>
              <a:t>Limited time for long reflection exercises</a:t>
            </a:r>
          </a:p>
          <a:p>
            <a:pPr algn="l">
              <a:lnSpc>
                <a:spcPts val="3360"/>
              </a:lnSpc>
            </a:pPr>
          </a:p>
          <a:p>
            <a:pPr algn="l">
              <a:lnSpc>
                <a:spcPts val="3360"/>
              </a:lnSpc>
            </a:pPr>
            <a:r>
              <a:rPr lang="en-US" sz="2100" spc="210">
                <a:solidFill>
                  <a:srgbClr val="000000"/>
                </a:solidFill>
                <a:latin typeface="Lato"/>
                <a:ea typeface="Lato"/>
                <a:cs typeface="Lato"/>
                <a:sym typeface="Lato"/>
              </a:rPr>
              <a:t>Goals:</a:t>
            </a:r>
          </a:p>
          <a:p>
            <a:pPr algn="l" marL="453390" indent="-226695" lvl="1">
              <a:lnSpc>
                <a:spcPts val="3360"/>
              </a:lnSpc>
              <a:buFont typeface="Arial"/>
              <a:buChar char="•"/>
            </a:pPr>
            <a:r>
              <a:rPr lang="en-US" sz="2100" spc="210">
                <a:solidFill>
                  <a:srgbClr val="000000"/>
                </a:solidFill>
                <a:latin typeface="Lato"/>
                <a:ea typeface="Lato"/>
                <a:cs typeface="Lato"/>
                <a:sym typeface="Lato"/>
              </a:rPr>
              <a:t>Understand how work stress affects his mood</a:t>
            </a:r>
          </a:p>
          <a:p>
            <a:pPr algn="l" marL="453390" indent="-226695" lvl="1">
              <a:lnSpc>
                <a:spcPts val="3360"/>
              </a:lnSpc>
              <a:buFont typeface="Arial"/>
              <a:buChar char="•"/>
            </a:pPr>
            <a:r>
              <a:rPr lang="en-US" sz="2100" spc="210">
                <a:solidFill>
                  <a:srgbClr val="000000"/>
                </a:solidFill>
                <a:latin typeface="Lato"/>
                <a:ea typeface="Lato"/>
                <a:cs typeface="Lato"/>
                <a:sym typeface="Lato"/>
              </a:rPr>
              <a:t>Monitor emotional stability over time</a:t>
            </a:r>
          </a:p>
          <a:p>
            <a:pPr algn="l" marL="453390" indent="-226695" lvl="1">
              <a:lnSpc>
                <a:spcPts val="3360"/>
              </a:lnSpc>
              <a:buFont typeface="Arial"/>
              <a:buChar char="•"/>
            </a:pPr>
            <a:r>
              <a:rPr lang="en-US" sz="2100" spc="210">
                <a:solidFill>
                  <a:srgbClr val="000000"/>
                </a:solidFill>
                <a:latin typeface="Lato"/>
                <a:ea typeface="Lato"/>
                <a:cs typeface="Lato"/>
                <a:sym typeface="Lato"/>
              </a:rPr>
              <a:t>Receive quick, data-driven insights</a:t>
            </a:r>
          </a:p>
          <a:p>
            <a:pPr algn="l" marL="453390" indent="-226695" lvl="1">
              <a:lnSpc>
                <a:spcPts val="3360"/>
              </a:lnSpc>
              <a:buFont typeface="Arial"/>
              <a:buChar char="•"/>
            </a:pPr>
            <a:r>
              <a:rPr lang="en-US" sz="2100" spc="210">
                <a:solidFill>
                  <a:srgbClr val="000000"/>
                </a:solidFill>
                <a:latin typeface="Lato"/>
                <a:ea typeface="Lato"/>
                <a:cs typeface="Lato"/>
                <a:sym typeface="Lato"/>
              </a:rPr>
              <a:t>Improve work-life balance</a:t>
            </a:r>
          </a:p>
          <a:p>
            <a:pPr algn="l">
              <a:lnSpc>
                <a:spcPts val="3360"/>
              </a:lnSpc>
            </a:pPr>
          </a:p>
          <a:p>
            <a:pPr algn="l" marL="0" indent="0" lvl="0">
              <a:lnSpc>
                <a:spcPts val="3360"/>
              </a:lnSpc>
            </a:pPr>
          </a:p>
        </p:txBody>
      </p:sp>
      <p:sp>
        <p:nvSpPr>
          <p:cNvPr name="TextBox 9" id="9"/>
          <p:cNvSpPr txBox="true"/>
          <p:nvPr/>
        </p:nvSpPr>
        <p:spPr>
          <a:xfrm rot="0">
            <a:off x="6948851" y="252410"/>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264653"/>
                </a:solidFill>
                <a:latin typeface="Heebo Bold"/>
                <a:ea typeface="Heebo Bold"/>
                <a:cs typeface="Heebo Bold"/>
                <a:sym typeface="Heebo Bold"/>
              </a:rPr>
              <a:t>NAME: DAVID CHEN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806369" cy="10287000"/>
            <a:chOff x="0" y="0"/>
            <a:chExt cx="1792624" cy="2709333"/>
          </a:xfrm>
        </p:grpSpPr>
        <p:sp>
          <p:nvSpPr>
            <p:cNvPr name="Freeform 3" id="3"/>
            <p:cNvSpPr/>
            <p:nvPr/>
          </p:nvSpPr>
          <p:spPr>
            <a:xfrm flipH="false" flipV="false" rot="0">
              <a:off x="0" y="0"/>
              <a:ext cx="1792624" cy="2709333"/>
            </a:xfrm>
            <a:custGeom>
              <a:avLst/>
              <a:gdLst/>
              <a:ahLst/>
              <a:cxnLst/>
              <a:rect r="r" b="b" t="t" l="l"/>
              <a:pathLst>
                <a:path h="2709333" w="1792624">
                  <a:moveTo>
                    <a:pt x="0" y="0"/>
                  </a:moveTo>
                  <a:lnTo>
                    <a:pt x="1792624" y="0"/>
                  </a:lnTo>
                  <a:lnTo>
                    <a:pt x="1792624" y="2709333"/>
                  </a:lnTo>
                  <a:lnTo>
                    <a:pt x="0" y="2709333"/>
                  </a:lnTo>
                  <a:close/>
                </a:path>
              </a:pathLst>
            </a:custGeom>
            <a:solidFill>
              <a:srgbClr val="F2F1F1">
                <a:alpha val="80000"/>
              </a:srgbClr>
            </a:solidFill>
          </p:spPr>
        </p:sp>
        <p:sp>
          <p:nvSpPr>
            <p:cNvPr name="TextBox 4" id="4"/>
            <p:cNvSpPr txBox="true"/>
            <p:nvPr/>
          </p:nvSpPr>
          <p:spPr>
            <a:xfrm>
              <a:off x="0" y="-47625"/>
              <a:ext cx="1792624" cy="2756958"/>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36326" y="1958339"/>
            <a:ext cx="6842696" cy="8205345"/>
            <a:chOff x="0" y="0"/>
            <a:chExt cx="1076050" cy="1290334"/>
          </a:xfrm>
        </p:grpSpPr>
        <p:sp>
          <p:nvSpPr>
            <p:cNvPr name="Freeform 6" id="6"/>
            <p:cNvSpPr/>
            <p:nvPr/>
          </p:nvSpPr>
          <p:spPr>
            <a:xfrm flipH="false" flipV="false" rot="0">
              <a:off x="0" y="0"/>
              <a:ext cx="1076050" cy="1290334"/>
            </a:xfrm>
            <a:custGeom>
              <a:avLst/>
              <a:gdLst/>
              <a:ahLst/>
              <a:cxnLst/>
              <a:rect r="r" b="b" t="t" l="l"/>
              <a:pathLst>
                <a:path h="1290334" w="1076050">
                  <a:moveTo>
                    <a:pt x="0" y="0"/>
                  </a:moveTo>
                  <a:lnTo>
                    <a:pt x="1076050" y="0"/>
                  </a:lnTo>
                  <a:lnTo>
                    <a:pt x="1076050" y="1290334"/>
                  </a:lnTo>
                  <a:lnTo>
                    <a:pt x="0" y="1290334"/>
                  </a:lnTo>
                  <a:close/>
                </a:path>
              </a:pathLst>
            </a:custGeom>
            <a:blipFill>
              <a:blip r:embed="rId2"/>
              <a:stretch>
                <a:fillRect l="-6556" t="0" r="-6556" b="0"/>
              </a:stretch>
            </a:blipFill>
          </p:spPr>
        </p:sp>
      </p:grpSp>
      <p:sp>
        <p:nvSpPr>
          <p:cNvPr name="TextBox 7" id="7"/>
          <p:cNvSpPr txBox="true"/>
          <p:nvPr/>
        </p:nvSpPr>
        <p:spPr>
          <a:xfrm rot="0">
            <a:off x="111644" y="-9525"/>
            <a:ext cx="6694725" cy="1377314"/>
          </a:xfrm>
          <a:prstGeom prst="rect">
            <a:avLst/>
          </a:prstGeom>
        </p:spPr>
        <p:txBody>
          <a:bodyPr anchor="t" rtlCol="false" tIns="0" lIns="0" bIns="0" rIns="0">
            <a:spAutoFit/>
          </a:bodyPr>
          <a:lstStyle/>
          <a:p>
            <a:pPr algn="l" marL="0" indent="0" lvl="0">
              <a:lnSpc>
                <a:spcPts val="5460"/>
              </a:lnSpc>
            </a:pPr>
            <a:r>
              <a:rPr lang="en-US" b="true" sz="3900" spc="195">
                <a:solidFill>
                  <a:srgbClr val="000000"/>
                </a:solidFill>
                <a:latin typeface="Helios Extended Bold"/>
                <a:ea typeface="Helios Extended Bold"/>
                <a:cs typeface="Helios Extended Bold"/>
                <a:sym typeface="Helios Extended Bold"/>
              </a:rPr>
              <a:t>WORKING PARENT PERSONA</a:t>
            </a:r>
          </a:p>
        </p:txBody>
      </p:sp>
      <p:sp>
        <p:nvSpPr>
          <p:cNvPr name="TextBox 8" id="8"/>
          <p:cNvSpPr txBox="true"/>
          <p:nvPr/>
        </p:nvSpPr>
        <p:spPr>
          <a:xfrm rot="0">
            <a:off x="6948851" y="579435"/>
            <a:ext cx="10716310" cy="8780145"/>
          </a:xfrm>
          <a:prstGeom prst="rect">
            <a:avLst/>
          </a:prstGeom>
        </p:spPr>
        <p:txBody>
          <a:bodyPr anchor="t" rtlCol="false" tIns="0" lIns="0" bIns="0" rIns="0">
            <a:spAutoFit/>
          </a:bodyPr>
          <a:lstStyle/>
          <a:p>
            <a:pPr algn="l">
              <a:lnSpc>
                <a:spcPts val="3360"/>
              </a:lnSpc>
            </a:pPr>
            <a:r>
              <a:rPr lang="en-US" sz="2100" spc="210" b="true">
                <a:solidFill>
                  <a:srgbClr val="000000"/>
                </a:solidFill>
                <a:latin typeface="Lato Bold"/>
                <a:ea typeface="Lato Bold"/>
                <a:cs typeface="Lato Bold"/>
                <a:sym typeface="Lato Bold"/>
              </a:rPr>
              <a:t>Age:</a:t>
            </a:r>
            <a:r>
              <a:rPr lang="en-US" sz="2100" spc="210">
                <a:solidFill>
                  <a:srgbClr val="000000"/>
                </a:solidFill>
                <a:latin typeface="Lato"/>
                <a:ea typeface="Lato"/>
                <a:cs typeface="Lato"/>
                <a:sym typeface="Lato"/>
              </a:rPr>
              <a:t> 40</a:t>
            </a:r>
          </a:p>
          <a:p>
            <a:pPr algn="l">
              <a:lnSpc>
                <a:spcPts val="3360"/>
              </a:lnSpc>
            </a:pPr>
            <a:r>
              <a:rPr lang="en-US" sz="2100" spc="210" b="true">
                <a:solidFill>
                  <a:srgbClr val="000000"/>
                </a:solidFill>
                <a:latin typeface="Lato Bold"/>
                <a:ea typeface="Lato Bold"/>
                <a:cs typeface="Lato Bold"/>
                <a:sym typeface="Lato Bold"/>
              </a:rPr>
              <a:t>Gender:</a:t>
            </a:r>
            <a:r>
              <a:rPr lang="en-US" sz="2100" spc="210">
                <a:solidFill>
                  <a:srgbClr val="000000"/>
                </a:solidFill>
                <a:latin typeface="Lato"/>
                <a:ea typeface="Lato"/>
                <a:cs typeface="Lato"/>
                <a:sym typeface="Lato"/>
              </a:rPr>
              <a:t> Female</a:t>
            </a:r>
          </a:p>
          <a:p>
            <a:pPr algn="l">
              <a:lnSpc>
                <a:spcPts val="3360"/>
              </a:lnSpc>
            </a:pPr>
            <a:r>
              <a:rPr lang="en-US" sz="2100" spc="210" b="true">
                <a:solidFill>
                  <a:srgbClr val="000000"/>
                </a:solidFill>
                <a:latin typeface="Lato Bold"/>
                <a:ea typeface="Lato Bold"/>
                <a:cs typeface="Lato Bold"/>
                <a:sym typeface="Lato Bold"/>
              </a:rPr>
              <a:t>Occupation:</a:t>
            </a:r>
            <a:r>
              <a:rPr lang="en-US" sz="2100" spc="210">
                <a:solidFill>
                  <a:srgbClr val="000000"/>
                </a:solidFill>
                <a:latin typeface="Lato"/>
                <a:ea typeface="Lato"/>
                <a:cs typeface="Lato"/>
                <a:sym typeface="Lato"/>
              </a:rPr>
              <a:t> HR Manager</a:t>
            </a:r>
          </a:p>
          <a:p>
            <a:pPr algn="l">
              <a:lnSpc>
                <a:spcPts val="3360"/>
              </a:lnSpc>
            </a:pPr>
          </a:p>
          <a:p>
            <a:pPr algn="l">
              <a:lnSpc>
                <a:spcPts val="3360"/>
              </a:lnSpc>
            </a:pPr>
            <a:r>
              <a:rPr lang="en-US" sz="2100" spc="210">
                <a:solidFill>
                  <a:srgbClr val="000000"/>
                </a:solidFill>
                <a:latin typeface="Lato"/>
                <a:ea typeface="Lato"/>
                <a:cs typeface="Lato"/>
                <a:sym typeface="Lato"/>
              </a:rPr>
              <a:t>Emiliy</a:t>
            </a:r>
            <a:r>
              <a:rPr lang="en-US" sz="2100" spc="210">
                <a:solidFill>
                  <a:srgbClr val="000000"/>
                </a:solidFill>
                <a:latin typeface="Lato"/>
                <a:ea typeface="Lato"/>
                <a:cs typeface="Lato"/>
                <a:sym typeface="Lato"/>
              </a:rPr>
              <a:t> balances a demanding job with parenting responsibilities. Her schedule leaves little time for self-reflection, yet she recognizes the importance of emotional awareness. She often feels emotionally exhausted but cannot clearly identify triggers or patterns. She prefers simple, easy-to-use digital tools.</a:t>
            </a:r>
          </a:p>
          <a:p>
            <a:pPr algn="l">
              <a:lnSpc>
                <a:spcPts val="3360"/>
              </a:lnSpc>
            </a:pPr>
          </a:p>
          <a:p>
            <a:pPr algn="l">
              <a:lnSpc>
                <a:spcPts val="3360"/>
              </a:lnSpc>
            </a:pPr>
            <a:r>
              <a:rPr lang="en-US" sz="2100" spc="210">
                <a:solidFill>
                  <a:srgbClr val="000000"/>
                </a:solidFill>
                <a:latin typeface="Lato"/>
                <a:ea typeface="Lato"/>
                <a:cs typeface="Lato"/>
                <a:sym typeface="Lato"/>
              </a:rPr>
              <a:t>Challenges:</a:t>
            </a:r>
          </a:p>
          <a:p>
            <a:pPr algn="l" marL="453390" indent="-226695" lvl="1">
              <a:lnSpc>
                <a:spcPts val="3360"/>
              </a:lnSpc>
              <a:buFont typeface="Arial"/>
              <a:buChar char="•"/>
            </a:pPr>
            <a:r>
              <a:rPr lang="en-US" sz="2100" spc="210">
                <a:solidFill>
                  <a:srgbClr val="000000"/>
                </a:solidFill>
                <a:latin typeface="Lato"/>
                <a:ea typeface="Lato"/>
                <a:cs typeface="Lato"/>
                <a:sym typeface="Lato"/>
              </a:rPr>
              <a:t>Limited time for lengthy journaling</a:t>
            </a:r>
          </a:p>
          <a:p>
            <a:pPr algn="l" marL="453390" indent="-226695" lvl="1">
              <a:lnSpc>
                <a:spcPts val="3360"/>
              </a:lnSpc>
              <a:buFont typeface="Arial"/>
              <a:buChar char="•"/>
            </a:pPr>
            <a:r>
              <a:rPr lang="en-US" sz="2100" spc="210">
                <a:solidFill>
                  <a:srgbClr val="000000"/>
                </a:solidFill>
                <a:latin typeface="Lato"/>
                <a:ea typeface="Lato"/>
                <a:cs typeface="Lato"/>
                <a:sym typeface="Lato"/>
              </a:rPr>
              <a:t>Emotional fatigue from multitasking responsibilities</a:t>
            </a:r>
          </a:p>
          <a:p>
            <a:pPr algn="l" marL="453390" indent="-226695" lvl="1">
              <a:lnSpc>
                <a:spcPts val="3360"/>
              </a:lnSpc>
              <a:buFont typeface="Arial"/>
              <a:buChar char="•"/>
            </a:pPr>
            <a:r>
              <a:rPr lang="en-US" sz="2100" spc="210">
                <a:solidFill>
                  <a:srgbClr val="000000"/>
                </a:solidFill>
                <a:latin typeface="Lato"/>
                <a:ea typeface="Lato"/>
                <a:cs typeface="Lato"/>
                <a:sym typeface="Lato"/>
              </a:rPr>
              <a:t>Difficulty identifying emotional triggers</a:t>
            </a:r>
          </a:p>
          <a:p>
            <a:pPr algn="l" marL="453390" indent="-226695" lvl="1">
              <a:lnSpc>
                <a:spcPts val="3360"/>
              </a:lnSpc>
              <a:buFont typeface="Arial"/>
              <a:buChar char="•"/>
            </a:pPr>
            <a:r>
              <a:rPr lang="en-US" sz="2100" spc="210">
                <a:solidFill>
                  <a:srgbClr val="000000"/>
                </a:solidFill>
                <a:latin typeface="Lato"/>
                <a:ea typeface="Lato"/>
                <a:cs typeface="Lato"/>
                <a:sym typeface="Lato"/>
              </a:rPr>
              <a:t>Wants non-clinical, supportive guidance</a:t>
            </a:r>
          </a:p>
          <a:p>
            <a:pPr algn="l">
              <a:lnSpc>
                <a:spcPts val="3360"/>
              </a:lnSpc>
            </a:pPr>
          </a:p>
          <a:p>
            <a:pPr algn="l">
              <a:lnSpc>
                <a:spcPts val="3360"/>
              </a:lnSpc>
            </a:pPr>
            <a:r>
              <a:rPr lang="en-US" sz="2100" spc="210">
                <a:solidFill>
                  <a:srgbClr val="000000"/>
                </a:solidFill>
                <a:latin typeface="Lato"/>
                <a:ea typeface="Lato"/>
                <a:cs typeface="Lato"/>
                <a:sym typeface="Lato"/>
              </a:rPr>
              <a:t>Goals:</a:t>
            </a:r>
          </a:p>
          <a:p>
            <a:pPr algn="l" marL="453390" indent="-226695" lvl="1">
              <a:lnSpc>
                <a:spcPts val="3360"/>
              </a:lnSpc>
              <a:buFont typeface="Arial"/>
              <a:buChar char="•"/>
            </a:pPr>
            <a:r>
              <a:rPr lang="en-US" sz="2100" spc="210">
                <a:solidFill>
                  <a:srgbClr val="000000"/>
                </a:solidFill>
                <a:latin typeface="Lato"/>
                <a:ea typeface="Lato"/>
                <a:cs typeface="Lato"/>
                <a:sym typeface="Lato"/>
              </a:rPr>
              <a:t>Build daily emotional awareness</a:t>
            </a:r>
          </a:p>
          <a:p>
            <a:pPr algn="l" marL="453390" indent="-226695" lvl="1">
              <a:lnSpc>
                <a:spcPts val="3360"/>
              </a:lnSpc>
              <a:buFont typeface="Arial"/>
              <a:buChar char="•"/>
            </a:pPr>
            <a:r>
              <a:rPr lang="en-US" sz="2100" spc="210">
                <a:solidFill>
                  <a:srgbClr val="000000"/>
                </a:solidFill>
                <a:latin typeface="Lato"/>
                <a:ea typeface="Lato"/>
                <a:cs typeface="Lato"/>
                <a:sym typeface="Lato"/>
              </a:rPr>
              <a:t>Identify patterns in stress levels</a:t>
            </a:r>
          </a:p>
          <a:p>
            <a:pPr algn="l" marL="453390" indent="-226695" lvl="1">
              <a:lnSpc>
                <a:spcPts val="3360"/>
              </a:lnSpc>
              <a:buFont typeface="Arial"/>
              <a:buChar char="•"/>
            </a:pPr>
            <a:r>
              <a:rPr lang="en-US" sz="2100" spc="210">
                <a:solidFill>
                  <a:srgbClr val="000000"/>
                </a:solidFill>
                <a:latin typeface="Lato"/>
                <a:ea typeface="Lato"/>
                <a:cs typeface="Lato"/>
                <a:sym typeface="Lato"/>
              </a:rPr>
              <a:t>Receive manageable well-being suggestions</a:t>
            </a:r>
          </a:p>
          <a:p>
            <a:pPr algn="l" marL="453390" indent="-226695" lvl="1">
              <a:lnSpc>
                <a:spcPts val="3360"/>
              </a:lnSpc>
              <a:buFont typeface="Arial"/>
              <a:buChar char="•"/>
            </a:pPr>
            <a:r>
              <a:rPr lang="en-US" sz="2100" spc="210">
                <a:solidFill>
                  <a:srgbClr val="000000"/>
                </a:solidFill>
                <a:latin typeface="Lato"/>
                <a:ea typeface="Lato"/>
                <a:cs typeface="Lato"/>
                <a:sym typeface="Lato"/>
              </a:rPr>
              <a:t>Maintain emotional stability for herself and her family</a:t>
            </a:r>
          </a:p>
        </p:txBody>
      </p:sp>
      <p:sp>
        <p:nvSpPr>
          <p:cNvPr name="TextBox 9" id="9"/>
          <p:cNvSpPr txBox="true"/>
          <p:nvPr/>
        </p:nvSpPr>
        <p:spPr>
          <a:xfrm rot="0">
            <a:off x="6948851" y="252410"/>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264653"/>
                </a:solidFill>
                <a:latin typeface="Heebo Bold"/>
                <a:ea typeface="Heebo Bold"/>
                <a:cs typeface="Heebo Bold"/>
                <a:sym typeface="Heebo Bold"/>
              </a:rPr>
              <a:t>NAME: EMILY PETERSON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806369" cy="10287000"/>
            <a:chOff x="0" y="0"/>
            <a:chExt cx="1792624" cy="2709333"/>
          </a:xfrm>
        </p:grpSpPr>
        <p:sp>
          <p:nvSpPr>
            <p:cNvPr name="Freeform 3" id="3"/>
            <p:cNvSpPr/>
            <p:nvPr/>
          </p:nvSpPr>
          <p:spPr>
            <a:xfrm flipH="false" flipV="false" rot="0">
              <a:off x="0" y="0"/>
              <a:ext cx="1792624" cy="2709333"/>
            </a:xfrm>
            <a:custGeom>
              <a:avLst/>
              <a:gdLst/>
              <a:ahLst/>
              <a:cxnLst/>
              <a:rect r="r" b="b" t="t" l="l"/>
              <a:pathLst>
                <a:path h="2709333" w="1792624">
                  <a:moveTo>
                    <a:pt x="0" y="0"/>
                  </a:moveTo>
                  <a:lnTo>
                    <a:pt x="1792624" y="0"/>
                  </a:lnTo>
                  <a:lnTo>
                    <a:pt x="1792624" y="2709333"/>
                  </a:lnTo>
                  <a:lnTo>
                    <a:pt x="0" y="2709333"/>
                  </a:lnTo>
                  <a:close/>
                </a:path>
              </a:pathLst>
            </a:custGeom>
            <a:solidFill>
              <a:srgbClr val="F2F1F1">
                <a:alpha val="80000"/>
              </a:srgbClr>
            </a:solidFill>
          </p:spPr>
        </p:sp>
        <p:sp>
          <p:nvSpPr>
            <p:cNvPr name="TextBox 4" id="4"/>
            <p:cNvSpPr txBox="true"/>
            <p:nvPr/>
          </p:nvSpPr>
          <p:spPr>
            <a:xfrm>
              <a:off x="0" y="-47625"/>
              <a:ext cx="1792624" cy="2756958"/>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36326" y="1958339"/>
            <a:ext cx="6842696" cy="8205345"/>
            <a:chOff x="0" y="0"/>
            <a:chExt cx="1076050" cy="1290334"/>
          </a:xfrm>
        </p:grpSpPr>
        <p:sp>
          <p:nvSpPr>
            <p:cNvPr name="Freeform 6" id="6"/>
            <p:cNvSpPr/>
            <p:nvPr/>
          </p:nvSpPr>
          <p:spPr>
            <a:xfrm flipH="false" flipV="false" rot="0">
              <a:off x="0" y="0"/>
              <a:ext cx="1076050" cy="1290334"/>
            </a:xfrm>
            <a:custGeom>
              <a:avLst/>
              <a:gdLst/>
              <a:ahLst/>
              <a:cxnLst/>
              <a:rect r="r" b="b" t="t" l="l"/>
              <a:pathLst>
                <a:path h="1290334" w="1076050">
                  <a:moveTo>
                    <a:pt x="0" y="0"/>
                  </a:moveTo>
                  <a:lnTo>
                    <a:pt x="1076050" y="0"/>
                  </a:lnTo>
                  <a:lnTo>
                    <a:pt x="1076050" y="1290334"/>
                  </a:lnTo>
                  <a:lnTo>
                    <a:pt x="0" y="1290334"/>
                  </a:lnTo>
                  <a:close/>
                </a:path>
              </a:pathLst>
            </a:custGeom>
            <a:blipFill>
              <a:blip r:embed="rId2"/>
              <a:stretch>
                <a:fillRect l="-6504" t="0" r="-6504" b="0"/>
              </a:stretch>
            </a:blipFill>
          </p:spPr>
        </p:sp>
      </p:grpSp>
      <p:sp>
        <p:nvSpPr>
          <p:cNvPr name="TextBox 7" id="7"/>
          <p:cNvSpPr txBox="true"/>
          <p:nvPr/>
        </p:nvSpPr>
        <p:spPr>
          <a:xfrm rot="0">
            <a:off x="111644" y="-9525"/>
            <a:ext cx="6694725" cy="2063114"/>
          </a:xfrm>
          <a:prstGeom prst="rect">
            <a:avLst/>
          </a:prstGeom>
        </p:spPr>
        <p:txBody>
          <a:bodyPr anchor="t" rtlCol="false" tIns="0" lIns="0" bIns="0" rIns="0">
            <a:spAutoFit/>
          </a:bodyPr>
          <a:lstStyle/>
          <a:p>
            <a:pPr algn="l" marL="0" indent="0" lvl="0">
              <a:lnSpc>
                <a:spcPts val="5460"/>
              </a:lnSpc>
            </a:pPr>
            <a:r>
              <a:rPr lang="en-US" b="true" sz="3900" spc="195">
                <a:solidFill>
                  <a:srgbClr val="000000"/>
                </a:solidFill>
                <a:latin typeface="Helios Extended Bold"/>
                <a:ea typeface="Helios Extended Bold"/>
                <a:cs typeface="Helios Extended Bold"/>
                <a:sym typeface="Helios Extended Bold"/>
              </a:rPr>
              <a:t>SELF-IMPROVEMENT ENTHUSIAST PERSONA</a:t>
            </a:r>
          </a:p>
        </p:txBody>
      </p:sp>
      <p:sp>
        <p:nvSpPr>
          <p:cNvPr name="TextBox 8" id="8"/>
          <p:cNvSpPr txBox="true"/>
          <p:nvPr/>
        </p:nvSpPr>
        <p:spPr>
          <a:xfrm rot="0">
            <a:off x="6939326" y="579435"/>
            <a:ext cx="10716310" cy="8361045"/>
          </a:xfrm>
          <a:prstGeom prst="rect">
            <a:avLst/>
          </a:prstGeom>
        </p:spPr>
        <p:txBody>
          <a:bodyPr anchor="t" rtlCol="false" tIns="0" lIns="0" bIns="0" rIns="0">
            <a:spAutoFit/>
          </a:bodyPr>
          <a:lstStyle/>
          <a:p>
            <a:pPr algn="l">
              <a:lnSpc>
                <a:spcPts val="3360"/>
              </a:lnSpc>
            </a:pPr>
            <a:r>
              <a:rPr lang="en-US" sz="2100" spc="210" b="true">
                <a:solidFill>
                  <a:srgbClr val="000000"/>
                </a:solidFill>
                <a:latin typeface="Lato Bold"/>
                <a:ea typeface="Lato Bold"/>
                <a:cs typeface="Lato Bold"/>
                <a:sym typeface="Lato Bold"/>
              </a:rPr>
              <a:t>Age:</a:t>
            </a:r>
            <a:r>
              <a:rPr lang="en-US" sz="2100" spc="210">
                <a:solidFill>
                  <a:srgbClr val="000000"/>
                </a:solidFill>
                <a:latin typeface="Lato"/>
                <a:ea typeface="Lato"/>
                <a:cs typeface="Lato"/>
                <a:sym typeface="Lato"/>
              </a:rPr>
              <a:t> 27</a:t>
            </a:r>
          </a:p>
          <a:p>
            <a:pPr algn="l">
              <a:lnSpc>
                <a:spcPts val="3360"/>
              </a:lnSpc>
            </a:pPr>
            <a:r>
              <a:rPr lang="en-US" sz="2100" spc="210" b="true">
                <a:solidFill>
                  <a:srgbClr val="000000"/>
                </a:solidFill>
                <a:latin typeface="Lato Bold"/>
                <a:ea typeface="Lato Bold"/>
                <a:cs typeface="Lato Bold"/>
                <a:sym typeface="Lato Bold"/>
              </a:rPr>
              <a:t>Gender:</a:t>
            </a:r>
            <a:r>
              <a:rPr lang="en-US" sz="2100" spc="210">
                <a:solidFill>
                  <a:srgbClr val="000000"/>
                </a:solidFill>
                <a:latin typeface="Lato"/>
                <a:ea typeface="Lato"/>
                <a:cs typeface="Lato"/>
                <a:sym typeface="Lato"/>
              </a:rPr>
              <a:t> Male</a:t>
            </a:r>
          </a:p>
          <a:p>
            <a:pPr algn="l">
              <a:lnSpc>
                <a:spcPts val="3360"/>
              </a:lnSpc>
            </a:pPr>
            <a:r>
              <a:rPr lang="en-US" sz="2100" spc="210" b="true">
                <a:solidFill>
                  <a:srgbClr val="000000"/>
                </a:solidFill>
                <a:latin typeface="Lato Bold"/>
                <a:ea typeface="Lato Bold"/>
                <a:cs typeface="Lato Bold"/>
                <a:sym typeface="Lato Bold"/>
              </a:rPr>
              <a:t>Occupation:</a:t>
            </a:r>
            <a:r>
              <a:rPr lang="en-US" sz="2100" spc="210">
                <a:solidFill>
                  <a:srgbClr val="000000"/>
                </a:solidFill>
                <a:latin typeface="Lato"/>
                <a:ea typeface="Lato"/>
                <a:cs typeface="Lato"/>
                <a:sym typeface="Lato"/>
              </a:rPr>
              <a:t> Fitness Coach</a:t>
            </a:r>
          </a:p>
          <a:p>
            <a:pPr algn="l">
              <a:lnSpc>
                <a:spcPts val="3360"/>
              </a:lnSpc>
            </a:pPr>
          </a:p>
          <a:p>
            <a:pPr algn="l">
              <a:lnSpc>
                <a:spcPts val="3360"/>
              </a:lnSpc>
            </a:pPr>
            <a:r>
              <a:rPr lang="en-US" sz="2100" spc="210">
                <a:solidFill>
                  <a:srgbClr val="000000"/>
                </a:solidFill>
                <a:latin typeface="Lato"/>
                <a:ea typeface="Lato"/>
                <a:cs typeface="Lato"/>
                <a:sym typeface="Lato"/>
              </a:rPr>
              <a:t>Alex actively tracks his workouts, sleep cycles, and productivity habits. He believes emotional well-being is just as important as physical health but lacks a structured system to measure it. He is interested in data-driven insights and enjoys tools that provide analytics and visualizations.</a:t>
            </a:r>
          </a:p>
          <a:p>
            <a:pPr algn="l">
              <a:lnSpc>
                <a:spcPts val="3360"/>
              </a:lnSpc>
            </a:pPr>
          </a:p>
          <a:p>
            <a:pPr algn="l">
              <a:lnSpc>
                <a:spcPts val="3360"/>
              </a:lnSpc>
            </a:pPr>
            <a:r>
              <a:rPr lang="en-US" sz="2100" spc="210">
                <a:solidFill>
                  <a:srgbClr val="000000"/>
                </a:solidFill>
                <a:latin typeface="Lato"/>
                <a:ea typeface="Lato"/>
                <a:cs typeface="Lato"/>
                <a:sym typeface="Lato"/>
              </a:rPr>
              <a:t>Challenges:</a:t>
            </a:r>
          </a:p>
          <a:p>
            <a:pPr algn="l" marL="453390" indent="-226695" lvl="1">
              <a:lnSpc>
                <a:spcPts val="3360"/>
              </a:lnSpc>
              <a:buFont typeface="Arial"/>
              <a:buChar char="•"/>
            </a:pPr>
            <a:r>
              <a:rPr lang="en-US" sz="2100" spc="210">
                <a:solidFill>
                  <a:srgbClr val="000000"/>
                </a:solidFill>
                <a:latin typeface="Lato"/>
                <a:ea typeface="Lato"/>
                <a:cs typeface="Lato"/>
                <a:sym typeface="Lato"/>
              </a:rPr>
              <a:t>Journaling apps provide no analytical insights</a:t>
            </a:r>
          </a:p>
          <a:p>
            <a:pPr algn="l" marL="453390" indent="-226695" lvl="1">
              <a:lnSpc>
                <a:spcPts val="3360"/>
              </a:lnSpc>
              <a:buFont typeface="Arial"/>
              <a:buChar char="•"/>
            </a:pPr>
            <a:r>
              <a:rPr lang="en-US" sz="2100" spc="210">
                <a:solidFill>
                  <a:srgbClr val="000000"/>
                </a:solidFill>
                <a:latin typeface="Lato"/>
                <a:ea typeface="Lato"/>
                <a:cs typeface="Lato"/>
                <a:sym typeface="Lato"/>
              </a:rPr>
              <a:t>No measurable way to track emotional consistency</a:t>
            </a:r>
          </a:p>
          <a:p>
            <a:pPr algn="l" marL="453390" indent="-226695" lvl="1">
              <a:lnSpc>
                <a:spcPts val="3360"/>
              </a:lnSpc>
              <a:buFont typeface="Arial"/>
              <a:buChar char="•"/>
            </a:pPr>
            <a:r>
              <a:rPr lang="en-US" sz="2100" spc="210">
                <a:solidFill>
                  <a:srgbClr val="000000"/>
                </a:solidFill>
                <a:latin typeface="Lato"/>
                <a:ea typeface="Lato"/>
                <a:cs typeface="Lato"/>
                <a:sym typeface="Lato"/>
              </a:rPr>
              <a:t>Wants deeper pattern recognition</a:t>
            </a:r>
          </a:p>
          <a:p>
            <a:pPr algn="l" marL="453390" indent="-226695" lvl="1">
              <a:lnSpc>
                <a:spcPts val="3360"/>
              </a:lnSpc>
              <a:buFont typeface="Arial"/>
              <a:buChar char="•"/>
            </a:pPr>
            <a:r>
              <a:rPr lang="en-US" sz="2100" spc="210">
                <a:solidFill>
                  <a:srgbClr val="000000"/>
                </a:solidFill>
                <a:latin typeface="Lato"/>
                <a:ea typeface="Lato"/>
                <a:cs typeface="Lato"/>
                <a:sym typeface="Lato"/>
              </a:rPr>
              <a:t>Prefers technology-backed recommendations</a:t>
            </a:r>
          </a:p>
          <a:p>
            <a:pPr algn="l">
              <a:lnSpc>
                <a:spcPts val="3360"/>
              </a:lnSpc>
            </a:pPr>
          </a:p>
          <a:p>
            <a:pPr algn="l">
              <a:lnSpc>
                <a:spcPts val="3360"/>
              </a:lnSpc>
            </a:pPr>
            <a:r>
              <a:rPr lang="en-US" sz="2100" spc="210">
                <a:solidFill>
                  <a:srgbClr val="000000"/>
                </a:solidFill>
                <a:latin typeface="Lato"/>
                <a:ea typeface="Lato"/>
                <a:cs typeface="Lato"/>
                <a:sym typeface="Lato"/>
              </a:rPr>
              <a:t>Goals:</a:t>
            </a:r>
          </a:p>
          <a:p>
            <a:pPr algn="l" marL="453390" indent="-226695" lvl="1">
              <a:lnSpc>
                <a:spcPts val="3360"/>
              </a:lnSpc>
              <a:buFont typeface="Arial"/>
              <a:buChar char="•"/>
            </a:pPr>
            <a:r>
              <a:rPr lang="en-US" sz="2100" spc="210">
                <a:solidFill>
                  <a:srgbClr val="000000"/>
                </a:solidFill>
                <a:latin typeface="Lato"/>
                <a:ea typeface="Lato"/>
                <a:cs typeface="Lato"/>
                <a:sym typeface="Lato"/>
              </a:rPr>
              <a:t>Quantify emotional trends</a:t>
            </a:r>
          </a:p>
          <a:p>
            <a:pPr algn="l" marL="453390" indent="-226695" lvl="1">
              <a:lnSpc>
                <a:spcPts val="3360"/>
              </a:lnSpc>
              <a:buFont typeface="Arial"/>
              <a:buChar char="•"/>
            </a:pPr>
            <a:r>
              <a:rPr lang="en-US" sz="2100" spc="210">
                <a:solidFill>
                  <a:srgbClr val="000000"/>
                </a:solidFill>
                <a:latin typeface="Lato"/>
                <a:ea typeface="Lato"/>
                <a:cs typeface="Lato"/>
                <a:sym typeface="Lato"/>
              </a:rPr>
              <a:t>Compare mood ratings with AI sentiment analysis</a:t>
            </a:r>
          </a:p>
          <a:p>
            <a:pPr algn="l" marL="453390" indent="-226695" lvl="1">
              <a:lnSpc>
                <a:spcPts val="3360"/>
              </a:lnSpc>
              <a:buFont typeface="Arial"/>
              <a:buChar char="•"/>
            </a:pPr>
            <a:r>
              <a:rPr lang="en-US" sz="2100" spc="210">
                <a:solidFill>
                  <a:srgbClr val="000000"/>
                </a:solidFill>
                <a:latin typeface="Lato"/>
                <a:ea typeface="Lato"/>
                <a:cs typeface="Lato"/>
                <a:sym typeface="Lato"/>
              </a:rPr>
              <a:t>Identify emotional volatility</a:t>
            </a:r>
          </a:p>
          <a:p>
            <a:pPr algn="l" marL="453390" indent="-226695" lvl="1">
              <a:lnSpc>
                <a:spcPts val="3360"/>
              </a:lnSpc>
              <a:buFont typeface="Arial"/>
              <a:buChar char="•"/>
            </a:pPr>
            <a:r>
              <a:rPr lang="en-US" sz="2100" spc="210">
                <a:solidFill>
                  <a:srgbClr val="000000"/>
                </a:solidFill>
                <a:latin typeface="Lato"/>
                <a:ea typeface="Lato"/>
                <a:cs typeface="Lato"/>
                <a:sym typeface="Lato"/>
              </a:rPr>
              <a:t>Optimize overall mental performance</a:t>
            </a:r>
          </a:p>
        </p:txBody>
      </p:sp>
      <p:sp>
        <p:nvSpPr>
          <p:cNvPr name="TextBox 9" id="9"/>
          <p:cNvSpPr txBox="true"/>
          <p:nvPr/>
        </p:nvSpPr>
        <p:spPr>
          <a:xfrm rot="0">
            <a:off x="6948851" y="252410"/>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264653"/>
                </a:solidFill>
                <a:latin typeface="Heebo Bold"/>
                <a:ea typeface="Heebo Bold"/>
                <a:cs typeface="Heebo Bold"/>
                <a:sym typeface="Heebo Bold"/>
              </a:rPr>
              <a:t>NAME: ALEX RIVERA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03718" y="216166"/>
            <a:ext cx="17480564" cy="9854668"/>
          </a:xfrm>
          <a:custGeom>
            <a:avLst/>
            <a:gdLst/>
            <a:ahLst/>
            <a:cxnLst/>
            <a:rect r="r" b="b" t="t" l="l"/>
            <a:pathLst>
              <a:path h="9854668" w="17480564">
                <a:moveTo>
                  <a:pt x="0" y="0"/>
                </a:moveTo>
                <a:lnTo>
                  <a:pt x="17480564" y="0"/>
                </a:lnTo>
                <a:lnTo>
                  <a:pt x="17480564" y="9854668"/>
                </a:lnTo>
                <a:lnTo>
                  <a:pt x="0" y="9854668"/>
                </a:lnTo>
                <a:lnTo>
                  <a:pt x="0" y="0"/>
                </a:lnTo>
                <a:close/>
              </a:path>
            </a:pathLst>
          </a:custGeom>
          <a:blipFill>
            <a:blip r:embed="rId2"/>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95691" y="2062534"/>
            <a:ext cx="3456596" cy="6356958"/>
          </a:xfrm>
          <a:custGeom>
            <a:avLst/>
            <a:gdLst/>
            <a:ahLst/>
            <a:cxnLst/>
            <a:rect r="r" b="b" t="t" l="l"/>
            <a:pathLst>
              <a:path h="6356958" w="3456596">
                <a:moveTo>
                  <a:pt x="0" y="0"/>
                </a:moveTo>
                <a:lnTo>
                  <a:pt x="3456596" y="0"/>
                </a:lnTo>
                <a:lnTo>
                  <a:pt x="3456596" y="6356958"/>
                </a:lnTo>
                <a:lnTo>
                  <a:pt x="0" y="6356958"/>
                </a:lnTo>
                <a:lnTo>
                  <a:pt x="0" y="0"/>
                </a:lnTo>
                <a:close/>
              </a:path>
            </a:pathLst>
          </a:custGeom>
          <a:blipFill>
            <a:blip r:embed="rId2"/>
            <a:stretch>
              <a:fillRect l="0" t="0" r="0" b="0"/>
            </a:stretch>
          </a:blipFill>
        </p:spPr>
      </p:sp>
      <p:sp>
        <p:nvSpPr>
          <p:cNvPr name="TextBox 3" id="3"/>
          <p:cNvSpPr txBox="true"/>
          <p:nvPr/>
        </p:nvSpPr>
        <p:spPr>
          <a:xfrm rot="0">
            <a:off x="3958307" y="2384350"/>
            <a:ext cx="13300993" cy="6381524"/>
          </a:xfrm>
          <a:prstGeom prst="rect">
            <a:avLst/>
          </a:prstGeom>
        </p:spPr>
        <p:txBody>
          <a:bodyPr anchor="t" rtlCol="false" tIns="0" lIns="0" bIns="0" rIns="0">
            <a:spAutoFit/>
          </a:bodyPr>
          <a:lstStyle/>
          <a:p>
            <a:pPr algn="ctr">
              <a:lnSpc>
                <a:spcPts val="3607"/>
              </a:lnSpc>
              <a:spcBef>
                <a:spcPct val="0"/>
              </a:spcBef>
            </a:pPr>
          </a:p>
          <a:p>
            <a:pPr algn="just">
              <a:lnSpc>
                <a:spcPts val="3607"/>
              </a:lnSpc>
              <a:spcBef>
                <a:spcPct val="0"/>
              </a:spcBef>
            </a:pPr>
            <a:r>
              <a:rPr lang="en-US" sz="2254" spc="225">
                <a:solidFill>
                  <a:srgbClr val="000000"/>
                </a:solidFill>
                <a:latin typeface="Lato"/>
                <a:ea typeface="Lato"/>
                <a:cs typeface="Lato"/>
                <a:sym typeface="Lato"/>
              </a:rPr>
              <a:t>An AI-powered journaling application with real-time emotional analysis and visual mood tracking.</a:t>
            </a:r>
          </a:p>
          <a:p>
            <a:pPr algn="l">
              <a:lnSpc>
                <a:spcPts val="3607"/>
              </a:lnSpc>
              <a:spcBef>
                <a:spcPct val="0"/>
              </a:spcBef>
            </a:pPr>
          </a:p>
          <a:p>
            <a:pPr algn="l" marL="486734" indent="-243367" lvl="1">
              <a:lnSpc>
                <a:spcPts val="3607"/>
              </a:lnSpc>
              <a:buFont typeface="Arial"/>
              <a:buChar char="•"/>
            </a:pPr>
            <a:r>
              <a:rPr lang="en-US" sz="2254" spc="225">
                <a:solidFill>
                  <a:srgbClr val="000000"/>
                </a:solidFill>
                <a:latin typeface="Lato"/>
                <a:ea typeface="Lato"/>
                <a:cs typeface="Lato"/>
                <a:sym typeface="Lato"/>
              </a:rPr>
              <a:t>Real-Time Sentiment Analysis – Journal entries are analyzed instantly using an NLP model.</a:t>
            </a:r>
          </a:p>
          <a:p>
            <a:pPr algn="l" marL="486734" indent="-243367" lvl="1">
              <a:lnSpc>
                <a:spcPts val="3607"/>
              </a:lnSpc>
              <a:buFont typeface="Arial"/>
              <a:buChar char="•"/>
            </a:pPr>
            <a:r>
              <a:rPr lang="en-US" sz="2254" spc="225">
                <a:solidFill>
                  <a:srgbClr val="000000"/>
                </a:solidFill>
                <a:latin typeface="Lato"/>
                <a:ea typeface="Lato"/>
                <a:cs typeface="Lato"/>
                <a:sym typeface="Lato"/>
              </a:rPr>
              <a:t>Mood Classification System – Each entry is labeled as Positive, Neutral, or Negative.</a:t>
            </a:r>
          </a:p>
          <a:p>
            <a:pPr algn="l" marL="486734" indent="-243367" lvl="1">
              <a:lnSpc>
                <a:spcPts val="3607"/>
              </a:lnSpc>
              <a:buFont typeface="Arial"/>
              <a:buChar char="•"/>
            </a:pPr>
            <a:r>
              <a:rPr lang="en-US" sz="2254" spc="225">
                <a:solidFill>
                  <a:srgbClr val="000000"/>
                </a:solidFill>
                <a:latin typeface="Lato"/>
                <a:ea typeface="Lato"/>
                <a:cs typeface="Lato"/>
                <a:sym typeface="Lato"/>
              </a:rPr>
              <a:t>Confidence Score Display – Shows the model’s certainty level for each classification.</a:t>
            </a:r>
          </a:p>
          <a:p>
            <a:pPr algn="l" marL="486734" indent="-243367" lvl="1">
              <a:lnSpc>
                <a:spcPts val="3607"/>
              </a:lnSpc>
              <a:buFont typeface="Arial"/>
              <a:buChar char="•"/>
            </a:pPr>
            <a:r>
              <a:rPr lang="en-US" sz="2254" spc="225">
                <a:solidFill>
                  <a:srgbClr val="000000"/>
                </a:solidFill>
                <a:latin typeface="Lato"/>
                <a:ea typeface="Lato"/>
                <a:cs typeface="Lato"/>
                <a:sym typeface="Lato"/>
              </a:rPr>
              <a:t>Immediate Mood Feedback – Provides short, supportive emotional insights after analysis</a:t>
            </a:r>
          </a:p>
          <a:p>
            <a:pPr algn="l" marL="486734" indent="-243367" lvl="1">
              <a:lnSpc>
                <a:spcPts val="3607"/>
              </a:lnSpc>
              <a:buFont typeface="Arial"/>
              <a:buChar char="•"/>
            </a:pPr>
            <a:r>
              <a:rPr lang="en-US" sz="2254" spc="225">
                <a:solidFill>
                  <a:srgbClr val="000000"/>
                </a:solidFill>
                <a:latin typeface="Lato"/>
                <a:ea typeface="Lato"/>
                <a:cs typeface="Lato"/>
                <a:sym typeface="Lato"/>
              </a:rPr>
              <a:t>Visual Mood Distribution – Displays a basic chart showing mood trends over time.</a:t>
            </a:r>
          </a:p>
          <a:p>
            <a:pPr algn="l" marL="486734" indent="-243367" lvl="1">
              <a:lnSpc>
                <a:spcPts val="3607"/>
              </a:lnSpc>
              <a:buFont typeface="Arial"/>
              <a:buChar char="•"/>
            </a:pPr>
            <a:r>
              <a:rPr lang="en-US" sz="2254" spc="225">
                <a:solidFill>
                  <a:srgbClr val="000000"/>
                </a:solidFill>
                <a:latin typeface="Lato"/>
                <a:ea typeface="Lato"/>
                <a:cs typeface="Lato"/>
                <a:sym typeface="Lato"/>
              </a:rPr>
              <a:t>Local Entry Persistence – Saves journal entries locally for later review (MVP scope).</a:t>
            </a:r>
          </a:p>
        </p:txBody>
      </p:sp>
      <p:sp>
        <p:nvSpPr>
          <p:cNvPr name="TextBox 4" id="4"/>
          <p:cNvSpPr txBox="true"/>
          <p:nvPr/>
        </p:nvSpPr>
        <p:spPr>
          <a:xfrm rot="0">
            <a:off x="1428644" y="601565"/>
            <a:ext cx="15430711" cy="948690"/>
          </a:xfrm>
          <a:prstGeom prst="rect">
            <a:avLst/>
          </a:prstGeom>
        </p:spPr>
        <p:txBody>
          <a:bodyPr anchor="t" rtlCol="false" tIns="0" lIns="0" bIns="0" rIns="0">
            <a:spAutoFit/>
          </a:bodyPr>
          <a:lstStyle/>
          <a:p>
            <a:pPr algn="l" marL="0" indent="0" lvl="0">
              <a:lnSpc>
                <a:spcPts val="7560"/>
              </a:lnSpc>
            </a:pPr>
            <a:r>
              <a:rPr lang="en-US" b="true" sz="5400" spc="270">
                <a:solidFill>
                  <a:srgbClr val="000000"/>
                </a:solidFill>
                <a:latin typeface="Helios Extended Bold"/>
                <a:ea typeface="Helios Extended Bold"/>
                <a:cs typeface="Helios Extended Bold"/>
                <a:sym typeface="Helios Extended Bold"/>
              </a:rPr>
              <a:t>MINIMAL VIABLE PRODUCT (MVP)</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81724" y="6521339"/>
            <a:ext cx="4040876" cy="3509182"/>
          </a:xfrm>
          <a:custGeom>
            <a:avLst/>
            <a:gdLst/>
            <a:ahLst/>
            <a:cxnLst/>
            <a:rect r="r" b="b" t="t" l="l"/>
            <a:pathLst>
              <a:path h="3509182" w="4040876">
                <a:moveTo>
                  <a:pt x="0" y="0"/>
                </a:moveTo>
                <a:lnTo>
                  <a:pt x="4040876" y="0"/>
                </a:lnTo>
                <a:lnTo>
                  <a:pt x="4040876" y="3509183"/>
                </a:lnTo>
                <a:lnTo>
                  <a:pt x="0" y="3509183"/>
                </a:lnTo>
                <a:lnTo>
                  <a:pt x="0" y="0"/>
                </a:lnTo>
                <a:close/>
              </a:path>
            </a:pathLst>
          </a:custGeom>
          <a:blipFill>
            <a:blip r:embed="rId2">
              <a:alphaModFix amt="48000"/>
            </a:blip>
            <a:stretch>
              <a:fillRect l="0" t="0" r="0" b="0"/>
            </a:stretch>
          </a:blipFill>
        </p:spPr>
      </p:sp>
      <p:sp>
        <p:nvSpPr>
          <p:cNvPr name="TextBox 3" id="3"/>
          <p:cNvSpPr txBox="true"/>
          <p:nvPr/>
        </p:nvSpPr>
        <p:spPr>
          <a:xfrm rot="0">
            <a:off x="1482759" y="2049780"/>
            <a:ext cx="15322482" cy="5920740"/>
          </a:xfrm>
          <a:prstGeom prst="rect">
            <a:avLst/>
          </a:prstGeom>
        </p:spPr>
        <p:txBody>
          <a:bodyPr anchor="t" rtlCol="false" tIns="0" lIns="0" bIns="0" rIns="0">
            <a:spAutoFit/>
          </a:bodyPr>
          <a:lstStyle/>
          <a:p>
            <a:pPr algn="l">
              <a:lnSpc>
                <a:spcPts val="5250"/>
              </a:lnSpc>
            </a:pPr>
            <a:r>
              <a:rPr lang="en-US" sz="2100" spc="210">
                <a:solidFill>
                  <a:srgbClr val="000000"/>
                </a:solidFill>
                <a:latin typeface="Lato"/>
                <a:ea typeface="Lato"/>
                <a:cs typeface="Lato"/>
                <a:sym typeface="Lato"/>
              </a:rPr>
              <a:t>● Journal Input Manager : Handles user journal entry input and submission through the web interface.</a:t>
            </a:r>
          </a:p>
          <a:p>
            <a:pPr algn="l">
              <a:lnSpc>
                <a:spcPts val="5250"/>
              </a:lnSpc>
            </a:pPr>
            <a:r>
              <a:rPr lang="en-US" sz="2100" spc="210">
                <a:solidFill>
                  <a:srgbClr val="000000"/>
                </a:solidFill>
                <a:latin typeface="Lato"/>
                <a:ea typeface="Lato"/>
                <a:cs typeface="Lato"/>
                <a:sym typeface="Lato"/>
              </a:rPr>
              <a:t>● Backend API Manager : Manages HTTP requests and communication between frontend, sentiment model, and database.</a:t>
            </a:r>
          </a:p>
          <a:p>
            <a:pPr algn="l">
              <a:lnSpc>
                <a:spcPts val="5250"/>
              </a:lnSpc>
            </a:pPr>
            <a:r>
              <a:rPr lang="en-US" sz="2100" spc="210">
                <a:solidFill>
                  <a:srgbClr val="000000"/>
                </a:solidFill>
                <a:latin typeface="Lato"/>
                <a:ea typeface="Lato"/>
                <a:cs typeface="Lato"/>
                <a:sym typeface="Lato"/>
              </a:rPr>
              <a:t>● Sentiment Analysis Manager : Processes journal text and classifies sentiment (Positive / Neutral / Negative).</a:t>
            </a:r>
          </a:p>
          <a:p>
            <a:pPr algn="l">
              <a:lnSpc>
                <a:spcPts val="5250"/>
              </a:lnSpc>
            </a:pPr>
            <a:r>
              <a:rPr lang="en-US" sz="2100" spc="210">
                <a:solidFill>
                  <a:srgbClr val="000000"/>
                </a:solidFill>
                <a:latin typeface="Lato"/>
                <a:ea typeface="Lato"/>
                <a:cs typeface="Lato"/>
                <a:sym typeface="Lato"/>
              </a:rPr>
              <a:t>● Confidence Scoring Module: Extracts prediction probability scores from the DistilBERT output.</a:t>
            </a:r>
          </a:p>
          <a:p>
            <a:pPr algn="l">
              <a:lnSpc>
                <a:spcPts val="5250"/>
              </a:lnSpc>
            </a:pPr>
            <a:r>
              <a:rPr lang="en-US" sz="2100" spc="210">
                <a:solidFill>
                  <a:srgbClr val="000000"/>
                </a:solidFill>
                <a:latin typeface="Lato"/>
                <a:ea typeface="Lato"/>
                <a:cs typeface="Lato"/>
                <a:sym typeface="Lato"/>
              </a:rPr>
              <a:t>● Mood Feedback Generator: Converts sentiment results into short, supportive emotional insights.</a:t>
            </a:r>
          </a:p>
          <a:p>
            <a:pPr algn="l">
              <a:lnSpc>
                <a:spcPts val="5250"/>
              </a:lnSpc>
            </a:pPr>
            <a:r>
              <a:rPr lang="en-US" sz="2100" spc="210">
                <a:solidFill>
                  <a:srgbClr val="000000"/>
                </a:solidFill>
                <a:latin typeface="Lato"/>
                <a:ea typeface="Lato"/>
                <a:cs typeface="Lato"/>
                <a:sym typeface="Lato"/>
              </a:rPr>
              <a:t>● Data Persistence Layer : Stores journal entries, sentiment labels, confidence scores, and timestamps.</a:t>
            </a:r>
          </a:p>
          <a:p>
            <a:pPr algn="l">
              <a:lnSpc>
                <a:spcPts val="5250"/>
              </a:lnSpc>
            </a:pPr>
            <a:r>
              <a:rPr lang="en-US" sz="2100" spc="210">
                <a:solidFill>
                  <a:srgbClr val="000000"/>
                </a:solidFill>
                <a:latin typeface="Lato"/>
                <a:ea typeface="Lato"/>
                <a:cs typeface="Lato"/>
                <a:sym typeface="Lato"/>
              </a:rPr>
              <a:t>● Mood Visualization Manager: Retrieves stored data and generates mood distribution charts over time.</a:t>
            </a:r>
          </a:p>
        </p:txBody>
      </p:sp>
      <p:sp>
        <p:nvSpPr>
          <p:cNvPr name="TextBox 4" id="4"/>
          <p:cNvSpPr txBox="true"/>
          <p:nvPr/>
        </p:nvSpPr>
        <p:spPr>
          <a:xfrm rot="0">
            <a:off x="1428644" y="601565"/>
            <a:ext cx="15430711" cy="948690"/>
          </a:xfrm>
          <a:prstGeom prst="rect">
            <a:avLst/>
          </a:prstGeom>
        </p:spPr>
        <p:txBody>
          <a:bodyPr anchor="t" rtlCol="false" tIns="0" lIns="0" bIns="0" rIns="0">
            <a:spAutoFit/>
          </a:bodyPr>
          <a:lstStyle/>
          <a:p>
            <a:pPr algn="ctr" marL="0" indent="0" lvl="0">
              <a:lnSpc>
                <a:spcPts val="7560"/>
              </a:lnSpc>
            </a:pPr>
            <a:r>
              <a:rPr lang="en-US" b="true" sz="5400" spc="270">
                <a:solidFill>
                  <a:srgbClr val="000000"/>
                </a:solidFill>
                <a:latin typeface="Helios Extended Bold"/>
                <a:ea typeface="Helios Extended Bold"/>
                <a:cs typeface="Helios Extended Bold"/>
                <a:sym typeface="Helios Extended Bold"/>
              </a:rPr>
              <a:t>COMPONENTS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017308" y="1787647"/>
            <a:ext cx="12253383" cy="6711705"/>
          </a:xfrm>
          <a:custGeom>
            <a:avLst/>
            <a:gdLst/>
            <a:ahLst/>
            <a:cxnLst/>
            <a:rect r="r" b="b" t="t" l="l"/>
            <a:pathLst>
              <a:path h="6711705" w="12253383">
                <a:moveTo>
                  <a:pt x="0" y="0"/>
                </a:moveTo>
                <a:lnTo>
                  <a:pt x="12253384" y="0"/>
                </a:lnTo>
                <a:lnTo>
                  <a:pt x="12253384" y="6711706"/>
                </a:lnTo>
                <a:lnTo>
                  <a:pt x="0" y="6711706"/>
                </a:lnTo>
                <a:lnTo>
                  <a:pt x="0" y="0"/>
                </a:lnTo>
                <a:close/>
              </a:path>
            </a:pathLst>
          </a:custGeom>
          <a:blipFill>
            <a:blip r:embed="rId2"/>
            <a:stretch>
              <a:fillRect l="0" t="0" r="0" b="0"/>
            </a:stretch>
          </a:blipFill>
        </p:spPr>
      </p:sp>
      <p:sp>
        <p:nvSpPr>
          <p:cNvPr name="TextBox 3" id="3"/>
          <p:cNvSpPr txBox="true"/>
          <p:nvPr/>
        </p:nvSpPr>
        <p:spPr>
          <a:xfrm rot="0">
            <a:off x="4798814" y="604825"/>
            <a:ext cx="8690372" cy="733450"/>
          </a:xfrm>
          <a:prstGeom prst="rect">
            <a:avLst/>
          </a:prstGeom>
        </p:spPr>
        <p:txBody>
          <a:bodyPr anchor="t" rtlCol="false" tIns="0" lIns="0" bIns="0" rIns="0">
            <a:spAutoFit/>
          </a:bodyPr>
          <a:lstStyle/>
          <a:p>
            <a:pPr algn="l" marL="0" indent="0" lvl="0">
              <a:lnSpc>
                <a:spcPts val="5773"/>
              </a:lnSpc>
              <a:spcBef>
                <a:spcPct val="0"/>
              </a:spcBef>
            </a:pPr>
            <a:r>
              <a:rPr lang="en-US" b="true" sz="4124" spc="206" strike="noStrike" u="none">
                <a:solidFill>
                  <a:srgbClr val="000000"/>
                </a:solidFill>
                <a:latin typeface="Helios Extended Bold"/>
                <a:ea typeface="Helios Extended Bold"/>
                <a:cs typeface="Helios Extended Bold"/>
                <a:sym typeface="Helios Extended Bold"/>
              </a:rPr>
              <a:t>ARCHITECTURE DIAGRAM</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799647" y="1604475"/>
            <a:ext cx="6688706" cy="8267759"/>
          </a:xfrm>
          <a:custGeom>
            <a:avLst/>
            <a:gdLst/>
            <a:ahLst/>
            <a:cxnLst/>
            <a:rect r="r" b="b" t="t" l="l"/>
            <a:pathLst>
              <a:path h="8267759" w="6688706">
                <a:moveTo>
                  <a:pt x="0" y="0"/>
                </a:moveTo>
                <a:lnTo>
                  <a:pt x="6688706" y="0"/>
                </a:lnTo>
                <a:lnTo>
                  <a:pt x="6688706" y="8267759"/>
                </a:lnTo>
                <a:lnTo>
                  <a:pt x="0" y="8267759"/>
                </a:lnTo>
                <a:lnTo>
                  <a:pt x="0" y="0"/>
                </a:lnTo>
                <a:close/>
              </a:path>
            </a:pathLst>
          </a:custGeom>
          <a:blipFill>
            <a:blip r:embed="rId2"/>
            <a:stretch>
              <a:fillRect l="0" t="0" r="0" b="0"/>
            </a:stretch>
          </a:blipFill>
        </p:spPr>
      </p:sp>
      <p:sp>
        <p:nvSpPr>
          <p:cNvPr name="TextBox 3" id="3"/>
          <p:cNvSpPr txBox="true"/>
          <p:nvPr/>
        </p:nvSpPr>
        <p:spPr>
          <a:xfrm rot="0">
            <a:off x="6970216" y="604825"/>
            <a:ext cx="4347567" cy="733450"/>
          </a:xfrm>
          <a:prstGeom prst="rect">
            <a:avLst/>
          </a:prstGeom>
        </p:spPr>
        <p:txBody>
          <a:bodyPr anchor="t" rtlCol="false" tIns="0" lIns="0" bIns="0" rIns="0">
            <a:spAutoFit/>
          </a:bodyPr>
          <a:lstStyle/>
          <a:p>
            <a:pPr algn="l" marL="0" indent="0" lvl="0">
              <a:lnSpc>
                <a:spcPts val="5773"/>
              </a:lnSpc>
              <a:spcBef>
                <a:spcPct val="0"/>
              </a:spcBef>
            </a:pPr>
            <a:r>
              <a:rPr lang="en-US" b="true" sz="4124" spc="206" strike="noStrike" u="none">
                <a:solidFill>
                  <a:srgbClr val="000000"/>
                </a:solidFill>
                <a:latin typeface="Helios Extended Bold"/>
                <a:ea typeface="Helios Extended Bold"/>
                <a:cs typeface="Helios Extended Bold"/>
                <a:sym typeface="Helios Extended Bold"/>
              </a:rPr>
              <a:t>ER DIAGRAM</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48173" y="1539921"/>
            <a:ext cx="13391655" cy="7516734"/>
          </a:xfrm>
          <a:custGeom>
            <a:avLst/>
            <a:gdLst/>
            <a:ahLst/>
            <a:cxnLst/>
            <a:rect r="r" b="b" t="t" l="l"/>
            <a:pathLst>
              <a:path h="7516734" w="13391655">
                <a:moveTo>
                  <a:pt x="0" y="0"/>
                </a:moveTo>
                <a:lnTo>
                  <a:pt x="13391654" y="0"/>
                </a:lnTo>
                <a:lnTo>
                  <a:pt x="13391654" y="7516733"/>
                </a:lnTo>
                <a:lnTo>
                  <a:pt x="0" y="7516733"/>
                </a:lnTo>
                <a:lnTo>
                  <a:pt x="0" y="0"/>
                </a:lnTo>
                <a:close/>
              </a:path>
            </a:pathLst>
          </a:custGeom>
          <a:blipFill>
            <a:blip r:embed="rId2"/>
            <a:stretch>
              <a:fillRect l="0" t="0" r="0" b="0"/>
            </a:stretch>
          </a:blipFill>
        </p:spPr>
      </p:sp>
      <p:sp>
        <p:nvSpPr>
          <p:cNvPr name="TextBox 3" id="3"/>
          <p:cNvSpPr txBox="true"/>
          <p:nvPr/>
        </p:nvSpPr>
        <p:spPr>
          <a:xfrm rot="0">
            <a:off x="5836332" y="604825"/>
            <a:ext cx="6615336" cy="733450"/>
          </a:xfrm>
          <a:prstGeom prst="rect">
            <a:avLst/>
          </a:prstGeom>
        </p:spPr>
        <p:txBody>
          <a:bodyPr anchor="t" rtlCol="false" tIns="0" lIns="0" bIns="0" rIns="0">
            <a:spAutoFit/>
          </a:bodyPr>
          <a:lstStyle/>
          <a:p>
            <a:pPr algn="l" marL="0" indent="0" lvl="0">
              <a:lnSpc>
                <a:spcPts val="5773"/>
              </a:lnSpc>
              <a:spcBef>
                <a:spcPct val="0"/>
              </a:spcBef>
            </a:pPr>
            <a:r>
              <a:rPr lang="en-US" b="true" sz="4124" spc="206" strike="noStrike" u="none">
                <a:solidFill>
                  <a:srgbClr val="000000"/>
                </a:solidFill>
                <a:latin typeface="Helios Extended Bold"/>
                <a:ea typeface="Helios Extended Bold"/>
                <a:cs typeface="Helios Extended Bold"/>
                <a:sym typeface="Helios Extended Bold"/>
              </a:rPr>
              <a:t>CONTEXT DIAGRAM</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11574" y="1028700"/>
            <a:ext cx="10727681" cy="8445455"/>
          </a:xfrm>
          <a:custGeom>
            <a:avLst/>
            <a:gdLst/>
            <a:ahLst/>
            <a:cxnLst/>
            <a:rect r="r" b="b" t="t" l="l"/>
            <a:pathLst>
              <a:path h="8445455" w="10727681">
                <a:moveTo>
                  <a:pt x="0" y="0"/>
                </a:moveTo>
                <a:lnTo>
                  <a:pt x="10727681" y="0"/>
                </a:lnTo>
                <a:lnTo>
                  <a:pt x="10727681" y="8445455"/>
                </a:lnTo>
                <a:lnTo>
                  <a:pt x="0" y="8445455"/>
                </a:lnTo>
                <a:lnTo>
                  <a:pt x="0" y="0"/>
                </a:lnTo>
                <a:close/>
              </a:path>
            </a:pathLst>
          </a:custGeom>
          <a:blipFill>
            <a:blip r:embed="rId2"/>
            <a:stretch>
              <a:fillRect l="0" t="0" r="0" b="0"/>
            </a:stretch>
          </a:blipFill>
        </p:spPr>
      </p:sp>
      <p:sp>
        <p:nvSpPr>
          <p:cNvPr name="TextBox 3" id="3"/>
          <p:cNvSpPr txBox="true"/>
          <p:nvPr/>
        </p:nvSpPr>
        <p:spPr>
          <a:xfrm rot="0">
            <a:off x="2249011" y="285906"/>
            <a:ext cx="13789978" cy="742794"/>
          </a:xfrm>
          <a:prstGeom prst="rect">
            <a:avLst/>
          </a:prstGeom>
        </p:spPr>
        <p:txBody>
          <a:bodyPr anchor="t" rtlCol="false" tIns="0" lIns="0" bIns="0" rIns="0">
            <a:spAutoFit/>
          </a:bodyPr>
          <a:lstStyle/>
          <a:p>
            <a:pPr algn="l" marL="0" indent="0" lvl="0">
              <a:lnSpc>
                <a:spcPts val="5773"/>
              </a:lnSpc>
              <a:spcBef>
                <a:spcPct val="0"/>
              </a:spcBef>
            </a:pPr>
            <a:r>
              <a:rPr lang="en-US" b="true" sz="4124" spc="206" strike="noStrike" u="none">
                <a:solidFill>
                  <a:srgbClr val="000000"/>
                </a:solidFill>
                <a:latin typeface="Helios Extended Bold"/>
                <a:ea typeface="Helios Extended Bold"/>
                <a:cs typeface="Helios Extended Bold"/>
                <a:sym typeface="Helios Extended Bold"/>
              </a:rPr>
              <a:t>SEQUENCE DIAGRAM - JOURNAL ENTRY</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116779" y="1916145"/>
            <a:ext cx="9604461" cy="7215148"/>
          </a:xfrm>
          <a:custGeom>
            <a:avLst/>
            <a:gdLst/>
            <a:ahLst/>
            <a:cxnLst/>
            <a:rect r="r" b="b" t="t" l="l"/>
            <a:pathLst>
              <a:path h="7215148" w="9604461">
                <a:moveTo>
                  <a:pt x="0" y="0"/>
                </a:moveTo>
                <a:lnTo>
                  <a:pt x="9604461" y="0"/>
                </a:lnTo>
                <a:lnTo>
                  <a:pt x="9604461" y="7215148"/>
                </a:lnTo>
                <a:lnTo>
                  <a:pt x="0" y="7215148"/>
                </a:lnTo>
                <a:lnTo>
                  <a:pt x="0" y="0"/>
                </a:lnTo>
                <a:close/>
              </a:path>
            </a:pathLst>
          </a:custGeom>
          <a:blipFill>
            <a:blip r:embed="rId2"/>
            <a:stretch>
              <a:fillRect l="0" t="-3633" r="0" b="-3633"/>
            </a:stretch>
          </a:blipFill>
        </p:spPr>
      </p:sp>
      <p:sp>
        <p:nvSpPr>
          <p:cNvPr name="TextBox 3" id="3"/>
          <p:cNvSpPr txBox="true"/>
          <p:nvPr/>
        </p:nvSpPr>
        <p:spPr>
          <a:xfrm rot="0">
            <a:off x="7151689" y="923925"/>
            <a:ext cx="4418707" cy="741044"/>
          </a:xfrm>
          <a:prstGeom prst="rect">
            <a:avLst/>
          </a:prstGeom>
        </p:spPr>
        <p:txBody>
          <a:bodyPr anchor="t" rtlCol="false" tIns="0" lIns="0" bIns="0" rIns="0">
            <a:spAutoFit/>
          </a:bodyPr>
          <a:lstStyle/>
          <a:p>
            <a:pPr algn="l"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DASHBOARD</a:t>
            </a:r>
          </a:p>
        </p:txBody>
      </p:sp>
      <p:sp>
        <p:nvSpPr>
          <p:cNvPr name="TextBox 4" id="4"/>
          <p:cNvSpPr txBox="true"/>
          <p:nvPr/>
        </p:nvSpPr>
        <p:spPr>
          <a:xfrm rot="0">
            <a:off x="5393396" y="219076"/>
            <a:ext cx="7935292" cy="809624"/>
          </a:xfrm>
          <a:prstGeom prst="rect">
            <a:avLst/>
          </a:prstGeom>
        </p:spPr>
        <p:txBody>
          <a:bodyPr anchor="t" rtlCol="false" tIns="0" lIns="0" bIns="0" rIns="0">
            <a:spAutoFit/>
          </a:bodyPr>
          <a:lstStyle/>
          <a:p>
            <a:pPr algn="l" marL="0" indent="0" lvl="0">
              <a:lnSpc>
                <a:spcPts val="6300"/>
              </a:lnSpc>
              <a:spcBef>
                <a:spcPct val="0"/>
              </a:spcBef>
            </a:pPr>
            <a:r>
              <a:rPr lang="en-US" b="true" sz="4500" spc="225" strike="noStrike" u="none">
                <a:solidFill>
                  <a:srgbClr val="000000"/>
                </a:solidFill>
                <a:latin typeface="Helios Extended Bold"/>
                <a:ea typeface="Helios Extended Bold"/>
                <a:cs typeface="Helios Extended Bold"/>
                <a:sym typeface="Helios Extended Bold"/>
              </a:rPr>
              <a:t>SEQUENCE DIAGRAM</a:t>
            </a: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603608" y="-81205"/>
            <a:ext cx="9080784" cy="948690"/>
          </a:xfrm>
          <a:prstGeom prst="rect">
            <a:avLst/>
          </a:prstGeom>
        </p:spPr>
        <p:txBody>
          <a:bodyPr anchor="t" rtlCol="false" tIns="0" lIns="0" bIns="0" rIns="0">
            <a:spAutoFit/>
          </a:bodyPr>
          <a:lstStyle/>
          <a:p>
            <a:pPr algn="l" marL="0" indent="0" lvl="0">
              <a:lnSpc>
                <a:spcPts val="7560"/>
              </a:lnSpc>
            </a:pPr>
            <a:r>
              <a:rPr lang="en-US" b="true" sz="5400" spc="270">
                <a:solidFill>
                  <a:srgbClr val="000000"/>
                </a:solidFill>
                <a:latin typeface="Helios Extended Bold"/>
                <a:ea typeface="Helios Extended Bold"/>
                <a:cs typeface="Helios Extended Bold"/>
                <a:sym typeface="Helios Extended Bold"/>
              </a:rPr>
              <a:t>PRODUCT BACKLOG</a:t>
            </a:r>
          </a:p>
        </p:txBody>
      </p:sp>
      <p:grpSp>
        <p:nvGrpSpPr>
          <p:cNvPr name="Group 3" id="3"/>
          <p:cNvGrpSpPr/>
          <p:nvPr/>
        </p:nvGrpSpPr>
        <p:grpSpPr>
          <a:xfrm rot="0">
            <a:off x="19050" y="867485"/>
            <a:ext cx="18593810" cy="9802186"/>
            <a:chOff x="0" y="0"/>
            <a:chExt cx="4553331" cy="2400426"/>
          </a:xfrm>
        </p:grpSpPr>
        <p:sp>
          <p:nvSpPr>
            <p:cNvPr name="Freeform 4" id="4"/>
            <p:cNvSpPr/>
            <p:nvPr/>
          </p:nvSpPr>
          <p:spPr>
            <a:xfrm flipH="false" flipV="false" rot="0">
              <a:off x="0" y="0"/>
              <a:ext cx="4553331" cy="2400426"/>
            </a:xfrm>
            <a:custGeom>
              <a:avLst/>
              <a:gdLst/>
              <a:ahLst/>
              <a:cxnLst/>
              <a:rect r="r" b="b" t="t" l="l"/>
              <a:pathLst>
                <a:path h="2400426" w="4553331">
                  <a:moveTo>
                    <a:pt x="4553331" y="21651"/>
                  </a:moveTo>
                  <a:lnTo>
                    <a:pt x="4553331" y="2378774"/>
                  </a:lnTo>
                  <a:cubicBezTo>
                    <a:pt x="4553331" y="2384517"/>
                    <a:pt x="4551050" y="2390024"/>
                    <a:pt x="4546990" y="2394084"/>
                  </a:cubicBezTo>
                  <a:cubicBezTo>
                    <a:pt x="4542929" y="2398145"/>
                    <a:pt x="4537422" y="2400426"/>
                    <a:pt x="4531680" y="2400426"/>
                  </a:cubicBezTo>
                  <a:lnTo>
                    <a:pt x="21651" y="2400426"/>
                  </a:lnTo>
                  <a:cubicBezTo>
                    <a:pt x="9694" y="2400426"/>
                    <a:pt x="0" y="2390732"/>
                    <a:pt x="0" y="2378774"/>
                  </a:cubicBezTo>
                  <a:lnTo>
                    <a:pt x="0" y="21651"/>
                  </a:lnTo>
                  <a:cubicBezTo>
                    <a:pt x="0" y="9694"/>
                    <a:pt x="9694" y="0"/>
                    <a:pt x="21651" y="0"/>
                  </a:cubicBezTo>
                  <a:lnTo>
                    <a:pt x="4531680" y="0"/>
                  </a:lnTo>
                  <a:cubicBezTo>
                    <a:pt x="4537422" y="0"/>
                    <a:pt x="4542929" y="2281"/>
                    <a:pt x="4546990" y="6342"/>
                  </a:cubicBezTo>
                  <a:cubicBezTo>
                    <a:pt x="4551050" y="10402"/>
                    <a:pt x="4553331" y="15909"/>
                    <a:pt x="4553331" y="21651"/>
                  </a:cubicBezTo>
                  <a:close/>
                </a:path>
              </a:pathLst>
            </a:custGeom>
            <a:solidFill>
              <a:srgbClr val="F2F1F1">
                <a:alpha val="80000"/>
              </a:srgbClr>
            </a:solidFill>
          </p:spPr>
        </p:sp>
        <p:sp>
          <p:nvSpPr>
            <p:cNvPr name="TextBox 5" id="5"/>
            <p:cNvSpPr txBox="true"/>
            <p:nvPr/>
          </p:nvSpPr>
          <p:spPr>
            <a:xfrm>
              <a:off x="0" y="-47625"/>
              <a:ext cx="4553331" cy="2448051"/>
            </a:xfrm>
            <a:prstGeom prst="rect">
              <a:avLst/>
            </a:prstGeom>
          </p:spPr>
          <p:txBody>
            <a:bodyPr anchor="ctr" rtlCol="false" tIns="50800" lIns="50800" bIns="50800" rIns="50800"/>
            <a:lstStyle/>
            <a:p>
              <a:pPr algn="ctr">
                <a:lnSpc>
                  <a:spcPts val="3359"/>
                </a:lnSpc>
              </a:pPr>
            </a:p>
          </p:txBody>
        </p:sp>
      </p:grpSp>
      <p:sp>
        <p:nvSpPr>
          <p:cNvPr name="TextBox 6" id="6"/>
          <p:cNvSpPr txBox="true"/>
          <p:nvPr/>
        </p:nvSpPr>
        <p:spPr>
          <a:xfrm rot="0">
            <a:off x="1922733" y="940472"/>
            <a:ext cx="2872090" cy="1054543"/>
          </a:xfrm>
          <a:prstGeom prst="rect">
            <a:avLst/>
          </a:prstGeom>
        </p:spPr>
        <p:txBody>
          <a:bodyPr anchor="t" rtlCol="false" tIns="0" lIns="0" bIns="0" rIns="0">
            <a:spAutoFit/>
          </a:bodyPr>
          <a:lstStyle/>
          <a:p>
            <a:pPr algn="ctr">
              <a:lnSpc>
                <a:spcPts val="4286"/>
              </a:lnSpc>
            </a:pPr>
            <a:r>
              <a:rPr lang="en-US" b="true" sz="2678" spc="267">
                <a:solidFill>
                  <a:srgbClr val="000000"/>
                </a:solidFill>
                <a:latin typeface="Lato Bold"/>
                <a:ea typeface="Lato Bold"/>
                <a:cs typeface="Lato Bold"/>
                <a:sym typeface="Lato Bold"/>
              </a:rPr>
              <a:t>Core Journal </a:t>
            </a:r>
          </a:p>
          <a:p>
            <a:pPr algn="ctr">
              <a:lnSpc>
                <a:spcPts val="4286"/>
              </a:lnSpc>
            </a:pPr>
            <a:r>
              <a:rPr lang="en-US" b="true" sz="2678" spc="267">
                <a:solidFill>
                  <a:srgbClr val="000000"/>
                </a:solidFill>
                <a:latin typeface="Lato Bold"/>
                <a:ea typeface="Lato Bold"/>
                <a:cs typeface="Lato Bold"/>
                <a:sym typeface="Lato Bold"/>
              </a:rPr>
              <a:t>Functionality</a:t>
            </a:r>
          </a:p>
        </p:txBody>
      </p:sp>
      <p:sp>
        <p:nvSpPr>
          <p:cNvPr name="TextBox 7" id="7"/>
          <p:cNvSpPr txBox="true"/>
          <p:nvPr/>
        </p:nvSpPr>
        <p:spPr>
          <a:xfrm rot="0">
            <a:off x="7839130" y="973566"/>
            <a:ext cx="2515706" cy="1054543"/>
          </a:xfrm>
          <a:prstGeom prst="rect">
            <a:avLst/>
          </a:prstGeom>
        </p:spPr>
        <p:txBody>
          <a:bodyPr anchor="t" rtlCol="false" tIns="0" lIns="0" bIns="0" rIns="0">
            <a:spAutoFit/>
          </a:bodyPr>
          <a:lstStyle/>
          <a:p>
            <a:pPr algn="ctr">
              <a:lnSpc>
                <a:spcPts val="4286"/>
              </a:lnSpc>
            </a:pPr>
            <a:r>
              <a:rPr lang="en-US" b="true" sz="2678" spc="267">
                <a:solidFill>
                  <a:srgbClr val="000000"/>
                </a:solidFill>
                <a:latin typeface="Lato Bold"/>
                <a:ea typeface="Lato Bold"/>
                <a:cs typeface="Lato Bold"/>
                <a:sym typeface="Lato Bold"/>
              </a:rPr>
              <a:t>Processing &amp;</a:t>
            </a:r>
          </a:p>
          <a:p>
            <a:pPr algn="ctr">
              <a:lnSpc>
                <a:spcPts val="4286"/>
              </a:lnSpc>
            </a:pPr>
            <a:r>
              <a:rPr lang="en-US" b="true" sz="2678" spc="267">
                <a:solidFill>
                  <a:srgbClr val="000000"/>
                </a:solidFill>
                <a:latin typeface="Lato Bold"/>
                <a:ea typeface="Lato Bold"/>
                <a:cs typeface="Lato Bold"/>
                <a:sym typeface="Lato Bold"/>
              </a:rPr>
              <a:t> AI Analysis</a:t>
            </a:r>
          </a:p>
        </p:txBody>
      </p:sp>
      <p:sp>
        <p:nvSpPr>
          <p:cNvPr name="TextBox 8" id="8"/>
          <p:cNvSpPr txBox="true"/>
          <p:nvPr/>
        </p:nvSpPr>
        <p:spPr>
          <a:xfrm rot="0">
            <a:off x="13399142" y="940472"/>
            <a:ext cx="2966125" cy="1054543"/>
          </a:xfrm>
          <a:prstGeom prst="rect">
            <a:avLst/>
          </a:prstGeom>
        </p:spPr>
        <p:txBody>
          <a:bodyPr anchor="t" rtlCol="false" tIns="0" lIns="0" bIns="0" rIns="0">
            <a:spAutoFit/>
          </a:bodyPr>
          <a:lstStyle/>
          <a:p>
            <a:pPr algn="ctr">
              <a:lnSpc>
                <a:spcPts val="4286"/>
              </a:lnSpc>
            </a:pPr>
            <a:r>
              <a:rPr lang="en-US" b="true" sz="2678" spc="267">
                <a:solidFill>
                  <a:srgbClr val="000000"/>
                </a:solidFill>
                <a:latin typeface="Lato Bold"/>
                <a:ea typeface="Lato Bold"/>
                <a:cs typeface="Lato Bold"/>
                <a:sym typeface="Lato Bold"/>
              </a:rPr>
              <a:t>Results &amp; </a:t>
            </a:r>
          </a:p>
          <a:p>
            <a:pPr algn="ctr">
              <a:lnSpc>
                <a:spcPts val="4286"/>
              </a:lnSpc>
            </a:pPr>
            <a:r>
              <a:rPr lang="en-US" b="true" sz="2678" spc="267">
                <a:solidFill>
                  <a:srgbClr val="000000"/>
                </a:solidFill>
                <a:latin typeface="Lato Bold"/>
                <a:ea typeface="Lato Bold"/>
                <a:cs typeface="Lato Bold"/>
                <a:sym typeface="Lato Bold"/>
              </a:rPr>
              <a:t>User Feedback</a:t>
            </a:r>
          </a:p>
        </p:txBody>
      </p:sp>
      <p:sp>
        <p:nvSpPr>
          <p:cNvPr name="TextBox 9" id="9"/>
          <p:cNvSpPr txBox="true"/>
          <p:nvPr/>
        </p:nvSpPr>
        <p:spPr>
          <a:xfrm rot="0">
            <a:off x="725959" y="2343983"/>
            <a:ext cx="5404103" cy="7191375"/>
          </a:xfrm>
          <a:prstGeom prst="rect">
            <a:avLst/>
          </a:prstGeom>
        </p:spPr>
        <p:txBody>
          <a:bodyPr anchor="t" rtlCol="false" tIns="0" lIns="0" bIns="0" rIns="0">
            <a:spAutoFit/>
          </a:bodyPr>
          <a:lstStyle/>
          <a:p>
            <a:pPr algn="l">
              <a:lnSpc>
                <a:spcPts val="2078"/>
              </a:lnSpc>
            </a:pPr>
            <a:r>
              <a:rPr lang="en-US" sz="1731" b="true">
                <a:solidFill>
                  <a:srgbClr val="000000"/>
                </a:solidFill>
                <a:latin typeface="Open Sauce Bold"/>
                <a:ea typeface="Open Sauce Bold"/>
                <a:cs typeface="Open Sauce Bold"/>
                <a:sym typeface="Open Sauce Bold"/>
              </a:rPr>
              <a:t>US1 – Journal Entry Submission</a:t>
            </a:r>
          </a:p>
          <a:p>
            <a:pPr algn="l">
              <a:lnSpc>
                <a:spcPts val="2078"/>
              </a:lnSpc>
            </a:pPr>
          </a:p>
          <a:p>
            <a:pPr algn="l">
              <a:lnSpc>
                <a:spcPts val="2078"/>
              </a:lnSpc>
            </a:pPr>
            <a:r>
              <a:rPr lang="en-US" sz="1731">
                <a:solidFill>
                  <a:srgbClr val="000000"/>
                </a:solidFill>
                <a:latin typeface="Open Sauce"/>
                <a:ea typeface="Open Sauce"/>
                <a:cs typeface="Open Sauce"/>
                <a:sym typeface="Open Sauce"/>
              </a:rPr>
              <a:t>As a user, I want to write and submit a journal entry so that I can reflect on my daily emotions.</a:t>
            </a:r>
          </a:p>
          <a:p>
            <a:pPr algn="l">
              <a:lnSpc>
                <a:spcPts val="2078"/>
              </a:lnSpc>
            </a:pPr>
            <a:r>
              <a:rPr lang="en-US" sz="1731">
                <a:solidFill>
                  <a:srgbClr val="000000"/>
                </a:solidFill>
                <a:latin typeface="Open Sauce"/>
                <a:ea typeface="Open Sauce"/>
                <a:cs typeface="Open Sauce"/>
                <a:sym typeface="Open Sauce"/>
              </a:rPr>
              <a:t>Acceptance Criteria</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Text input available</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Submit button works</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No empty submissions allowed</a:t>
            </a:r>
          </a:p>
          <a:p>
            <a:pPr algn="l">
              <a:lnSpc>
                <a:spcPts val="2078"/>
              </a:lnSpc>
            </a:pPr>
            <a:r>
              <a:rPr lang="en-US" sz="1731">
                <a:solidFill>
                  <a:srgbClr val="000000"/>
                </a:solidFill>
                <a:latin typeface="Open Sauce"/>
                <a:ea typeface="Open Sauce"/>
                <a:cs typeface="Open Sauce"/>
                <a:sym typeface="Open Sauce"/>
              </a:rPr>
              <a:t>Priority: Must                               Story Points: 3</a:t>
            </a:r>
          </a:p>
          <a:p>
            <a:pPr algn="l">
              <a:lnSpc>
                <a:spcPts val="2078"/>
              </a:lnSpc>
            </a:pPr>
          </a:p>
          <a:p>
            <a:pPr algn="l">
              <a:lnSpc>
                <a:spcPts val="2078"/>
              </a:lnSpc>
            </a:pPr>
            <a:r>
              <a:rPr lang="en-US" sz="1731" b="true">
                <a:solidFill>
                  <a:srgbClr val="000000"/>
                </a:solidFill>
                <a:latin typeface="Open Sauce Bold"/>
                <a:ea typeface="Open Sauce Bold"/>
                <a:cs typeface="Open Sauce Bold"/>
                <a:sym typeface="Open Sauce Bold"/>
              </a:rPr>
              <a:t>US7 – Input Validation</a:t>
            </a:r>
          </a:p>
          <a:p>
            <a:pPr algn="l">
              <a:lnSpc>
                <a:spcPts val="2078"/>
              </a:lnSpc>
            </a:pPr>
          </a:p>
          <a:p>
            <a:pPr algn="l">
              <a:lnSpc>
                <a:spcPts val="2078"/>
              </a:lnSpc>
            </a:pPr>
            <a:r>
              <a:rPr lang="en-US" sz="1731">
                <a:solidFill>
                  <a:srgbClr val="000000"/>
                </a:solidFill>
                <a:latin typeface="Open Sauce"/>
                <a:ea typeface="Open Sauce"/>
                <a:cs typeface="Open Sauce"/>
                <a:sym typeface="Open Sauce"/>
              </a:rPr>
              <a:t>As a user, I want input validation so that my journal entries follow length and character rules.</a:t>
            </a:r>
          </a:p>
          <a:p>
            <a:pPr algn="l">
              <a:lnSpc>
                <a:spcPts val="2078"/>
              </a:lnSpc>
            </a:pPr>
            <a:r>
              <a:rPr lang="en-US" sz="1731">
                <a:solidFill>
                  <a:srgbClr val="000000"/>
                </a:solidFill>
                <a:latin typeface="Open Sauce"/>
                <a:ea typeface="Open Sauce"/>
                <a:cs typeface="Open Sauce"/>
                <a:sym typeface="Open Sauce"/>
              </a:rPr>
              <a:t>Acceptance Criteria</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Maximum length enforced</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Allowed characters validated</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Empty submissions prevented</a:t>
            </a:r>
          </a:p>
          <a:p>
            <a:pPr algn="l">
              <a:lnSpc>
                <a:spcPts val="2078"/>
              </a:lnSpc>
            </a:pPr>
            <a:r>
              <a:rPr lang="en-US" sz="1731">
                <a:solidFill>
                  <a:srgbClr val="000000"/>
                </a:solidFill>
                <a:latin typeface="Open Sauce"/>
                <a:ea typeface="Open Sauce"/>
                <a:cs typeface="Open Sauce"/>
                <a:sym typeface="Open Sauce"/>
              </a:rPr>
              <a:t>Priority: Must                             Story Points: 2</a:t>
            </a:r>
          </a:p>
          <a:p>
            <a:pPr algn="l">
              <a:lnSpc>
                <a:spcPts val="2078"/>
              </a:lnSpc>
            </a:pPr>
          </a:p>
          <a:p>
            <a:pPr algn="l">
              <a:lnSpc>
                <a:spcPts val="2078"/>
              </a:lnSpc>
            </a:pPr>
            <a:r>
              <a:rPr lang="en-US" sz="1731" b="true">
                <a:solidFill>
                  <a:srgbClr val="000000"/>
                </a:solidFill>
                <a:latin typeface="Open Sauce Bold"/>
                <a:ea typeface="Open Sauce Bold"/>
                <a:cs typeface="Open Sauce Bold"/>
                <a:sym typeface="Open Sauce Bold"/>
              </a:rPr>
              <a:t>US10 – Reset Input Field</a:t>
            </a:r>
          </a:p>
          <a:p>
            <a:pPr algn="l">
              <a:lnSpc>
                <a:spcPts val="2078"/>
              </a:lnSpc>
            </a:pPr>
          </a:p>
          <a:p>
            <a:pPr algn="l">
              <a:lnSpc>
                <a:spcPts val="2078"/>
              </a:lnSpc>
            </a:pPr>
            <a:r>
              <a:rPr lang="en-US" sz="1731">
                <a:solidFill>
                  <a:srgbClr val="000000"/>
                </a:solidFill>
                <a:latin typeface="Open Sauce"/>
                <a:ea typeface="Open Sauce"/>
                <a:cs typeface="Open Sauce"/>
                <a:sym typeface="Open Sauce"/>
              </a:rPr>
              <a:t>As a user, I want the input field to reset after submission so that I can write a new entry easily.</a:t>
            </a:r>
          </a:p>
          <a:p>
            <a:pPr algn="l">
              <a:lnSpc>
                <a:spcPts val="2078"/>
              </a:lnSpc>
            </a:pPr>
            <a:r>
              <a:rPr lang="en-US" sz="1731">
                <a:solidFill>
                  <a:srgbClr val="000000"/>
                </a:solidFill>
                <a:latin typeface="Open Sauce"/>
                <a:ea typeface="Open Sauce"/>
                <a:cs typeface="Open Sauce"/>
                <a:sym typeface="Open Sauce"/>
              </a:rPr>
              <a:t>Acceptance Criteria</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Input cleared after successful submission</a:t>
            </a:r>
          </a:p>
          <a:p>
            <a:pPr algn="l">
              <a:lnSpc>
                <a:spcPts val="2078"/>
              </a:lnSpc>
            </a:pPr>
            <a:r>
              <a:rPr lang="en-US" sz="1731">
                <a:solidFill>
                  <a:srgbClr val="000000"/>
                </a:solidFill>
                <a:latin typeface="Open Sauce"/>
                <a:ea typeface="Open Sauce"/>
                <a:cs typeface="Open Sauce"/>
                <a:sym typeface="Open Sauce"/>
              </a:rPr>
              <a:t>Priority: Must                             Story Points: 1</a:t>
            </a:r>
          </a:p>
          <a:p>
            <a:pPr algn="l">
              <a:lnSpc>
                <a:spcPts val="2078"/>
              </a:lnSpc>
              <a:spcBef>
                <a:spcPct val="0"/>
              </a:spcBef>
            </a:pPr>
          </a:p>
        </p:txBody>
      </p:sp>
      <p:sp>
        <p:nvSpPr>
          <p:cNvPr name="TextBox 10" id="10"/>
          <p:cNvSpPr txBox="true"/>
          <p:nvPr/>
        </p:nvSpPr>
        <p:spPr>
          <a:xfrm rot="0">
            <a:off x="6472962" y="2343983"/>
            <a:ext cx="5342076" cy="7705725"/>
          </a:xfrm>
          <a:prstGeom prst="rect">
            <a:avLst/>
          </a:prstGeom>
        </p:spPr>
        <p:txBody>
          <a:bodyPr anchor="t" rtlCol="false" tIns="0" lIns="0" bIns="0" rIns="0">
            <a:spAutoFit/>
          </a:bodyPr>
          <a:lstStyle/>
          <a:p>
            <a:pPr algn="l">
              <a:lnSpc>
                <a:spcPts val="2078"/>
              </a:lnSpc>
            </a:pPr>
            <a:r>
              <a:rPr lang="en-US" sz="1731" b="true">
                <a:solidFill>
                  <a:srgbClr val="000000"/>
                </a:solidFill>
                <a:latin typeface="Open Sauce Bold"/>
                <a:ea typeface="Open Sauce Bold"/>
                <a:cs typeface="Open Sauce Bold"/>
                <a:sym typeface="Open Sauce Bold"/>
              </a:rPr>
              <a:t>US2 – Journal Entry Processing</a:t>
            </a:r>
          </a:p>
          <a:p>
            <a:pPr algn="l">
              <a:lnSpc>
                <a:spcPts val="2078"/>
              </a:lnSpc>
            </a:pPr>
          </a:p>
          <a:p>
            <a:pPr algn="l">
              <a:lnSpc>
                <a:spcPts val="2078"/>
              </a:lnSpc>
            </a:pPr>
            <a:r>
              <a:rPr lang="en-US" sz="1731">
                <a:solidFill>
                  <a:srgbClr val="000000"/>
                </a:solidFill>
                <a:latin typeface="Open Sauce"/>
                <a:ea typeface="Open Sauce"/>
                <a:cs typeface="Open Sauce"/>
                <a:sym typeface="Open Sauce"/>
              </a:rPr>
              <a:t>As a user, I want my journal entry to be processed after submission so that I can receive emotional analysis.</a:t>
            </a:r>
          </a:p>
          <a:p>
            <a:pPr algn="l">
              <a:lnSpc>
                <a:spcPts val="2078"/>
              </a:lnSpc>
            </a:pPr>
            <a:r>
              <a:rPr lang="en-US" sz="1731">
                <a:solidFill>
                  <a:srgbClr val="000000"/>
                </a:solidFill>
                <a:latin typeface="Open Sauce"/>
                <a:ea typeface="Open Sauce"/>
                <a:cs typeface="Open Sauce"/>
                <a:sym typeface="Open Sauce"/>
              </a:rPr>
              <a:t>Acceptance Criteria</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E</a:t>
            </a:r>
            <a:r>
              <a:rPr lang="en-US" sz="1731">
                <a:solidFill>
                  <a:srgbClr val="000000"/>
                </a:solidFill>
                <a:latin typeface="Open Sauce"/>
                <a:ea typeface="Open Sauce"/>
                <a:cs typeface="Open Sauce"/>
                <a:sym typeface="Open Sauce"/>
              </a:rPr>
              <a:t>ntry sent to backend successfully</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No submission errors</a:t>
            </a:r>
          </a:p>
          <a:p>
            <a:pPr algn="l">
              <a:lnSpc>
                <a:spcPts val="2078"/>
              </a:lnSpc>
            </a:pPr>
            <a:r>
              <a:rPr lang="en-US" sz="1731">
                <a:solidFill>
                  <a:srgbClr val="000000"/>
                </a:solidFill>
                <a:latin typeface="Open Sauce"/>
                <a:ea typeface="Open Sauce"/>
                <a:cs typeface="Open Sauce"/>
                <a:sym typeface="Open Sauce"/>
              </a:rPr>
              <a:t>Priority: Must                           Story Points: 5</a:t>
            </a:r>
          </a:p>
          <a:p>
            <a:pPr algn="l">
              <a:lnSpc>
                <a:spcPts val="2078"/>
              </a:lnSpc>
            </a:pPr>
          </a:p>
          <a:p>
            <a:pPr algn="l">
              <a:lnSpc>
                <a:spcPts val="2078"/>
              </a:lnSpc>
            </a:pPr>
            <a:r>
              <a:rPr lang="en-US" sz="1731" b="true">
                <a:solidFill>
                  <a:srgbClr val="000000"/>
                </a:solidFill>
                <a:latin typeface="Open Sauce Bold"/>
                <a:ea typeface="Open Sauce Bold"/>
                <a:cs typeface="Open Sauce Bold"/>
                <a:sym typeface="Open Sauce Bold"/>
              </a:rPr>
              <a:t>US3 – AI Sentiment Analysis</a:t>
            </a:r>
          </a:p>
          <a:p>
            <a:pPr algn="l">
              <a:lnSpc>
                <a:spcPts val="2078"/>
              </a:lnSpc>
            </a:pPr>
          </a:p>
          <a:p>
            <a:pPr algn="l">
              <a:lnSpc>
                <a:spcPts val="2078"/>
              </a:lnSpc>
            </a:pPr>
            <a:r>
              <a:rPr lang="en-US" sz="1731">
                <a:solidFill>
                  <a:srgbClr val="000000"/>
                </a:solidFill>
                <a:latin typeface="Open Sauce"/>
                <a:ea typeface="Open Sauce"/>
                <a:cs typeface="Open Sauce"/>
                <a:sym typeface="Open Sauce"/>
              </a:rPr>
              <a:t>As a user, I want my journal entry analyzed by AI so that I understand whether my emotional tone is positive, neutral, or negative.</a:t>
            </a:r>
          </a:p>
          <a:p>
            <a:pPr algn="l">
              <a:lnSpc>
                <a:spcPts val="2078"/>
              </a:lnSpc>
            </a:pPr>
            <a:r>
              <a:rPr lang="en-US" sz="1731">
                <a:solidFill>
                  <a:srgbClr val="000000"/>
                </a:solidFill>
                <a:latin typeface="Open Sauce"/>
                <a:ea typeface="Open Sauce"/>
                <a:cs typeface="Open Sauce"/>
                <a:sym typeface="Open Sauce"/>
              </a:rPr>
              <a:t>Acceptance Criteria</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B</a:t>
            </a:r>
            <a:r>
              <a:rPr lang="en-US" sz="1731">
                <a:solidFill>
                  <a:srgbClr val="000000"/>
                </a:solidFill>
                <a:latin typeface="Open Sauce"/>
                <a:ea typeface="Open Sauce"/>
                <a:cs typeface="Open Sauce"/>
                <a:sym typeface="Open Sauce"/>
              </a:rPr>
              <a:t>ackend sends text to the model</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Senti</a:t>
            </a:r>
            <a:r>
              <a:rPr lang="en-US" sz="1731">
                <a:solidFill>
                  <a:srgbClr val="000000"/>
                </a:solidFill>
                <a:latin typeface="Open Sauce"/>
                <a:ea typeface="Open Sauce"/>
                <a:cs typeface="Open Sauce"/>
                <a:sym typeface="Open Sauce"/>
              </a:rPr>
              <a:t>ment label returned</a:t>
            </a:r>
          </a:p>
          <a:p>
            <a:pPr algn="l">
              <a:lnSpc>
                <a:spcPts val="2078"/>
              </a:lnSpc>
            </a:pPr>
            <a:r>
              <a:rPr lang="en-US" sz="1731">
                <a:solidFill>
                  <a:srgbClr val="000000"/>
                </a:solidFill>
                <a:latin typeface="Open Sauce"/>
                <a:ea typeface="Open Sauce"/>
                <a:cs typeface="Open Sauce"/>
                <a:sym typeface="Open Sauce"/>
              </a:rPr>
              <a:t>Priority: Must                           Story Points: 8</a:t>
            </a:r>
          </a:p>
          <a:p>
            <a:pPr algn="l">
              <a:lnSpc>
                <a:spcPts val="2078"/>
              </a:lnSpc>
            </a:pPr>
          </a:p>
          <a:p>
            <a:pPr algn="l">
              <a:lnSpc>
                <a:spcPts val="2078"/>
              </a:lnSpc>
            </a:pPr>
            <a:r>
              <a:rPr lang="en-US" sz="1731" b="true">
                <a:solidFill>
                  <a:srgbClr val="000000"/>
                </a:solidFill>
                <a:latin typeface="Open Sauce Bold"/>
                <a:ea typeface="Open Sauce Bold"/>
                <a:cs typeface="Open Sauce Bold"/>
                <a:sym typeface="Open Sauce Bold"/>
              </a:rPr>
              <a:t>US4 – Confidence Score</a:t>
            </a:r>
          </a:p>
          <a:p>
            <a:pPr algn="l">
              <a:lnSpc>
                <a:spcPts val="2078"/>
              </a:lnSpc>
            </a:pPr>
          </a:p>
          <a:p>
            <a:pPr algn="l">
              <a:lnSpc>
                <a:spcPts val="2078"/>
              </a:lnSpc>
            </a:pPr>
            <a:r>
              <a:rPr lang="en-US" sz="1731">
                <a:solidFill>
                  <a:srgbClr val="000000"/>
                </a:solidFill>
                <a:latin typeface="Open Sauce"/>
                <a:ea typeface="Open Sauce"/>
                <a:cs typeface="Open Sauce"/>
                <a:sym typeface="Open Sauce"/>
              </a:rPr>
              <a:t>As a user, I want to see how confident the system is in its prediction so that I can better interpret the result.</a:t>
            </a:r>
          </a:p>
          <a:p>
            <a:pPr algn="l">
              <a:lnSpc>
                <a:spcPts val="2078"/>
              </a:lnSpc>
            </a:pPr>
            <a:r>
              <a:rPr lang="en-US" sz="1731">
                <a:solidFill>
                  <a:srgbClr val="000000"/>
                </a:solidFill>
                <a:latin typeface="Open Sauce"/>
                <a:ea typeface="Open Sauce"/>
                <a:cs typeface="Open Sauce"/>
                <a:sym typeface="Open Sauce"/>
              </a:rPr>
              <a:t>Acceptance Criteria</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Co</a:t>
            </a:r>
            <a:r>
              <a:rPr lang="en-US" sz="1731">
                <a:solidFill>
                  <a:srgbClr val="000000"/>
                </a:solidFill>
                <a:latin typeface="Open Sauce"/>
                <a:ea typeface="Open Sauce"/>
                <a:cs typeface="Open Sauce"/>
                <a:sym typeface="Open Sauce"/>
              </a:rPr>
              <a:t>nfidence score extracted</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Score returned with prediction</a:t>
            </a:r>
          </a:p>
          <a:p>
            <a:pPr algn="l">
              <a:lnSpc>
                <a:spcPts val="2078"/>
              </a:lnSpc>
            </a:pPr>
            <a:r>
              <a:rPr lang="en-US" sz="1731">
                <a:solidFill>
                  <a:srgbClr val="000000"/>
                </a:solidFill>
                <a:latin typeface="Open Sauce"/>
                <a:ea typeface="Open Sauce"/>
                <a:cs typeface="Open Sauce"/>
                <a:sym typeface="Open Sauce"/>
              </a:rPr>
              <a:t>Priority: Should                        Story Points: 2</a:t>
            </a:r>
          </a:p>
          <a:p>
            <a:pPr algn="l">
              <a:lnSpc>
                <a:spcPts val="2078"/>
              </a:lnSpc>
              <a:spcBef>
                <a:spcPct val="0"/>
              </a:spcBef>
            </a:pPr>
          </a:p>
        </p:txBody>
      </p:sp>
      <p:sp>
        <p:nvSpPr>
          <p:cNvPr name="TextBox 11" id="11"/>
          <p:cNvSpPr txBox="true"/>
          <p:nvPr/>
        </p:nvSpPr>
        <p:spPr>
          <a:xfrm rot="0">
            <a:off x="12160755" y="2324100"/>
            <a:ext cx="5442899" cy="7448550"/>
          </a:xfrm>
          <a:prstGeom prst="rect">
            <a:avLst/>
          </a:prstGeom>
        </p:spPr>
        <p:txBody>
          <a:bodyPr anchor="t" rtlCol="false" tIns="0" lIns="0" bIns="0" rIns="0">
            <a:spAutoFit/>
          </a:bodyPr>
          <a:lstStyle/>
          <a:p>
            <a:pPr algn="l">
              <a:lnSpc>
                <a:spcPts val="2078"/>
              </a:lnSpc>
            </a:pPr>
            <a:r>
              <a:rPr lang="en-US" sz="1731" b="true">
                <a:solidFill>
                  <a:srgbClr val="000000"/>
                </a:solidFill>
                <a:latin typeface="Open Sauce Bold"/>
                <a:ea typeface="Open Sauce Bold"/>
                <a:cs typeface="Open Sauce Bold"/>
                <a:sym typeface="Open Sauce Bold"/>
              </a:rPr>
              <a:t>US5 – Sentiment Result Display</a:t>
            </a:r>
          </a:p>
          <a:p>
            <a:pPr algn="l">
              <a:lnSpc>
                <a:spcPts val="2078"/>
              </a:lnSpc>
            </a:pPr>
          </a:p>
          <a:p>
            <a:pPr algn="l">
              <a:lnSpc>
                <a:spcPts val="2078"/>
              </a:lnSpc>
            </a:pPr>
            <a:r>
              <a:rPr lang="en-US" sz="1731">
                <a:solidFill>
                  <a:srgbClr val="000000"/>
                </a:solidFill>
                <a:latin typeface="Open Sauce"/>
                <a:ea typeface="Open Sauce"/>
                <a:cs typeface="Open Sauce"/>
                <a:sym typeface="Open Sauce"/>
              </a:rPr>
              <a:t>As a user, I want to see my sentiment result immediately after submission so that I receive instant feedback.</a:t>
            </a:r>
          </a:p>
          <a:p>
            <a:pPr algn="l">
              <a:lnSpc>
                <a:spcPts val="2078"/>
              </a:lnSpc>
            </a:pPr>
            <a:r>
              <a:rPr lang="en-US" sz="1731">
                <a:solidFill>
                  <a:srgbClr val="000000"/>
                </a:solidFill>
                <a:latin typeface="Open Sauce"/>
                <a:ea typeface="Open Sauce"/>
                <a:cs typeface="Open Sauce"/>
                <a:sym typeface="Open Sauce"/>
              </a:rPr>
              <a:t>Acceptance Criteria</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Se</a:t>
            </a:r>
            <a:r>
              <a:rPr lang="en-US" sz="1731">
                <a:solidFill>
                  <a:srgbClr val="000000"/>
                </a:solidFill>
                <a:latin typeface="Open Sauce"/>
                <a:ea typeface="Open Sauce"/>
                <a:cs typeface="Open Sauce"/>
                <a:sym typeface="Open Sauce"/>
              </a:rPr>
              <a:t>ntiment label displayed</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Confidence score displayed</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No page reload</a:t>
            </a:r>
          </a:p>
          <a:p>
            <a:pPr algn="l">
              <a:lnSpc>
                <a:spcPts val="2078"/>
              </a:lnSpc>
            </a:pPr>
            <a:r>
              <a:rPr lang="en-US" sz="1731">
                <a:solidFill>
                  <a:srgbClr val="000000"/>
                </a:solidFill>
                <a:latin typeface="Open Sauce"/>
                <a:ea typeface="Open Sauce"/>
                <a:cs typeface="Open Sauce"/>
                <a:sym typeface="Open Sauce"/>
              </a:rPr>
              <a:t>Priority: Could                         Story Points: 3</a:t>
            </a:r>
          </a:p>
          <a:p>
            <a:pPr algn="l">
              <a:lnSpc>
                <a:spcPts val="2078"/>
              </a:lnSpc>
            </a:pPr>
          </a:p>
          <a:p>
            <a:pPr algn="l">
              <a:lnSpc>
                <a:spcPts val="2078"/>
              </a:lnSpc>
            </a:pPr>
            <a:r>
              <a:rPr lang="en-US" sz="1731" b="true">
                <a:solidFill>
                  <a:srgbClr val="000000"/>
                </a:solidFill>
                <a:latin typeface="Open Sauce Bold"/>
                <a:ea typeface="Open Sauce Bold"/>
                <a:cs typeface="Open Sauce Bold"/>
                <a:sym typeface="Open Sauce Bold"/>
              </a:rPr>
              <a:t>US6 – Mood Visualization</a:t>
            </a:r>
          </a:p>
          <a:p>
            <a:pPr algn="l">
              <a:lnSpc>
                <a:spcPts val="2078"/>
              </a:lnSpc>
            </a:pPr>
          </a:p>
          <a:p>
            <a:pPr algn="l">
              <a:lnSpc>
                <a:spcPts val="2078"/>
              </a:lnSpc>
            </a:pPr>
            <a:r>
              <a:rPr lang="en-US" sz="1731">
                <a:solidFill>
                  <a:srgbClr val="000000"/>
                </a:solidFill>
                <a:latin typeface="Open Sauce"/>
                <a:ea typeface="Open Sauce"/>
                <a:cs typeface="Open Sauce"/>
                <a:sym typeface="Open Sauce"/>
              </a:rPr>
              <a:t>As a user, I want to see a simple visualization of my mood history so that I can begin identifying patterns.</a:t>
            </a:r>
          </a:p>
          <a:p>
            <a:pPr algn="l">
              <a:lnSpc>
                <a:spcPts val="2078"/>
              </a:lnSpc>
            </a:pPr>
            <a:r>
              <a:rPr lang="en-US" sz="1731">
                <a:solidFill>
                  <a:srgbClr val="000000"/>
                </a:solidFill>
                <a:latin typeface="Open Sauce"/>
                <a:ea typeface="Open Sauce"/>
                <a:cs typeface="Open Sauce"/>
                <a:sym typeface="Open Sauce"/>
              </a:rPr>
              <a:t>Acceptance Criteria</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Ch</a:t>
            </a:r>
            <a:r>
              <a:rPr lang="en-US" sz="1731">
                <a:solidFill>
                  <a:srgbClr val="000000"/>
                </a:solidFill>
                <a:latin typeface="Open Sauce"/>
                <a:ea typeface="Open Sauce"/>
                <a:cs typeface="Open Sauce"/>
                <a:sym typeface="Open Sauce"/>
              </a:rPr>
              <a:t>art renders correctly</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Visualizatio</a:t>
            </a:r>
            <a:r>
              <a:rPr lang="en-US" sz="1731">
                <a:solidFill>
                  <a:srgbClr val="000000"/>
                </a:solidFill>
                <a:latin typeface="Open Sauce"/>
                <a:ea typeface="Open Sauce"/>
                <a:cs typeface="Open Sauce"/>
                <a:sym typeface="Open Sauce"/>
              </a:rPr>
              <a:t>n updates after submission</a:t>
            </a:r>
          </a:p>
          <a:p>
            <a:pPr algn="l">
              <a:lnSpc>
                <a:spcPts val="2078"/>
              </a:lnSpc>
            </a:pPr>
            <a:r>
              <a:rPr lang="en-US" sz="1731">
                <a:solidFill>
                  <a:srgbClr val="000000"/>
                </a:solidFill>
                <a:latin typeface="Open Sauce"/>
                <a:ea typeface="Open Sauce"/>
                <a:cs typeface="Open Sauce"/>
                <a:sym typeface="Open Sauce"/>
              </a:rPr>
              <a:t>Priority: Should                       Story Points: 5</a:t>
            </a:r>
          </a:p>
          <a:p>
            <a:pPr algn="l">
              <a:lnSpc>
                <a:spcPts val="2078"/>
              </a:lnSpc>
            </a:pPr>
          </a:p>
          <a:p>
            <a:pPr algn="l">
              <a:lnSpc>
                <a:spcPts val="2078"/>
              </a:lnSpc>
            </a:pPr>
            <a:r>
              <a:rPr lang="en-US" sz="1731" b="true">
                <a:solidFill>
                  <a:srgbClr val="000000"/>
                </a:solidFill>
                <a:latin typeface="Open Sauce Bold"/>
                <a:ea typeface="Open Sauce Bold"/>
                <a:cs typeface="Open Sauce Bold"/>
                <a:sym typeface="Open Sauce Bold"/>
              </a:rPr>
              <a:t>US8 – Submission Confirmation</a:t>
            </a:r>
          </a:p>
          <a:p>
            <a:pPr algn="l">
              <a:lnSpc>
                <a:spcPts val="2078"/>
              </a:lnSpc>
            </a:pPr>
          </a:p>
          <a:p>
            <a:pPr algn="l">
              <a:lnSpc>
                <a:spcPts val="2078"/>
              </a:lnSpc>
            </a:pPr>
            <a:r>
              <a:rPr lang="en-US" sz="1731">
                <a:solidFill>
                  <a:srgbClr val="000000"/>
                </a:solidFill>
                <a:latin typeface="Open Sauce"/>
                <a:ea typeface="Open Sauce"/>
                <a:cs typeface="Open Sauce"/>
                <a:sym typeface="Open Sauce"/>
              </a:rPr>
              <a:t>As a user, I want a confirmation message when my entry is submitted so that I know it was received.</a:t>
            </a:r>
          </a:p>
          <a:p>
            <a:pPr algn="l">
              <a:lnSpc>
                <a:spcPts val="2078"/>
              </a:lnSpc>
            </a:pPr>
            <a:r>
              <a:rPr lang="en-US" sz="1731">
                <a:solidFill>
                  <a:srgbClr val="000000"/>
                </a:solidFill>
                <a:latin typeface="Open Sauce"/>
                <a:ea typeface="Open Sauce"/>
                <a:cs typeface="Open Sauce"/>
                <a:sym typeface="Open Sauce"/>
              </a:rPr>
              <a:t>Acceptance Criteria</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Co</a:t>
            </a:r>
            <a:r>
              <a:rPr lang="en-US" sz="1731">
                <a:solidFill>
                  <a:srgbClr val="000000"/>
                </a:solidFill>
                <a:latin typeface="Open Sauce"/>
                <a:ea typeface="Open Sauce"/>
                <a:cs typeface="Open Sauce"/>
                <a:sym typeface="Open Sauce"/>
              </a:rPr>
              <a:t>nfirmation message displayed in UI</a:t>
            </a:r>
          </a:p>
          <a:p>
            <a:pPr algn="l">
              <a:lnSpc>
                <a:spcPts val="2078"/>
              </a:lnSpc>
            </a:pPr>
            <a:r>
              <a:rPr lang="en-US" sz="1731">
                <a:solidFill>
                  <a:srgbClr val="000000"/>
                </a:solidFill>
                <a:latin typeface="Open Sauce"/>
                <a:ea typeface="Open Sauce"/>
                <a:cs typeface="Open Sauce"/>
                <a:sym typeface="Open Sauce"/>
              </a:rPr>
              <a:t>Priority: Must                           Story Points: 2</a:t>
            </a:r>
          </a:p>
          <a:p>
            <a:pPr algn="l">
              <a:lnSpc>
                <a:spcPts val="2078"/>
              </a:lnSpc>
              <a:spcBef>
                <a:spcPct val="0"/>
              </a:spcBef>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603608" y="80010"/>
            <a:ext cx="9080784" cy="948690"/>
          </a:xfrm>
          <a:prstGeom prst="rect">
            <a:avLst/>
          </a:prstGeom>
        </p:spPr>
        <p:txBody>
          <a:bodyPr anchor="t" rtlCol="false" tIns="0" lIns="0" bIns="0" rIns="0">
            <a:spAutoFit/>
          </a:bodyPr>
          <a:lstStyle/>
          <a:p>
            <a:pPr algn="l" marL="0" indent="0" lvl="0">
              <a:lnSpc>
                <a:spcPts val="7560"/>
              </a:lnSpc>
            </a:pPr>
            <a:r>
              <a:rPr lang="en-US" b="true" sz="5400" spc="270">
                <a:solidFill>
                  <a:srgbClr val="000000"/>
                </a:solidFill>
                <a:latin typeface="Helios Extended Bold"/>
                <a:ea typeface="Helios Extended Bold"/>
                <a:cs typeface="Helios Extended Bold"/>
                <a:sym typeface="Helios Extended Bold"/>
              </a:rPr>
              <a:t>PRODUCT BACKLOG</a:t>
            </a:r>
          </a:p>
        </p:txBody>
      </p:sp>
      <p:grpSp>
        <p:nvGrpSpPr>
          <p:cNvPr name="Group 3" id="3"/>
          <p:cNvGrpSpPr/>
          <p:nvPr/>
        </p:nvGrpSpPr>
        <p:grpSpPr>
          <a:xfrm rot="0">
            <a:off x="0" y="1333256"/>
            <a:ext cx="18288000" cy="9132993"/>
            <a:chOff x="0" y="0"/>
            <a:chExt cx="4668157" cy="2331293"/>
          </a:xfrm>
        </p:grpSpPr>
        <p:sp>
          <p:nvSpPr>
            <p:cNvPr name="Freeform 4" id="4"/>
            <p:cNvSpPr/>
            <p:nvPr/>
          </p:nvSpPr>
          <p:spPr>
            <a:xfrm flipH="false" flipV="false" rot="0">
              <a:off x="0" y="0"/>
              <a:ext cx="4668157" cy="2331293"/>
            </a:xfrm>
            <a:custGeom>
              <a:avLst/>
              <a:gdLst/>
              <a:ahLst/>
              <a:cxnLst/>
              <a:rect r="r" b="b" t="t" l="l"/>
              <a:pathLst>
                <a:path h="2331293" w="4668157">
                  <a:moveTo>
                    <a:pt x="4668157" y="22013"/>
                  </a:moveTo>
                  <a:lnTo>
                    <a:pt x="4668157" y="2309280"/>
                  </a:lnTo>
                  <a:cubicBezTo>
                    <a:pt x="4668157" y="2315118"/>
                    <a:pt x="4665838" y="2320717"/>
                    <a:pt x="4661710" y="2324846"/>
                  </a:cubicBezTo>
                  <a:cubicBezTo>
                    <a:pt x="4657582" y="2328974"/>
                    <a:pt x="4651982" y="2331293"/>
                    <a:pt x="4646144" y="2331293"/>
                  </a:cubicBezTo>
                  <a:lnTo>
                    <a:pt x="22013" y="2331293"/>
                  </a:lnTo>
                  <a:cubicBezTo>
                    <a:pt x="16175" y="2331293"/>
                    <a:pt x="10576" y="2328974"/>
                    <a:pt x="6448" y="2324846"/>
                  </a:cubicBezTo>
                  <a:cubicBezTo>
                    <a:pt x="2319" y="2320717"/>
                    <a:pt x="0" y="2315118"/>
                    <a:pt x="0" y="2309280"/>
                  </a:cubicBezTo>
                  <a:lnTo>
                    <a:pt x="0" y="22013"/>
                  </a:lnTo>
                  <a:cubicBezTo>
                    <a:pt x="0" y="16175"/>
                    <a:pt x="2319" y="10576"/>
                    <a:pt x="6448" y="6448"/>
                  </a:cubicBezTo>
                  <a:cubicBezTo>
                    <a:pt x="10576" y="2319"/>
                    <a:pt x="16175" y="0"/>
                    <a:pt x="22013" y="0"/>
                  </a:cubicBezTo>
                  <a:lnTo>
                    <a:pt x="4646144" y="0"/>
                  </a:lnTo>
                  <a:cubicBezTo>
                    <a:pt x="4651982" y="0"/>
                    <a:pt x="4657582" y="2319"/>
                    <a:pt x="4661710" y="6448"/>
                  </a:cubicBezTo>
                  <a:cubicBezTo>
                    <a:pt x="4665838" y="10576"/>
                    <a:pt x="4668157" y="16175"/>
                    <a:pt x="4668157" y="22013"/>
                  </a:cubicBezTo>
                  <a:close/>
                </a:path>
              </a:pathLst>
            </a:custGeom>
            <a:solidFill>
              <a:srgbClr val="F2F1F1">
                <a:alpha val="80000"/>
              </a:srgbClr>
            </a:solidFill>
          </p:spPr>
        </p:sp>
        <p:sp>
          <p:nvSpPr>
            <p:cNvPr name="TextBox 5" id="5"/>
            <p:cNvSpPr txBox="true"/>
            <p:nvPr/>
          </p:nvSpPr>
          <p:spPr>
            <a:xfrm>
              <a:off x="0" y="-47625"/>
              <a:ext cx="4668157" cy="2378918"/>
            </a:xfrm>
            <a:prstGeom prst="rect">
              <a:avLst/>
            </a:prstGeom>
          </p:spPr>
          <p:txBody>
            <a:bodyPr anchor="ctr" rtlCol="false" tIns="50800" lIns="50800" bIns="50800" rIns="50800"/>
            <a:lstStyle/>
            <a:p>
              <a:pPr algn="ctr">
                <a:lnSpc>
                  <a:spcPts val="3359"/>
                </a:lnSpc>
              </a:pPr>
            </a:p>
          </p:txBody>
        </p:sp>
      </p:grpSp>
      <p:sp>
        <p:nvSpPr>
          <p:cNvPr name="TextBox 6" id="6"/>
          <p:cNvSpPr txBox="true"/>
          <p:nvPr/>
        </p:nvSpPr>
        <p:spPr>
          <a:xfrm rot="0">
            <a:off x="2654431" y="1550631"/>
            <a:ext cx="3898353" cy="511618"/>
          </a:xfrm>
          <a:prstGeom prst="rect">
            <a:avLst/>
          </a:prstGeom>
        </p:spPr>
        <p:txBody>
          <a:bodyPr anchor="t" rtlCol="false" tIns="0" lIns="0" bIns="0" rIns="0">
            <a:spAutoFit/>
          </a:bodyPr>
          <a:lstStyle/>
          <a:p>
            <a:pPr algn="ctr">
              <a:lnSpc>
                <a:spcPts val="4286"/>
              </a:lnSpc>
            </a:pPr>
            <a:r>
              <a:rPr lang="en-US" b="true" sz="2678" spc="267">
                <a:solidFill>
                  <a:srgbClr val="000000"/>
                </a:solidFill>
                <a:latin typeface="Lato Bold"/>
                <a:ea typeface="Lato Bold"/>
                <a:cs typeface="Lato Bold"/>
                <a:sym typeface="Lato Bold"/>
              </a:rPr>
              <a:t>Additional Features</a:t>
            </a:r>
          </a:p>
        </p:txBody>
      </p:sp>
      <p:sp>
        <p:nvSpPr>
          <p:cNvPr name="TextBox 7" id="7"/>
          <p:cNvSpPr txBox="true"/>
          <p:nvPr/>
        </p:nvSpPr>
        <p:spPr>
          <a:xfrm rot="0">
            <a:off x="871899" y="2437415"/>
            <a:ext cx="7463418" cy="6934200"/>
          </a:xfrm>
          <a:prstGeom prst="rect">
            <a:avLst/>
          </a:prstGeom>
        </p:spPr>
        <p:txBody>
          <a:bodyPr anchor="t" rtlCol="false" tIns="0" lIns="0" bIns="0" rIns="0">
            <a:spAutoFit/>
          </a:bodyPr>
          <a:lstStyle/>
          <a:p>
            <a:pPr algn="l">
              <a:lnSpc>
                <a:spcPts val="2078"/>
              </a:lnSpc>
            </a:pPr>
            <a:r>
              <a:rPr lang="en-US" sz="1731" b="true">
                <a:solidFill>
                  <a:srgbClr val="000000"/>
                </a:solidFill>
                <a:latin typeface="Open Sauce Bold"/>
                <a:ea typeface="Open Sauce Bold"/>
                <a:cs typeface="Open Sauce Bold"/>
                <a:sym typeface="Open Sauce Bold"/>
              </a:rPr>
              <a:t>US5 – Sentiment Result Display</a:t>
            </a:r>
          </a:p>
          <a:p>
            <a:pPr algn="l">
              <a:lnSpc>
                <a:spcPts val="2078"/>
              </a:lnSpc>
            </a:pPr>
          </a:p>
          <a:p>
            <a:pPr algn="l">
              <a:lnSpc>
                <a:spcPts val="2078"/>
              </a:lnSpc>
            </a:pPr>
            <a:r>
              <a:rPr lang="en-US" sz="1731">
                <a:solidFill>
                  <a:srgbClr val="000000"/>
                </a:solidFill>
                <a:latin typeface="Open Sauce"/>
                <a:ea typeface="Open Sauce"/>
                <a:cs typeface="Open Sauce"/>
                <a:sym typeface="Open Sauce"/>
              </a:rPr>
              <a:t>As a user, I want to see my sentiment result immediately after submission so that I receive instant feedback.</a:t>
            </a:r>
          </a:p>
          <a:p>
            <a:pPr algn="l">
              <a:lnSpc>
                <a:spcPts val="2078"/>
              </a:lnSpc>
            </a:pPr>
            <a:r>
              <a:rPr lang="en-US" sz="1731">
                <a:solidFill>
                  <a:srgbClr val="000000"/>
                </a:solidFill>
                <a:latin typeface="Open Sauce"/>
                <a:ea typeface="Open Sauce"/>
                <a:cs typeface="Open Sauce"/>
                <a:sym typeface="Open Sauce"/>
              </a:rPr>
              <a:t>Acceptance Criteria</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Se</a:t>
            </a:r>
            <a:r>
              <a:rPr lang="en-US" sz="1731">
                <a:solidFill>
                  <a:srgbClr val="000000"/>
                </a:solidFill>
                <a:latin typeface="Open Sauce"/>
                <a:ea typeface="Open Sauce"/>
                <a:cs typeface="Open Sauce"/>
                <a:sym typeface="Open Sauce"/>
              </a:rPr>
              <a:t>ntiment label displayed</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Confidence score displayed</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No page reload</a:t>
            </a:r>
          </a:p>
          <a:p>
            <a:pPr algn="l">
              <a:lnSpc>
                <a:spcPts val="2078"/>
              </a:lnSpc>
            </a:pPr>
            <a:r>
              <a:rPr lang="en-US" sz="1731">
                <a:solidFill>
                  <a:srgbClr val="000000"/>
                </a:solidFill>
                <a:latin typeface="Open Sauce"/>
                <a:ea typeface="Open Sauce"/>
                <a:cs typeface="Open Sauce"/>
                <a:sym typeface="Open Sauce"/>
              </a:rPr>
              <a:t>Priority: Could                                           Story Points: 3</a:t>
            </a:r>
          </a:p>
          <a:p>
            <a:pPr algn="l">
              <a:lnSpc>
                <a:spcPts val="2078"/>
              </a:lnSpc>
            </a:pPr>
          </a:p>
          <a:p>
            <a:pPr algn="l">
              <a:lnSpc>
                <a:spcPts val="2078"/>
              </a:lnSpc>
            </a:pPr>
            <a:r>
              <a:rPr lang="en-US" sz="1731" b="true">
                <a:solidFill>
                  <a:srgbClr val="000000"/>
                </a:solidFill>
                <a:latin typeface="Open Sauce Bold"/>
                <a:ea typeface="Open Sauce Bold"/>
                <a:cs typeface="Open Sauce Bold"/>
                <a:sym typeface="Open Sauce Bold"/>
              </a:rPr>
              <a:t>US6 – Mood Visualization</a:t>
            </a:r>
          </a:p>
          <a:p>
            <a:pPr algn="l">
              <a:lnSpc>
                <a:spcPts val="2078"/>
              </a:lnSpc>
            </a:pPr>
          </a:p>
          <a:p>
            <a:pPr algn="l">
              <a:lnSpc>
                <a:spcPts val="2078"/>
              </a:lnSpc>
            </a:pPr>
            <a:r>
              <a:rPr lang="en-US" sz="1731">
                <a:solidFill>
                  <a:srgbClr val="000000"/>
                </a:solidFill>
                <a:latin typeface="Open Sauce"/>
                <a:ea typeface="Open Sauce"/>
                <a:cs typeface="Open Sauce"/>
                <a:sym typeface="Open Sauce"/>
              </a:rPr>
              <a:t>As a user, I want to see a simple visualization of my mood history so that I can begin identifying patterns.</a:t>
            </a:r>
          </a:p>
          <a:p>
            <a:pPr algn="l">
              <a:lnSpc>
                <a:spcPts val="2078"/>
              </a:lnSpc>
            </a:pPr>
            <a:r>
              <a:rPr lang="en-US" sz="1731">
                <a:solidFill>
                  <a:srgbClr val="000000"/>
                </a:solidFill>
                <a:latin typeface="Open Sauce"/>
                <a:ea typeface="Open Sauce"/>
                <a:cs typeface="Open Sauce"/>
                <a:sym typeface="Open Sauce"/>
              </a:rPr>
              <a:t>Acceptance Criteria</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Ch</a:t>
            </a:r>
            <a:r>
              <a:rPr lang="en-US" sz="1731">
                <a:solidFill>
                  <a:srgbClr val="000000"/>
                </a:solidFill>
                <a:latin typeface="Open Sauce"/>
                <a:ea typeface="Open Sauce"/>
                <a:cs typeface="Open Sauce"/>
                <a:sym typeface="Open Sauce"/>
              </a:rPr>
              <a:t>art renders correctly</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Visualizatio</a:t>
            </a:r>
            <a:r>
              <a:rPr lang="en-US" sz="1731">
                <a:solidFill>
                  <a:srgbClr val="000000"/>
                </a:solidFill>
                <a:latin typeface="Open Sauce"/>
                <a:ea typeface="Open Sauce"/>
                <a:cs typeface="Open Sauce"/>
                <a:sym typeface="Open Sauce"/>
              </a:rPr>
              <a:t>n updates after submission</a:t>
            </a:r>
          </a:p>
          <a:p>
            <a:pPr algn="l">
              <a:lnSpc>
                <a:spcPts val="2078"/>
              </a:lnSpc>
            </a:pPr>
            <a:r>
              <a:rPr lang="en-US" sz="1731">
                <a:solidFill>
                  <a:srgbClr val="000000"/>
                </a:solidFill>
                <a:latin typeface="Open Sauce"/>
                <a:ea typeface="Open Sauce"/>
                <a:cs typeface="Open Sauce"/>
                <a:sym typeface="Open Sauce"/>
              </a:rPr>
              <a:t>Priority: Should                                        Story Points: 5</a:t>
            </a:r>
          </a:p>
          <a:p>
            <a:pPr algn="l">
              <a:lnSpc>
                <a:spcPts val="2078"/>
              </a:lnSpc>
            </a:pPr>
          </a:p>
          <a:p>
            <a:pPr algn="l">
              <a:lnSpc>
                <a:spcPts val="2078"/>
              </a:lnSpc>
            </a:pPr>
            <a:r>
              <a:rPr lang="en-US" sz="1731" b="true">
                <a:solidFill>
                  <a:srgbClr val="000000"/>
                </a:solidFill>
                <a:latin typeface="Open Sauce Bold"/>
                <a:ea typeface="Open Sauce Bold"/>
                <a:cs typeface="Open Sauce Bold"/>
                <a:sym typeface="Open Sauce Bold"/>
              </a:rPr>
              <a:t>US8 – Submission Confirmation</a:t>
            </a:r>
          </a:p>
          <a:p>
            <a:pPr algn="l">
              <a:lnSpc>
                <a:spcPts val="2078"/>
              </a:lnSpc>
            </a:pPr>
          </a:p>
          <a:p>
            <a:pPr algn="l">
              <a:lnSpc>
                <a:spcPts val="2078"/>
              </a:lnSpc>
            </a:pPr>
            <a:r>
              <a:rPr lang="en-US" sz="1731">
                <a:solidFill>
                  <a:srgbClr val="000000"/>
                </a:solidFill>
                <a:latin typeface="Open Sauce"/>
                <a:ea typeface="Open Sauce"/>
                <a:cs typeface="Open Sauce"/>
                <a:sym typeface="Open Sauce"/>
              </a:rPr>
              <a:t>As a user, I want a confirmation message when my entry is submitted so that I know it was received.</a:t>
            </a:r>
          </a:p>
          <a:p>
            <a:pPr algn="l">
              <a:lnSpc>
                <a:spcPts val="2078"/>
              </a:lnSpc>
            </a:pPr>
            <a:r>
              <a:rPr lang="en-US" sz="1731">
                <a:solidFill>
                  <a:srgbClr val="000000"/>
                </a:solidFill>
                <a:latin typeface="Open Sauce"/>
                <a:ea typeface="Open Sauce"/>
                <a:cs typeface="Open Sauce"/>
                <a:sym typeface="Open Sauce"/>
              </a:rPr>
              <a:t>Acceptance Criteria</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Co</a:t>
            </a:r>
            <a:r>
              <a:rPr lang="en-US" sz="1731">
                <a:solidFill>
                  <a:srgbClr val="000000"/>
                </a:solidFill>
                <a:latin typeface="Open Sauce"/>
                <a:ea typeface="Open Sauce"/>
                <a:cs typeface="Open Sauce"/>
                <a:sym typeface="Open Sauce"/>
              </a:rPr>
              <a:t>nfirmation message displayed in UI</a:t>
            </a:r>
          </a:p>
          <a:p>
            <a:pPr algn="l">
              <a:lnSpc>
                <a:spcPts val="2078"/>
              </a:lnSpc>
            </a:pPr>
            <a:r>
              <a:rPr lang="en-US" sz="1731">
                <a:solidFill>
                  <a:srgbClr val="000000"/>
                </a:solidFill>
                <a:latin typeface="Open Sauce"/>
                <a:ea typeface="Open Sauce"/>
                <a:cs typeface="Open Sauce"/>
                <a:sym typeface="Open Sauce"/>
              </a:rPr>
              <a:t>Priority: Must                                          Story Points: 2</a:t>
            </a:r>
          </a:p>
          <a:p>
            <a:pPr algn="l">
              <a:lnSpc>
                <a:spcPts val="2078"/>
              </a:lnSpc>
              <a:spcBef>
                <a:spcPct val="0"/>
              </a:spcBef>
            </a:pPr>
          </a:p>
        </p:txBody>
      </p:sp>
      <p:sp>
        <p:nvSpPr>
          <p:cNvPr name="TextBox 8" id="8"/>
          <p:cNvSpPr txBox="true"/>
          <p:nvPr/>
        </p:nvSpPr>
        <p:spPr>
          <a:xfrm rot="0">
            <a:off x="9824457" y="2437415"/>
            <a:ext cx="7463418" cy="4876800"/>
          </a:xfrm>
          <a:prstGeom prst="rect">
            <a:avLst/>
          </a:prstGeom>
        </p:spPr>
        <p:txBody>
          <a:bodyPr anchor="t" rtlCol="false" tIns="0" lIns="0" bIns="0" rIns="0">
            <a:spAutoFit/>
          </a:bodyPr>
          <a:lstStyle/>
          <a:p>
            <a:pPr algn="l">
              <a:lnSpc>
                <a:spcPts val="2078"/>
              </a:lnSpc>
            </a:pPr>
            <a:r>
              <a:rPr lang="en-US" sz="1731" b="true">
                <a:solidFill>
                  <a:srgbClr val="000000"/>
                </a:solidFill>
                <a:latin typeface="Open Sauce Bold"/>
                <a:ea typeface="Open Sauce Bold"/>
                <a:cs typeface="Open Sauce Bold"/>
                <a:sym typeface="Open Sauce Bold"/>
              </a:rPr>
              <a:t>US11 – User Registration</a:t>
            </a:r>
          </a:p>
          <a:p>
            <a:pPr algn="l">
              <a:lnSpc>
                <a:spcPts val="2078"/>
              </a:lnSpc>
            </a:pPr>
          </a:p>
          <a:p>
            <a:pPr algn="l">
              <a:lnSpc>
                <a:spcPts val="2078"/>
              </a:lnSpc>
            </a:pPr>
            <a:r>
              <a:rPr lang="en-US" sz="1731">
                <a:solidFill>
                  <a:srgbClr val="000000"/>
                </a:solidFill>
                <a:latin typeface="Open Sauce"/>
                <a:ea typeface="Open Sauce"/>
                <a:cs typeface="Open Sauce"/>
                <a:sym typeface="Open Sauce"/>
              </a:rPr>
              <a:t>As a user, I want to register an account so that my journal entries are securely stored</a:t>
            </a:r>
          </a:p>
          <a:p>
            <a:pPr algn="l">
              <a:lnSpc>
                <a:spcPts val="2078"/>
              </a:lnSpc>
            </a:pPr>
            <a:r>
              <a:rPr lang="en-US" sz="1731">
                <a:solidFill>
                  <a:srgbClr val="000000"/>
                </a:solidFill>
                <a:latin typeface="Open Sauce"/>
                <a:ea typeface="Open Sauce"/>
                <a:cs typeface="Open Sauce"/>
                <a:sym typeface="Open Sauce"/>
              </a:rPr>
              <a:t>Acceptance Criteria</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Email &amp; password required</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Password hashed</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User saved in database</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Duplicate email prevented</a:t>
            </a:r>
          </a:p>
          <a:p>
            <a:pPr algn="l">
              <a:lnSpc>
                <a:spcPts val="2078"/>
              </a:lnSpc>
            </a:pPr>
            <a:r>
              <a:rPr lang="en-US" sz="1731">
                <a:solidFill>
                  <a:srgbClr val="000000"/>
                </a:solidFill>
                <a:latin typeface="Open Sauce"/>
                <a:ea typeface="Open Sauce"/>
                <a:cs typeface="Open Sauce"/>
                <a:sym typeface="Open Sauce"/>
              </a:rPr>
              <a:t>Priority: Will not have                                           Story Points: 5</a:t>
            </a:r>
          </a:p>
          <a:p>
            <a:pPr algn="l">
              <a:lnSpc>
                <a:spcPts val="2078"/>
              </a:lnSpc>
            </a:pPr>
          </a:p>
          <a:p>
            <a:pPr algn="l">
              <a:lnSpc>
                <a:spcPts val="2078"/>
              </a:lnSpc>
            </a:pPr>
            <a:r>
              <a:rPr lang="en-US" sz="1731" b="true">
                <a:solidFill>
                  <a:srgbClr val="000000"/>
                </a:solidFill>
                <a:latin typeface="Open Sauce Bold"/>
                <a:ea typeface="Open Sauce Bold"/>
                <a:cs typeface="Open Sauce Bold"/>
                <a:sym typeface="Open Sauce Bold"/>
              </a:rPr>
              <a:t>US12 – User Login</a:t>
            </a:r>
          </a:p>
          <a:p>
            <a:pPr algn="l">
              <a:lnSpc>
                <a:spcPts val="2078"/>
              </a:lnSpc>
            </a:pPr>
          </a:p>
          <a:p>
            <a:pPr algn="l">
              <a:lnSpc>
                <a:spcPts val="2078"/>
              </a:lnSpc>
            </a:pPr>
            <a:r>
              <a:rPr lang="en-US" sz="1731">
                <a:solidFill>
                  <a:srgbClr val="000000"/>
                </a:solidFill>
                <a:latin typeface="Open Sauce"/>
                <a:ea typeface="Open Sauce"/>
                <a:cs typeface="Open Sauce"/>
                <a:sym typeface="Open Sauce"/>
              </a:rPr>
              <a:t>As a user, I want to log in so that I can access my journal dashboard.</a:t>
            </a:r>
          </a:p>
          <a:p>
            <a:pPr algn="l">
              <a:lnSpc>
                <a:spcPts val="2078"/>
              </a:lnSpc>
            </a:pPr>
            <a:r>
              <a:rPr lang="en-US" sz="1731">
                <a:solidFill>
                  <a:srgbClr val="000000"/>
                </a:solidFill>
                <a:latin typeface="Open Sauce"/>
                <a:ea typeface="Open Sauce"/>
                <a:cs typeface="Open Sauce"/>
                <a:sym typeface="Open Sauce"/>
              </a:rPr>
              <a:t>Acceptance Criteria</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JWT token generated</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Protected routes enforced</a:t>
            </a:r>
          </a:p>
          <a:p>
            <a:pPr algn="l" marL="373896" indent="-186948" lvl="1">
              <a:lnSpc>
                <a:spcPts val="2078"/>
              </a:lnSpc>
              <a:buFont typeface="Arial"/>
              <a:buChar char="•"/>
            </a:pPr>
            <a:r>
              <a:rPr lang="en-US" sz="1731">
                <a:solidFill>
                  <a:srgbClr val="000000"/>
                </a:solidFill>
                <a:latin typeface="Open Sauce"/>
                <a:ea typeface="Open Sauce"/>
                <a:cs typeface="Open Sauce"/>
                <a:sym typeface="Open Sauce"/>
              </a:rPr>
              <a:t>Login error handling</a:t>
            </a:r>
          </a:p>
          <a:p>
            <a:pPr algn="l">
              <a:lnSpc>
                <a:spcPts val="2078"/>
              </a:lnSpc>
              <a:spcBef>
                <a:spcPct val="0"/>
              </a:spcBef>
            </a:pPr>
            <a:r>
              <a:rPr lang="en-US" sz="1731">
                <a:solidFill>
                  <a:srgbClr val="000000"/>
                </a:solidFill>
                <a:latin typeface="Open Sauce"/>
                <a:ea typeface="Open Sauce"/>
                <a:cs typeface="Open Sauce"/>
                <a:sym typeface="Open Sauce"/>
              </a:rPr>
              <a:t>Priority: Will not have                                      Story Points: 5</a:t>
            </a:r>
          </a:p>
        </p:txBody>
      </p:sp>
      <p:sp>
        <p:nvSpPr>
          <p:cNvPr name="TextBox 9" id="9"/>
          <p:cNvSpPr txBox="true"/>
          <p:nvPr/>
        </p:nvSpPr>
        <p:spPr>
          <a:xfrm rot="0">
            <a:off x="11578414" y="1550631"/>
            <a:ext cx="3898353" cy="511618"/>
          </a:xfrm>
          <a:prstGeom prst="rect">
            <a:avLst/>
          </a:prstGeom>
        </p:spPr>
        <p:txBody>
          <a:bodyPr anchor="t" rtlCol="false" tIns="0" lIns="0" bIns="0" rIns="0">
            <a:spAutoFit/>
          </a:bodyPr>
          <a:lstStyle/>
          <a:p>
            <a:pPr algn="ctr">
              <a:lnSpc>
                <a:spcPts val="4286"/>
              </a:lnSpc>
            </a:pPr>
            <a:r>
              <a:rPr lang="en-US" b="true" sz="2678" spc="267">
                <a:solidFill>
                  <a:srgbClr val="000000"/>
                </a:solidFill>
                <a:latin typeface="Lato Bold"/>
                <a:ea typeface="Lato Bold"/>
                <a:cs typeface="Lato Bold"/>
                <a:sym typeface="Lato Bold"/>
              </a:rPr>
              <a:t>Future Features</a:t>
            </a:r>
          </a:p>
        </p:txBody>
      </p:sp>
      <p:sp>
        <p:nvSpPr>
          <p:cNvPr name="TextBox 10" id="10"/>
          <p:cNvSpPr txBox="true"/>
          <p:nvPr/>
        </p:nvSpPr>
        <p:spPr>
          <a:xfrm rot="0">
            <a:off x="11147792" y="8061634"/>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2" tooltip="https://1drv.ms/x/c/c30f4680ccc79b8c/IQC9fztrzBx4Rrh7wy889blgAWKdZ5Khnt9L0mDcJNT6C-c"/>
              </a:rPr>
              <a:t>Detailed spreadsheet here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775007" y="487680"/>
            <a:ext cx="8737987" cy="948690"/>
          </a:xfrm>
          <a:prstGeom prst="rect">
            <a:avLst/>
          </a:prstGeom>
        </p:spPr>
        <p:txBody>
          <a:bodyPr anchor="t" rtlCol="false" tIns="0" lIns="0" bIns="0" rIns="0">
            <a:spAutoFit/>
          </a:bodyPr>
          <a:lstStyle/>
          <a:p>
            <a:pPr algn="l" marL="0" indent="0" lvl="0">
              <a:lnSpc>
                <a:spcPts val="7560"/>
              </a:lnSpc>
            </a:pPr>
            <a:r>
              <a:rPr lang="en-US" b="true" sz="5400" spc="270">
                <a:solidFill>
                  <a:srgbClr val="000000"/>
                </a:solidFill>
                <a:latin typeface="Helios Extended Bold"/>
                <a:ea typeface="Helios Extended Bold"/>
                <a:cs typeface="Helios Extended Bold"/>
                <a:sym typeface="Helios Extended Bold"/>
              </a:rPr>
              <a:t>SPRINT 1 BACKLOG</a:t>
            </a:r>
          </a:p>
        </p:txBody>
      </p:sp>
      <p:grpSp>
        <p:nvGrpSpPr>
          <p:cNvPr name="Group 3" id="3"/>
          <p:cNvGrpSpPr/>
          <p:nvPr/>
        </p:nvGrpSpPr>
        <p:grpSpPr>
          <a:xfrm rot="0">
            <a:off x="1462118" y="1825715"/>
            <a:ext cx="15363763" cy="7672635"/>
            <a:chOff x="0" y="0"/>
            <a:chExt cx="4668157" cy="2331293"/>
          </a:xfrm>
        </p:grpSpPr>
        <p:sp>
          <p:nvSpPr>
            <p:cNvPr name="Freeform 4" id="4"/>
            <p:cNvSpPr/>
            <p:nvPr/>
          </p:nvSpPr>
          <p:spPr>
            <a:xfrm flipH="false" flipV="false" rot="0">
              <a:off x="0" y="0"/>
              <a:ext cx="4668157" cy="2331293"/>
            </a:xfrm>
            <a:custGeom>
              <a:avLst/>
              <a:gdLst/>
              <a:ahLst/>
              <a:cxnLst/>
              <a:rect r="r" b="b" t="t" l="l"/>
              <a:pathLst>
                <a:path h="2331293" w="4668157">
                  <a:moveTo>
                    <a:pt x="4668157" y="26203"/>
                  </a:moveTo>
                  <a:lnTo>
                    <a:pt x="4668157" y="2305090"/>
                  </a:lnTo>
                  <a:cubicBezTo>
                    <a:pt x="4668157" y="2319562"/>
                    <a:pt x="4656426" y="2331293"/>
                    <a:pt x="4641954" y="2331293"/>
                  </a:cubicBezTo>
                  <a:lnTo>
                    <a:pt x="26203" y="2331293"/>
                  </a:lnTo>
                  <a:cubicBezTo>
                    <a:pt x="19254" y="2331293"/>
                    <a:pt x="12589" y="2328532"/>
                    <a:pt x="7675" y="2323618"/>
                  </a:cubicBezTo>
                  <a:cubicBezTo>
                    <a:pt x="2761" y="2318704"/>
                    <a:pt x="0" y="2312039"/>
                    <a:pt x="0" y="2305090"/>
                  </a:cubicBezTo>
                  <a:lnTo>
                    <a:pt x="0" y="26203"/>
                  </a:lnTo>
                  <a:cubicBezTo>
                    <a:pt x="0" y="19254"/>
                    <a:pt x="2761" y="12589"/>
                    <a:pt x="7675" y="7675"/>
                  </a:cubicBezTo>
                  <a:cubicBezTo>
                    <a:pt x="12589" y="2761"/>
                    <a:pt x="19254" y="0"/>
                    <a:pt x="26203" y="0"/>
                  </a:cubicBezTo>
                  <a:lnTo>
                    <a:pt x="4641954" y="0"/>
                  </a:lnTo>
                  <a:cubicBezTo>
                    <a:pt x="4656426" y="0"/>
                    <a:pt x="4668157" y="11732"/>
                    <a:pt x="4668157" y="26203"/>
                  </a:cubicBezTo>
                  <a:close/>
                </a:path>
              </a:pathLst>
            </a:custGeom>
            <a:solidFill>
              <a:srgbClr val="F2F1F1">
                <a:alpha val="80000"/>
              </a:srgbClr>
            </a:solidFill>
          </p:spPr>
        </p:sp>
        <p:sp>
          <p:nvSpPr>
            <p:cNvPr name="TextBox 5" id="5"/>
            <p:cNvSpPr txBox="true"/>
            <p:nvPr/>
          </p:nvSpPr>
          <p:spPr>
            <a:xfrm>
              <a:off x="0" y="-47625"/>
              <a:ext cx="4668157" cy="2378918"/>
            </a:xfrm>
            <a:prstGeom prst="rect">
              <a:avLst/>
            </a:prstGeom>
          </p:spPr>
          <p:txBody>
            <a:bodyPr anchor="ctr" rtlCol="false" tIns="50800" lIns="50800" bIns="50800" rIns="50800"/>
            <a:lstStyle/>
            <a:p>
              <a:pPr algn="ctr">
                <a:lnSpc>
                  <a:spcPts val="3359"/>
                </a:lnSpc>
              </a:pPr>
            </a:p>
          </p:txBody>
        </p:sp>
      </p:grpSp>
      <p:sp>
        <p:nvSpPr>
          <p:cNvPr name="TextBox 6" id="6"/>
          <p:cNvSpPr txBox="true"/>
          <p:nvPr/>
        </p:nvSpPr>
        <p:spPr>
          <a:xfrm rot="0">
            <a:off x="2737753" y="2619375"/>
            <a:ext cx="12812493" cy="5353050"/>
          </a:xfrm>
          <a:prstGeom prst="rect">
            <a:avLst/>
          </a:prstGeom>
        </p:spPr>
        <p:txBody>
          <a:bodyPr anchor="t" rtlCol="false" tIns="0" lIns="0" bIns="0" rIns="0">
            <a:spAutoFit/>
          </a:bodyPr>
          <a:lstStyle/>
          <a:p>
            <a:pPr algn="l">
              <a:lnSpc>
                <a:spcPts val="2520"/>
              </a:lnSpc>
            </a:pPr>
            <a:r>
              <a:rPr lang="en-US" sz="2100">
                <a:solidFill>
                  <a:srgbClr val="000000"/>
                </a:solidFill>
                <a:latin typeface="Open Sauce"/>
                <a:ea typeface="Open Sauce"/>
                <a:cs typeface="Open Sauce"/>
                <a:sym typeface="Open Sauce"/>
              </a:rPr>
              <a:t>Sprint Name: Sp</a:t>
            </a:r>
            <a:r>
              <a:rPr lang="en-US" sz="2100">
                <a:solidFill>
                  <a:srgbClr val="000000"/>
                </a:solidFill>
                <a:latin typeface="Open Sauce"/>
                <a:ea typeface="Open Sauce"/>
                <a:cs typeface="Open Sauce"/>
                <a:sym typeface="Open Sauce"/>
              </a:rPr>
              <a:t>rint 1</a:t>
            </a:r>
          </a:p>
          <a:p>
            <a:pPr algn="l">
              <a:lnSpc>
                <a:spcPts val="2520"/>
              </a:lnSpc>
            </a:pPr>
            <a:r>
              <a:rPr lang="en-US" sz="2100">
                <a:solidFill>
                  <a:srgbClr val="000000"/>
                </a:solidFill>
                <a:latin typeface="Open Sauce"/>
                <a:ea typeface="Open Sauce"/>
                <a:cs typeface="Open Sauce"/>
                <a:sym typeface="Open Sauce"/>
              </a:rPr>
              <a:t>Sprint Duration: February 20 – March 2026</a:t>
            </a:r>
          </a:p>
          <a:p>
            <a:pPr algn="l">
              <a:lnSpc>
                <a:spcPts val="2520"/>
              </a:lnSpc>
            </a:pPr>
            <a:r>
              <a:rPr lang="en-US" sz="2100">
                <a:solidFill>
                  <a:srgbClr val="000000"/>
                </a:solidFill>
                <a:latin typeface="Open Sauce"/>
                <a:ea typeface="Open Sauce"/>
                <a:cs typeface="Open Sauce"/>
                <a:sym typeface="Open Sauce"/>
              </a:rPr>
              <a:t>S</a:t>
            </a:r>
            <a:r>
              <a:rPr lang="en-US" sz="2100">
                <a:solidFill>
                  <a:srgbClr val="000000"/>
                </a:solidFill>
                <a:latin typeface="Open Sauce"/>
                <a:ea typeface="Open Sauce"/>
                <a:cs typeface="Open Sauce"/>
                <a:sym typeface="Open Sauce"/>
              </a:rPr>
              <a:t>print Length: 3 Weeks</a:t>
            </a:r>
          </a:p>
          <a:p>
            <a:pPr algn="l">
              <a:lnSpc>
                <a:spcPts val="2520"/>
              </a:lnSpc>
            </a:pPr>
          </a:p>
          <a:p>
            <a:pPr algn="l">
              <a:lnSpc>
                <a:spcPts val="2520"/>
              </a:lnSpc>
            </a:pPr>
          </a:p>
          <a:p>
            <a:pPr algn="l">
              <a:lnSpc>
                <a:spcPts val="2520"/>
              </a:lnSpc>
            </a:pPr>
            <a:r>
              <a:rPr lang="en-US" sz="2100" b="true">
                <a:solidFill>
                  <a:srgbClr val="000000"/>
                </a:solidFill>
                <a:latin typeface="Open Sauce Bold"/>
                <a:ea typeface="Open Sauce Bold"/>
                <a:cs typeface="Open Sauce Bold"/>
                <a:sym typeface="Open Sauce Bold"/>
              </a:rPr>
              <a:t>S</a:t>
            </a:r>
            <a:r>
              <a:rPr lang="en-US" sz="2100" b="true">
                <a:solidFill>
                  <a:srgbClr val="000000"/>
                </a:solidFill>
                <a:latin typeface="Open Sauce Bold"/>
                <a:ea typeface="Open Sauce Bold"/>
                <a:cs typeface="Open Sauce Bold"/>
                <a:sym typeface="Open Sauce Bold"/>
              </a:rPr>
              <a:t>print Goal</a:t>
            </a:r>
          </a:p>
          <a:p>
            <a:pPr algn="l">
              <a:lnSpc>
                <a:spcPts val="2520"/>
              </a:lnSpc>
            </a:pPr>
          </a:p>
          <a:p>
            <a:pPr algn="l">
              <a:lnSpc>
                <a:spcPts val="2520"/>
              </a:lnSpc>
            </a:pPr>
            <a:r>
              <a:rPr lang="en-US" sz="2100">
                <a:solidFill>
                  <a:srgbClr val="000000"/>
                </a:solidFill>
                <a:latin typeface="Open Sauce"/>
                <a:ea typeface="Open Sauce"/>
                <a:cs typeface="Open Sauce"/>
                <a:sym typeface="Open Sauce"/>
              </a:rPr>
              <a:t>De</a:t>
            </a:r>
            <a:r>
              <a:rPr lang="en-US" sz="2100">
                <a:solidFill>
                  <a:srgbClr val="000000"/>
                </a:solidFill>
                <a:latin typeface="Open Sauce"/>
                <a:ea typeface="Open Sauce"/>
                <a:cs typeface="Open Sauce"/>
                <a:sym typeface="Open Sauce"/>
              </a:rPr>
              <a:t>liver a functional journaling workflow that al</a:t>
            </a:r>
            <a:r>
              <a:rPr lang="en-US" sz="2100">
                <a:solidFill>
                  <a:srgbClr val="000000"/>
                </a:solidFill>
                <a:latin typeface="Open Sauce"/>
                <a:ea typeface="Open Sauce"/>
                <a:cs typeface="Open Sauce"/>
                <a:sym typeface="Open Sauce"/>
              </a:rPr>
              <a:t>lows</a:t>
            </a:r>
            <a:r>
              <a:rPr lang="en-US" sz="2100">
                <a:solidFill>
                  <a:srgbClr val="000000"/>
                </a:solidFill>
                <a:latin typeface="Open Sauce"/>
                <a:ea typeface="Open Sauce"/>
                <a:cs typeface="Open Sauce"/>
                <a:sym typeface="Open Sauce"/>
              </a:rPr>
              <a:t> users to submit journal entries and begin sentiment analysis processing.</a:t>
            </a:r>
          </a:p>
          <a:p>
            <a:pPr algn="l">
              <a:lnSpc>
                <a:spcPts val="2520"/>
              </a:lnSpc>
            </a:pPr>
          </a:p>
          <a:p>
            <a:pPr algn="l">
              <a:lnSpc>
                <a:spcPts val="2520"/>
              </a:lnSpc>
            </a:pPr>
            <a:r>
              <a:rPr lang="en-US" sz="2100" b="true">
                <a:solidFill>
                  <a:srgbClr val="000000"/>
                </a:solidFill>
                <a:latin typeface="Open Sauce Bold"/>
                <a:ea typeface="Open Sauce Bold"/>
                <a:cs typeface="Open Sauce Bold"/>
                <a:sym typeface="Open Sauce Bold"/>
              </a:rPr>
              <a:t>S</a:t>
            </a:r>
            <a:r>
              <a:rPr lang="en-US" sz="2100" b="true">
                <a:solidFill>
                  <a:srgbClr val="000000"/>
                </a:solidFill>
                <a:latin typeface="Open Sauce Bold"/>
                <a:ea typeface="Open Sauce Bold"/>
                <a:cs typeface="Open Sauce Bold"/>
                <a:sym typeface="Open Sauce Bold"/>
              </a:rPr>
              <a:t>tories </a:t>
            </a:r>
            <a:r>
              <a:rPr lang="en-US" sz="2100" b="true">
                <a:solidFill>
                  <a:srgbClr val="000000"/>
                </a:solidFill>
                <a:latin typeface="Open Sauce Bold"/>
                <a:ea typeface="Open Sauce Bold"/>
                <a:cs typeface="Open Sauce Bold"/>
                <a:sym typeface="Open Sauce Bold"/>
              </a:rPr>
              <a:t>Co</a:t>
            </a:r>
            <a:r>
              <a:rPr lang="en-US" sz="2100" b="true">
                <a:solidFill>
                  <a:srgbClr val="000000"/>
                </a:solidFill>
                <a:latin typeface="Open Sauce Bold"/>
                <a:ea typeface="Open Sauce Bold"/>
                <a:cs typeface="Open Sauce Bold"/>
                <a:sym typeface="Open Sauce Bold"/>
              </a:rPr>
              <a:t>mmitted</a:t>
            </a:r>
          </a:p>
          <a:p>
            <a:pPr algn="l">
              <a:lnSpc>
                <a:spcPts val="2520"/>
              </a:lnSpc>
            </a:pPr>
          </a:p>
          <a:p>
            <a:pPr algn="l">
              <a:lnSpc>
                <a:spcPts val="2520"/>
              </a:lnSpc>
            </a:pPr>
            <a:r>
              <a:rPr lang="en-US" sz="2100">
                <a:solidFill>
                  <a:srgbClr val="000000"/>
                </a:solidFill>
                <a:latin typeface="Open Sauce"/>
                <a:ea typeface="Open Sauce"/>
                <a:cs typeface="Open Sauce"/>
                <a:sym typeface="Open Sauce"/>
              </a:rPr>
              <a:t>US1, US2, US3, US4, US5, US6, US7, US8, US9, US10, US13</a:t>
            </a:r>
          </a:p>
          <a:p>
            <a:pPr algn="l">
              <a:lnSpc>
                <a:spcPts val="2520"/>
              </a:lnSpc>
            </a:pPr>
          </a:p>
          <a:p>
            <a:pPr algn="ctr">
              <a:lnSpc>
                <a:spcPts val="2520"/>
              </a:lnSpc>
            </a:pPr>
          </a:p>
          <a:p>
            <a:pPr algn="ctr">
              <a:lnSpc>
                <a:spcPts val="2520"/>
              </a:lnSpc>
            </a:pPr>
            <a:r>
              <a:rPr lang="en-US" sz="2100">
                <a:solidFill>
                  <a:srgbClr val="000000"/>
                </a:solidFill>
                <a:latin typeface="Open Sauce"/>
                <a:ea typeface="Open Sauce"/>
                <a:cs typeface="Open Sauce"/>
                <a:sym typeface="Open Sauce"/>
              </a:rPr>
              <a:t>Total Story Points Committed: 51</a:t>
            </a:r>
          </a:p>
          <a:p>
            <a:pPr algn="l">
              <a:lnSpc>
                <a:spcPts val="2520"/>
              </a:lnSpc>
              <a:spcBef>
                <a:spcPct val="0"/>
              </a:spcBef>
            </a:pPr>
          </a:p>
        </p:txBody>
      </p:sp>
      <p:sp>
        <p:nvSpPr>
          <p:cNvPr name="TextBox 7" id="7"/>
          <p:cNvSpPr txBox="true"/>
          <p:nvPr/>
        </p:nvSpPr>
        <p:spPr>
          <a:xfrm rot="0">
            <a:off x="11304593" y="8343391"/>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2" tooltip="https://1drv.ms/x/c/c30f4680ccc79b8c/IQC9fztrzBx4Rrh7wy889blgAWKdZ5Khnt9L0mDcJNT6C-c"/>
              </a:rPr>
              <a:t>Detailed spreadsheet here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71643" y="1825715"/>
            <a:ext cx="15363763" cy="7672635"/>
            <a:chOff x="0" y="0"/>
            <a:chExt cx="4668157" cy="2331293"/>
          </a:xfrm>
        </p:grpSpPr>
        <p:sp>
          <p:nvSpPr>
            <p:cNvPr name="Freeform 3" id="3"/>
            <p:cNvSpPr/>
            <p:nvPr/>
          </p:nvSpPr>
          <p:spPr>
            <a:xfrm flipH="false" flipV="false" rot="0">
              <a:off x="0" y="0"/>
              <a:ext cx="4668157" cy="2331293"/>
            </a:xfrm>
            <a:custGeom>
              <a:avLst/>
              <a:gdLst/>
              <a:ahLst/>
              <a:cxnLst/>
              <a:rect r="r" b="b" t="t" l="l"/>
              <a:pathLst>
                <a:path h="2331293" w="4668157">
                  <a:moveTo>
                    <a:pt x="4668157" y="26203"/>
                  </a:moveTo>
                  <a:lnTo>
                    <a:pt x="4668157" y="2305090"/>
                  </a:lnTo>
                  <a:cubicBezTo>
                    <a:pt x="4668157" y="2319562"/>
                    <a:pt x="4656426" y="2331293"/>
                    <a:pt x="4641954" y="2331293"/>
                  </a:cubicBezTo>
                  <a:lnTo>
                    <a:pt x="26203" y="2331293"/>
                  </a:lnTo>
                  <a:cubicBezTo>
                    <a:pt x="19254" y="2331293"/>
                    <a:pt x="12589" y="2328532"/>
                    <a:pt x="7675" y="2323618"/>
                  </a:cubicBezTo>
                  <a:cubicBezTo>
                    <a:pt x="2761" y="2318704"/>
                    <a:pt x="0" y="2312039"/>
                    <a:pt x="0" y="2305090"/>
                  </a:cubicBezTo>
                  <a:lnTo>
                    <a:pt x="0" y="26203"/>
                  </a:lnTo>
                  <a:cubicBezTo>
                    <a:pt x="0" y="19254"/>
                    <a:pt x="2761" y="12589"/>
                    <a:pt x="7675" y="7675"/>
                  </a:cubicBezTo>
                  <a:cubicBezTo>
                    <a:pt x="12589" y="2761"/>
                    <a:pt x="19254" y="0"/>
                    <a:pt x="26203" y="0"/>
                  </a:cubicBezTo>
                  <a:lnTo>
                    <a:pt x="4641954" y="0"/>
                  </a:lnTo>
                  <a:cubicBezTo>
                    <a:pt x="4656426" y="0"/>
                    <a:pt x="4668157" y="11732"/>
                    <a:pt x="4668157" y="26203"/>
                  </a:cubicBezTo>
                  <a:close/>
                </a:path>
              </a:pathLst>
            </a:custGeom>
            <a:solidFill>
              <a:srgbClr val="F2F1F1">
                <a:alpha val="80000"/>
              </a:srgbClr>
            </a:solidFill>
          </p:spPr>
        </p:sp>
        <p:sp>
          <p:nvSpPr>
            <p:cNvPr name="TextBox 4" id="4"/>
            <p:cNvSpPr txBox="true"/>
            <p:nvPr/>
          </p:nvSpPr>
          <p:spPr>
            <a:xfrm>
              <a:off x="0" y="-47625"/>
              <a:ext cx="4668157" cy="2378918"/>
            </a:xfrm>
            <a:prstGeom prst="rect">
              <a:avLst/>
            </a:prstGeom>
          </p:spPr>
          <p:txBody>
            <a:bodyPr anchor="ctr" rtlCol="false" tIns="50800" lIns="50800" bIns="50800" rIns="50800"/>
            <a:lstStyle/>
            <a:p>
              <a:pPr algn="ctr">
                <a:lnSpc>
                  <a:spcPts val="3359"/>
                </a:lnSpc>
              </a:pPr>
            </a:p>
          </p:txBody>
        </p:sp>
      </p:grpSp>
      <p:graphicFrame>
        <p:nvGraphicFramePr>
          <p:cNvPr name="Object 5" id="5"/>
          <p:cNvGraphicFramePr/>
          <p:nvPr/>
        </p:nvGraphicFramePr>
        <p:xfrm>
          <a:off x="7510817" y="2634559"/>
          <a:ext cx="11341923" cy="8229600"/>
        </p:xfrm>
        <a:graphic>
          <a:graphicData uri="http://schemas.openxmlformats.org/presentationml/2006/ole">
            <p:oleObj imgW="13601700" imgH="10490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6" id="6"/>
          <p:cNvSpPr txBox="true"/>
          <p:nvPr/>
        </p:nvSpPr>
        <p:spPr>
          <a:xfrm rot="0">
            <a:off x="2621895" y="400776"/>
            <a:ext cx="13044210" cy="948690"/>
          </a:xfrm>
          <a:prstGeom prst="rect">
            <a:avLst/>
          </a:prstGeom>
        </p:spPr>
        <p:txBody>
          <a:bodyPr anchor="t" rtlCol="false" tIns="0" lIns="0" bIns="0" rIns="0">
            <a:spAutoFit/>
          </a:bodyPr>
          <a:lstStyle/>
          <a:p>
            <a:pPr algn="l" marL="0" indent="0" lvl="0">
              <a:lnSpc>
                <a:spcPts val="7560"/>
              </a:lnSpc>
            </a:pPr>
            <a:r>
              <a:rPr lang="en-US" b="true" sz="5400" spc="270">
                <a:solidFill>
                  <a:srgbClr val="000000"/>
                </a:solidFill>
                <a:latin typeface="Helios Extended Bold"/>
                <a:ea typeface="Helios Extended Bold"/>
                <a:cs typeface="Helios Extended Bold"/>
                <a:sym typeface="Helios Extended Bold"/>
              </a:rPr>
              <a:t>SPRINT 1 TASK BREAKDOWN</a:t>
            </a:r>
          </a:p>
        </p:txBody>
      </p:sp>
      <p:sp>
        <p:nvSpPr>
          <p:cNvPr name="TextBox 7" id="7"/>
          <p:cNvSpPr txBox="true"/>
          <p:nvPr/>
        </p:nvSpPr>
        <p:spPr>
          <a:xfrm rot="0">
            <a:off x="1938867" y="2776728"/>
            <a:ext cx="4812602" cy="4695444"/>
          </a:xfrm>
          <a:prstGeom prst="rect">
            <a:avLst/>
          </a:prstGeom>
        </p:spPr>
        <p:txBody>
          <a:bodyPr anchor="t" rtlCol="false" tIns="0" lIns="0" bIns="0" rIns="0">
            <a:spAutoFit/>
          </a:bodyPr>
          <a:lstStyle/>
          <a:p>
            <a:pPr algn="l">
              <a:lnSpc>
                <a:spcPts val="2897"/>
              </a:lnSpc>
            </a:pPr>
            <a:r>
              <a:rPr lang="en-US" sz="2100">
                <a:solidFill>
                  <a:srgbClr val="000000"/>
                </a:solidFill>
                <a:latin typeface="Open Sauce"/>
                <a:ea typeface="Open Sauce"/>
                <a:cs typeface="Open Sauce"/>
                <a:sym typeface="Open Sauce"/>
              </a:rPr>
              <a:t>During Sp</a:t>
            </a:r>
            <a:r>
              <a:rPr lang="en-US" sz="2100">
                <a:solidFill>
                  <a:srgbClr val="000000"/>
                </a:solidFill>
                <a:latin typeface="Open Sauce"/>
                <a:ea typeface="Open Sauce"/>
                <a:cs typeface="Open Sauce"/>
                <a:sym typeface="Open Sauce"/>
              </a:rPr>
              <a:t>rint 1, user stories were decomposed into technical tasks to dist</a:t>
            </a:r>
            <a:r>
              <a:rPr lang="en-US" sz="2100">
                <a:solidFill>
                  <a:srgbClr val="000000"/>
                </a:solidFill>
                <a:latin typeface="Open Sauce"/>
                <a:ea typeface="Open Sauce"/>
                <a:cs typeface="Open Sauce"/>
                <a:sym typeface="Open Sauce"/>
              </a:rPr>
              <a:t>ri</a:t>
            </a:r>
            <a:r>
              <a:rPr lang="en-US" sz="2100">
                <a:solidFill>
                  <a:srgbClr val="000000"/>
                </a:solidFill>
                <a:latin typeface="Open Sauce"/>
                <a:ea typeface="Open Sauce"/>
                <a:cs typeface="Open Sauce"/>
                <a:sym typeface="Open Sauce"/>
              </a:rPr>
              <a:t>bu</a:t>
            </a:r>
            <a:r>
              <a:rPr lang="en-US" sz="2100">
                <a:solidFill>
                  <a:srgbClr val="000000"/>
                </a:solidFill>
                <a:latin typeface="Open Sauce"/>
                <a:ea typeface="Open Sauce"/>
                <a:cs typeface="Open Sauce"/>
                <a:sym typeface="Open Sauce"/>
              </a:rPr>
              <a:t>t</a:t>
            </a:r>
            <a:r>
              <a:rPr lang="en-US" sz="2100">
                <a:solidFill>
                  <a:srgbClr val="000000"/>
                </a:solidFill>
                <a:latin typeface="Open Sauce"/>
                <a:ea typeface="Open Sauce"/>
                <a:cs typeface="Open Sauce"/>
                <a:sym typeface="Open Sauce"/>
              </a:rPr>
              <a:t>e</a:t>
            </a:r>
            <a:r>
              <a:rPr lang="en-US" sz="2100">
                <a:solidFill>
                  <a:srgbClr val="000000"/>
                </a:solidFill>
                <a:latin typeface="Open Sauce"/>
                <a:ea typeface="Open Sauce"/>
                <a:cs typeface="Open Sauce"/>
                <a:sym typeface="Open Sauce"/>
              </a:rPr>
              <a:t> </a:t>
            </a:r>
            <a:r>
              <a:rPr lang="en-US" sz="2100">
                <a:solidFill>
                  <a:srgbClr val="000000"/>
                </a:solidFill>
                <a:latin typeface="Open Sauce"/>
                <a:ea typeface="Open Sauce"/>
                <a:cs typeface="Open Sauce"/>
                <a:sym typeface="Open Sauce"/>
              </a:rPr>
              <a:t>w</a:t>
            </a:r>
            <a:r>
              <a:rPr lang="en-US" sz="2100">
                <a:solidFill>
                  <a:srgbClr val="000000"/>
                </a:solidFill>
                <a:latin typeface="Open Sauce"/>
                <a:ea typeface="Open Sauce"/>
                <a:cs typeface="Open Sauce"/>
                <a:sym typeface="Open Sauce"/>
              </a:rPr>
              <a:t>o</a:t>
            </a:r>
            <a:r>
              <a:rPr lang="en-US" sz="2100">
                <a:solidFill>
                  <a:srgbClr val="000000"/>
                </a:solidFill>
                <a:latin typeface="Open Sauce"/>
                <a:ea typeface="Open Sauce"/>
                <a:cs typeface="Open Sauce"/>
                <a:sym typeface="Open Sauce"/>
              </a:rPr>
              <a:t>rk </a:t>
            </a:r>
            <a:r>
              <a:rPr lang="en-US" sz="2100">
                <a:solidFill>
                  <a:srgbClr val="000000"/>
                </a:solidFill>
                <a:latin typeface="Open Sauce"/>
                <a:ea typeface="Open Sauce"/>
                <a:cs typeface="Open Sauce"/>
                <a:sym typeface="Open Sauce"/>
              </a:rPr>
              <a:t>a</a:t>
            </a:r>
            <a:r>
              <a:rPr lang="en-US" sz="2100">
                <a:solidFill>
                  <a:srgbClr val="000000"/>
                </a:solidFill>
                <a:latin typeface="Open Sauce"/>
                <a:ea typeface="Open Sauce"/>
                <a:cs typeface="Open Sauce"/>
                <a:sym typeface="Open Sauce"/>
              </a:rPr>
              <a:t>mong t</a:t>
            </a:r>
            <a:r>
              <a:rPr lang="en-US" sz="2100">
                <a:solidFill>
                  <a:srgbClr val="000000"/>
                </a:solidFill>
                <a:latin typeface="Open Sauce"/>
                <a:ea typeface="Open Sauce"/>
                <a:cs typeface="Open Sauce"/>
                <a:sym typeface="Open Sauce"/>
              </a:rPr>
              <a:t>eam memb</a:t>
            </a:r>
            <a:r>
              <a:rPr lang="en-US" sz="2100">
                <a:solidFill>
                  <a:srgbClr val="000000"/>
                </a:solidFill>
                <a:latin typeface="Open Sauce"/>
                <a:ea typeface="Open Sauce"/>
                <a:cs typeface="Open Sauce"/>
                <a:sym typeface="Open Sauce"/>
              </a:rPr>
              <a:t>ers and track implementation progress.</a:t>
            </a:r>
          </a:p>
          <a:p>
            <a:pPr algn="l">
              <a:lnSpc>
                <a:spcPts val="2897"/>
              </a:lnSpc>
            </a:pPr>
          </a:p>
          <a:p>
            <a:pPr algn="l">
              <a:lnSpc>
                <a:spcPts val="2897"/>
              </a:lnSpc>
            </a:pPr>
            <a:r>
              <a:rPr lang="en-US" sz="2100">
                <a:solidFill>
                  <a:srgbClr val="000000"/>
                </a:solidFill>
                <a:latin typeface="Open Sauce"/>
                <a:ea typeface="Open Sauce"/>
                <a:cs typeface="Open Sauce"/>
                <a:sym typeface="Open Sauce"/>
              </a:rPr>
              <a:t>Task breakdown al</a:t>
            </a:r>
            <a:r>
              <a:rPr lang="en-US" sz="2100">
                <a:solidFill>
                  <a:srgbClr val="000000"/>
                </a:solidFill>
                <a:latin typeface="Open Sauce"/>
                <a:ea typeface="Open Sauce"/>
                <a:cs typeface="Open Sauce"/>
                <a:sym typeface="Open Sauce"/>
              </a:rPr>
              <a:t>lows</a:t>
            </a:r>
            <a:r>
              <a:rPr lang="en-US" sz="2100">
                <a:solidFill>
                  <a:srgbClr val="000000"/>
                </a:solidFill>
                <a:latin typeface="Open Sauce"/>
                <a:ea typeface="Open Sauce"/>
                <a:cs typeface="Open Sauce"/>
                <a:sym typeface="Open Sauce"/>
              </a:rPr>
              <a:t> the team to:</a:t>
            </a:r>
          </a:p>
          <a:p>
            <a:pPr algn="l">
              <a:lnSpc>
                <a:spcPts val="2897"/>
              </a:lnSpc>
            </a:pPr>
          </a:p>
          <a:p>
            <a:pPr algn="l" marL="453390" indent="-226695" lvl="1">
              <a:lnSpc>
                <a:spcPts val="2897"/>
              </a:lnSpc>
              <a:buFont typeface="Arial"/>
              <a:buChar char="•"/>
            </a:pPr>
            <a:r>
              <a:rPr lang="en-US" sz="2100">
                <a:solidFill>
                  <a:srgbClr val="000000"/>
                </a:solidFill>
                <a:latin typeface="Open Sauce"/>
                <a:ea typeface="Open Sauce"/>
                <a:cs typeface="Open Sauce"/>
                <a:sym typeface="Open Sauce"/>
              </a:rPr>
              <a:t>Assign clear responsibilities</a:t>
            </a:r>
          </a:p>
          <a:p>
            <a:pPr algn="l" marL="453390" indent="-226695" lvl="1">
              <a:lnSpc>
                <a:spcPts val="2897"/>
              </a:lnSpc>
              <a:buFont typeface="Arial"/>
              <a:buChar char="•"/>
            </a:pPr>
            <a:r>
              <a:rPr lang="en-US" sz="2100">
                <a:solidFill>
                  <a:srgbClr val="000000"/>
                </a:solidFill>
                <a:latin typeface="Open Sauce"/>
                <a:ea typeface="Open Sauce"/>
                <a:cs typeface="Open Sauce"/>
                <a:sym typeface="Open Sauce"/>
              </a:rPr>
              <a:t>Estimate development effort</a:t>
            </a:r>
          </a:p>
          <a:p>
            <a:pPr algn="l" marL="453390" indent="-226695" lvl="1">
              <a:lnSpc>
                <a:spcPts val="2897"/>
              </a:lnSpc>
              <a:buFont typeface="Arial"/>
              <a:buChar char="•"/>
            </a:pPr>
            <a:r>
              <a:rPr lang="en-US" sz="2100">
                <a:solidFill>
                  <a:srgbClr val="000000"/>
                </a:solidFill>
                <a:latin typeface="Open Sauce"/>
                <a:ea typeface="Open Sauce"/>
                <a:cs typeface="Open Sauce"/>
                <a:sym typeface="Open Sauce"/>
              </a:rPr>
              <a:t>Track sprin</a:t>
            </a:r>
            <a:r>
              <a:rPr lang="en-US" sz="2100">
                <a:solidFill>
                  <a:srgbClr val="000000"/>
                </a:solidFill>
                <a:latin typeface="Open Sauce"/>
                <a:ea typeface="Open Sauce"/>
                <a:cs typeface="Open Sauce"/>
                <a:sym typeface="Open Sauce"/>
              </a:rPr>
              <a:t>t</a:t>
            </a:r>
            <a:r>
              <a:rPr lang="en-US" sz="2100">
                <a:solidFill>
                  <a:srgbClr val="000000"/>
                </a:solidFill>
                <a:latin typeface="Open Sauce"/>
                <a:ea typeface="Open Sauce"/>
                <a:cs typeface="Open Sauce"/>
                <a:sym typeface="Open Sauce"/>
              </a:rPr>
              <a:t> pr</a:t>
            </a:r>
            <a:r>
              <a:rPr lang="en-US" sz="2100">
                <a:solidFill>
                  <a:srgbClr val="000000"/>
                </a:solidFill>
                <a:latin typeface="Open Sauce"/>
                <a:ea typeface="Open Sauce"/>
                <a:cs typeface="Open Sauce"/>
                <a:sym typeface="Open Sauce"/>
              </a:rPr>
              <a:t>o</a:t>
            </a:r>
            <a:r>
              <a:rPr lang="en-US" sz="2100">
                <a:solidFill>
                  <a:srgbClr val="000000"/>
                </a:solidFill>
                <a:latin typeface="Open Sauce"/>
                <a:ea typeface="Open Sauce"/>
                <a:cs typeface="Open Sauce"/>
                <a:sym typeface="Open Sauce"/>
              </a:rPr>
              <a:t>g</a:t>
            </a:r>
            <a:r>
              <a:rPr lang="en-US" sz="2100">
                <a:solidFill>
                  <a:srgbClr val="000000"/>
                </a:solidFill>
                <a:latin typeface="Open Sauce"/>
                <a:ea typeface="Open Sauce"/>
                <a:cs typeface="Open Sauce"/>
                <a:sym typeface="Open Sauce"/>
              </a:rPr>
              <a:t>res</a:t>
            </a:r>
            <a:r>
              <a:rPr lang="en-US" sz="2100">
                <a:solidFill>
                  <a:srgbClr val="000000"/>
                </a:solidFill>
                <a:latin typeface="Open Sauce"/>
                <a:ea typeface="Open Sauce"/>
                <a:cs typeface="Open Sauce"/>
                <a:sym typeface="Open Sauce"/>
              </a:rPr>
              <a:t>s</a:t>
            </a:r>
          </a:p>
          <a:p>
            <a:pPr algn="l" marL="453390" indent="-226695" lvl="1">
              <a:lnSpc>
                <a:spcPts val="2897"/>
              </a:lnSpc>
              <a:buFont typeface="Arial"/>
              <a:buChar char="•"/>
            </a:pPr>
            <a:r>
              <a:rPr lang="en-US" sz="2100">
                <a:solidFill>
                  <a:srgbClr val="000000"/>
                </a:solidFill>
                <a:latin typeface="Open Sauce"/>
                <a:ea typeface="Open Sauce"/>
                <a:cs typeface="Open Sauce"/>
                <a:sym typeface="Open Sauce"/>
              </a:rPr>
              <a:t>En</a:t>
            </a:r>
            <a:r>
              <a:rPr lang="en-US" sz="2100">
                <a:solidFill>
                  <a:srgbClr val="000000"/>
                </a:solidFill>
                <a:latin typeface="Open Sauce"/>
                <a:ea typeface="Open Sauce"/>
                <a:cs typeface="Open Sauce"/>
                <a:sym typeface="Open Sauce"/>
              </a:rPr>
              <a:t>able parallel development</a:t>
            </a:r>
          </a:p>
          <a:p>
            <a:pPr algn="l">
              <a:lnSpc>
                <a:spcPts val="2897"/>
              </a:lnSpc>
            </a:pPr>
          </a:p>
        </p:txBody>
      </p:sp>
      <p:sp>
        <p:nvSpPr>
          <p:cNvPr name="TextBox 8" id="8"/>
          <p:cNvSpPr txBox="true"/>
          <p:nvPr/>
        </p:nvSpPr>
        <p:spPr>
          <a:xfrm rot="0">
            <a:off x="1938867" y="8409892"/>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4" tooltip="https://1drv.ms/x/c/c30f4680ccc79b8c/IQC9fztrzBx4Rrh7wy889blgAWKdZ5Khnt9L0mDcJNT6C-c"/>
              </a:rPr>
              <a:t>Detailed spreadsheet here</a:t>
            </a:r>
          </a:p>
        </p:txBody>
      </p:sp>
      <p:graphicFrame>
        <p:nvGraphicFramePr>
          <p:cNvPr name="Object 9" id="9"/>
          <p:cNvGraphicFramePr/>
          <p:nvPr/>
        </p:nvGraphicFramePr>
        <p:xfrm>
          <a:off x="7510817" y="6005726"/>
          <a:ext cx="11341923" cy="8229600"/>
        </p:xfrm>
        <a:graphic>
          <a:graphicData uri="http://schemas.openxmlformats.org/presentationml/2006/ole">
            <p:oleObj imgW="13601700" imgH="104902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1645615" y="1660110"/>
          <a:ext cx="16230600" cy="4838423"/>
        </p:xfrm>
        <a:graphic>
          <a:graphicData uri="http://schemas.openxmlformats.org/presentationml/2006/ole">
            <p:oleObj imgW="19469100" imgH="8077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4775007" y="487680"/>
            <a:ext cx="9423582" cy="948690"/>
          </a:xfrm>
          <a:prstGeom prst="rect">
            <a:avLst/>
          </a:prstGeom>
        </p:spPr>
        <p:txBody>
          <a:bodyPr anchor="t" rtlCol="false" tIns="0" lIns="0" bIns="0" rIns="0">
            <a:spAutoFit/>
          </a:bodyPr>
          <a:lstStyle/>
          <a:p>
            <a:pPr algn="l" marL="0" indent="0" lvl="0">
              <a:lnSpc>
                <a:spcPts val="7560"/>
              </a:lnSpc>
            </a:pPr>
            <a:r>
              <a:rPr lang="en-US" b="true" sz="5400" spc="270">
                <a:solidFill>
                  <a:srgbClr val="000000"/>
                </a:solidFill>
                <a:latin typeface="Helios Extended Bold"/>
                <a:ea typeface="Helios Extended Bold"/>
                <a:cs typeface="Helios Extended Bold"/>
                <a:sym typeface="Helios Extended Bold"/>
              </a:rPr>
              <a:t>SPRINT 1 TEST CASE</a:t>
            </a:r>
          </a:p>
        </p:txBody>
      </p:sp>
      <p:sp>
        <p:nvSpPr>
          <p:cNvPr name="TextBox 4" id="4"/>
          <p:cNvSpPr txBox="true"/>
          <p:nvPr/>
        </p:nvSpPr>
        <p:spPr>
          <a:xfrm rot="0">
            <a:off x="11304593" y="8343391"/>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4" tooltip="https://1drv.ms/x/c/c30f4680ccc79b8c/IQC9fztrzBx4Rrh7wy889blgAWKdZ5Khnt9L0mDcJNT6C-c"/>
              </a:rPr>
              <a:t>Detailed spreadsheet here</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1028700" y="1582261"/>
          <a:ext cx="16230600" cy="4838423"/>
        </p:xfrm>
        <a:graphic>
          <a:graphicData uri="http://schemas.openxmlformats.org/presentationml/2006/ole">
            <p:oleObj imgW="19469100" imgH="8077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4775007" y="487680"/>
            <a:ext cx="9423582" cy="948690"/>
          </a:xfrm>
          <a:prstGeom prst="rect">
            <a:avLst/>
          </a:prstGeom>
        </p:spPr>
        <p:txBody>
          <a:bodyPr anchor="t" rtlCol="false" tIns="0" lIns="0" bIns="0" rIns="0">
            <a:spAutoFit/>
          </a:bodyPr>
          <a:lstStyle/>
          <a:p>
            <a:pPr algn="l" marL="0" indent="0" lvl="0">
              <a:lnSpc>
                <a:spcPts val="7560"/>
              </a:lnSpc>
            </a:pPr>
            <a:r>
              <a:rPr lang="en-US" b="true" sz="5400" spc="270">
                <a:solidFill>
                  <a:srgbClr val="000000"/>
                </a:solidFill>
                <a:latin typeface="Helios Extended Bold"/>
                <a:ea typeface="Helios Extended Bold"/>
                <a:cs typeface="Helios Extended Bold"/>
                <a:sym typeface="Helios Extended Bold"/>
              </a:rPr>
              <a:t>SPRINT 1 TEST CASE</a:t>
            </a:r>
          </a:p>
        </p:txBody>
      </p:sp>
      <p:sp>
        <p:nvSpPr>
          <p:cNvPr name="TextBox 4" id="4"/>
          <p:cNvSpPr txBox="true"/>
          <p:nvPr/>
        </p:nvSpPr>
        <p:spPr>
          <a:xfrm rot="0">
            <a:off x="11304593" y="8343391"/>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4" tooltip="https://1drv.ms/x/c/c30f4680ccc79b8c/IQC9fztrzBx4Rrh7wy889blgAWKdZ5Khnt9L0mDcJNT6C-c"/>
              </a:rPr>
              <a:t>Detailed spreadsheet here</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1028700" y="1550168"/>
          <a:ext cx="16230600" cy="5428455"/>
        </p:xfrm>
        <a:graphic>
          <a:graphicData uri="http://schemas.openxmlformats.org/presentationml/2006/ole">
            <p:oleObj imgW="19469100" imgH="86741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4775007" y="487680"/>
            <a:ext cx="9423582" cy="948690"/>
          </a:xfrm>
          <a:prstGeom prst="rect">
            <a:avLst/>
          </a:prstGeom>
        </p:spPr>
        <p:txBody>
          <a:bodyPr anchor="t" rtlCol="false" tIns="0" lIns="0" bIns="0" rIns="0">
            <a:spAutoFit/>
          </a:bodyPr>
          <a:lstStyle/>
          <a:p>
            <a:pPr algn="l" marL="0" indent="0" lvl="0">
              <a:lnSpc>
                <a:spcPts val="7560"/>
              </a:lnSpc>
            </a:pPr>
            <a:r>
              <a:rPr lang="en-US" b="true" sz="5400" spc="270">
                <a:solidFill>
                  <a:srgbClr val="000000"/>
                </a:solidFill>
                <a:latin typeface="Helios Extended Bold"/>
                <a:ea typeface="Helios Extended Bold"/>
                <a:cs typeface="Helios Extended Bold"/>
                <a:sym typeface="Helios Extended Bold"/>
              </a:rPr>
              <a:t>SPRINT 1 TEST CASE</a:t>
            </a:r>
          </a:p>
        </p:txBody>
      </p:sp>
      <p:sp>
        <p:nvSpPr>
          <p:cNvPr name="TextBox 4" id="4"/>
          <p:cNvSpPr txBox="true"/>
          <p:nvPr/>
        </p:nvSpPr>
        <p:spPr>
          <a:xfrm rot="0">
            <a:off x="11304593" y="8343391"/>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4" tooltip="https://1drv.ms/x/c/c30f4680ccc79b8c/IQC9fztrzBx4Rrh7wy889blgAWKdZ5Khnt9L0mDcJNT6C-c"/>
              </a:rPr>
              <a:t>Detailed spreadsheet here</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1028700" y="1598893"/>
          <a:ext cx="16230600" cy="4172820"/>
        </p:xfrm>
        <a:graphic>
          <a:graphicData uri="http://schemas.openxmlformats.org/presentationml/2006/ole">
            <p:oleObj imgW="19469100" imgH="74168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4775007" y="487680"/>
            <a:ext cx="9423582" cy="948690"/>
          </a:xfrm>
          <a:prstGeom prst="rect">
            <a:avLst/>
          </a:prstGeom>
        </p:spPr>
        <p:txBody>
          <a:bodyPr anchor="t" rtlCol="false" tIns="0" lIns="0" bIns="0" rIns="0">
            <a:spAutoFit/>
          </a:bodyPr>
          <a:lstStyle/>
          <a:p>
            <a:pPr algn="l" marL="0" indent="0" lvl="0">
              <a:lnSpc>
                <a:spcPts val="7560"/>
              </a:lnSpc>
            </a:pPr>
            <a:r>
              <a:rPr lang="en-US" b="true" sz="5400" spc="270">
                <a:solidFill>
                  <a:srgbClr val="000000"/>
                </a:solidFill>
                <a:latin typeface="Helios Extended Bold"/>
                <a:ea typeface="Helios Extended Bold"/>
                <a:cs typeface="Helios Extended Bold"/>
                <a:sym typeface="Helios Extended Bold"/>
              </a:rPr>
              <a:t>SPRINT 1 TEST CASE</a:t>
            </a:r>
          </a:p>
        </p:txBody>
      </p:sp>
      <p:sp>
        <p:nvSpPr>
          <p:cNvPr name="TextBox 4" id="4"/>
          <p:cNvSpPr txBox="true"/>
          <p:nvPr/>
        </p:nvSpPr>
        <p:spPr>
          <a:xfrm rot="0">
            <a:off x="11304593" y="8343391"/>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4" tooltip="https://1drv.ms/x/c/c30f4680ccc79b8c/IQC9fztrzBx4Rrh7wy889blgAWKdZ5Khnt9L0mDcJNT6C-c"/>
              </a:rPr>
              <a:t>Detailed spreadsheet here</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1028700" y="1591954"/>
          <a:ext cx="16230600" cy="4248390"/>
        </p:xfrm>
        <a:graphic>
          <a:graphicData uri="http://schemas.openxmlformats.org/presentationml/2006/ole">
            <p:oleObj imgW="19469100" imgH="74930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4775007" y="487680"/>
            <a:ext cx="9423582" cy="948690"/>
          </a:xfrm>
          <a:prstGeom prst="rect">
            <a:avLst/>
          </a:prstGeom>
        </p:spPr>
        <p:txBody>
          <a:bodyPr anchor="t" rtlCol="false" tIns="0" lIns="0" bIns="0" rIns="0">
            <a:spAutoFit/>
          </a:bodyPr>
          <a:lstStyle/>
          <a:p>
            <a:pPr algn="l" marL="0" indent="0" lvl="0">
              <a:lnSpc>
                <a:spcPts val="7560"/>
              </a:lnSpc>
            </a:pPr>
            <a:r>
              <a:rPr lang="en-US" b="true" sz="5400" spc="270">
                <a:solidFill>
                  <a:srgbClr val="000000"/>
                </a:solidFill>
                <a:latin typeface="Helios Extended Bold"/>
                <a:ea typeface="Helios Extended Bold"/>
                <a:cs typeface="Helios Extended Bold"/>
                <a:sym typeface="Helios Extended Bold"/>
              </a:rPr>
              <a:t>SPRINT 1 TEST CASE</a:t>
            </a:r>
          </a:p>
        </p:txBody>
      </p:sp>
      <p:sp>
        <p:nvSpPr>
          <p:cNvPr name="TextBox 4" id="4"/>
          <p:cNvSpPr txBox="true"/>
          <p:nvPr/>
        </p:nvSpPr>
        <p:spPr>
          <a:xfrm rot="0">
            <a:off x="11304593" y="8343391"/>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4" tooltip="https://1drv.ms/x/c/c30f4680ccc79b8c/IQC9fztrzBx4Rrh7wy889blgAWKdZ5Khnt9L0mDcJNT6C-c"/>
              </a:rPr>
              <a:t>Detailed spreadsheet here</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14973" y="2388870"/>
            <a:ext cx="17973027" cy="7773334"/>
          </a:xfrm>
          <a:custGeom>
            <a:avLst/>
            <a:gdLst/>
            <a:ahLst/>
            <a:cxnLst/>
            <a:rect r="r" b="b" t="t" l="l"/>
            <a:pathLst>
              <a:path h="7773334" w="17973027">
                <a:moveTo>
                  <a:pt x="0" y="0"/>
                </a:moveTo>
                <a:lnTo>
                  <a:pt x="17973027" y="0"/>
                </a:lnTo>
                <a:lnTo>
                  <a:pt x="17973027" y="7773334"/>
                </a:lnTo>
                <a:lnTo>
                  <a:pt x="0" y="7773334"/>
                </a:lnTo>
                <a:lnTo>
                  <a:pt x="0" y="0"/>
                </a:lnTo>
                <a:close/>
              </a:path>
            </a:pathLst>
          </a:custGeom>
          <a:blipFill>
            <a:blip r:embed="rId2"/>
            <a:stretch>
              <a:fillRect l="0" t="0" r="0" b="0"/>
            </a:stretch>
          </a:blipFill>
        </p:spPr>
      </p:sp>
      <p:sp>
        <p:nvSpPr>
          <p:cNvPr name="TextBox 3" id="3"/>
          <p:cNvSpPr txBox="true"/>
          <p:nvPr/>
        </p:nvSpPr>
        <p:spPr>
          <a:xfrm rot="0">
            <a:off x="4775007" y="487680"/>
            <a:ext cx="9423582" cy="1901190"/>
          </a:xfrm>
          <a:prstGeom prst="rect">
            <a:avLst/>
          </a:prstGeom>
        </p:spPr>
        <p:txBody>
          <a:bodyPr anchor="t" rtlCol="false" tIns="0" lIns="0" bIns="0" rIns="0">
            <a:spAutoFit/>
          </a:bodyPr>
          <a:lstStyle/>
          <a:p>
            <a:pPr algn="ctr" marL="0" indent="0" lvl="0">
              <a:lnSpc>
                <a:spcPts val="7560"/>
              </a:lnSpc>
            </a:pPr>
            <a:r>
              <a:rPr lang="en-US" b="true" sz="5400" spc="270">
                <a:solidFill>
                  <a:srgbClr val="000000"/>
                </a:solidFill>
                <a:latin typeface="Helios Extended Bold"/>
                <a:ea typeface="Helios Extended Bold"/>
                <a:cs typeface="Helios Extended Bold"/>
                <a:sym typeface="Helios Extended Bold"/>
              </a:rPr>
              <a:t>SPRINT 1 TEST CASE SUMMARY</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71643" y="1825715"/>
            <a:ext cx="15363763" cy="7672635"/>
            <a:chOff x="0" y="0"/>
            <a:chExt cx="4668157" cy="2331293"/>
          </a:xfrm>
        </p:grpSpPr>
        <p:sp>
          <p:nvSpPr>
            <p:cNvPr name="Freeform 3" id="3"/>
            <p:cNvSpPr/>
            <p:nvPr/>
          </p:nvSpPr>
          <p:spPr>
            <a:xfrm flipH="false" flipV="false" rot="0">
              <a:off x="0" y="0"/>
              <a:ext cx="4668157" cy="2331293"/>
            </a:xfrm>
            <a:custGeom>
              <a:avLst/>
              <a:gdLst/>
              <a:ahLst/>
              <a:cxnLst/>
              <a:rect r="r" b="b" t="t" l="l"/>
              <a:pathLst>
                <a:path h="2331293" w="4668157">
                  <a:moveTo>
                    <a:pt x="4668157" y="26203"/>
                  </a:moveTo>
                  <a:lnTo>
                    <a:pt x="4668157" y="2305090"/>
                  </a:lnTo>
                  <a:cubicBezTo>
                    <a:pt x="4668157" y="2319562"/>
                    <a:pt x="4656426" y="2331293"/>
                    <a:pt x="4641954" y="2331293"/>
                  </a:cubicBezTo>
                  <a:lnTo>
                    <a:pt x="26203" y="2331293"/>
                  </a:lnTo>
                  <a:cubicBezTo>
                    <a:pt x="19254" y="2331293"/>
                    <a:pt x="12589" y="2328532"/>
                    <a:pt x="7675" y="2323618"/>
                  </a:cubicBezTo>
                  <a:cubicBezTo>
                    <a:pt x="2761" y="2318704"/>
                    <a:pt x="0" y="2312039"/>
                    <a:pt x="0" y="2305090"/>
                  </a:cubicBezTo>
                  <a:lnTo>
                    <a:pt x="0" y="26203"/>
                  </a:lnTo>
                  <a:cubicBezTo>
                    <a:pt x="0" y="19254"/>
                    <a:pt x="2761" y="12589"/>
                    <a:pt x="7675" y="7675"/>
                  </a:cubicBezTo>
                  <a:cubicBezTo>
                    <a:pt x="12589" y="2761"/>
                    <a:pt x="19254" y="0"/>
                    <a:pt x="26203" y="0"/>
                  </a:cubicBezTo>
                  <a:lnTo>
                    <a:pt x="4641954" y="0"/>
                  </a:lnTo>
                  <a:cubicBezTo>
                    <a:pt x="4656426" y="0"/>
                    <a:pt x="4668157" y="11732"/>
                    <a:pt x="4668157" y="26203"/>
                  </a:cubicBezTo>
                  <a:close/>
                </a:path>
              </a:pathLst>
            </a:custGeom>
            <a:solidFill>
              <a:srgbClr val="F2F1F1">
                <a:alpha val="80000"/>
              </a:srgbClr>
            </a:solidFill>
          </p:spPr>
        </p:sp>
        <p:sp>
          <p:nvSpPr>
            <p:cNvPr name="TextBox 4" id="4"/>
            <p:cNvSpPr txBox="true"/>
            <p:nvPr/>
          </p:nvSpPr>
          <p:spPr>
            <a:xfrm>
              <a:off x="0" y="-47625"/>
              <a:ext cx="4668157" cy="2378918"/>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2362143" y="2610414"/>
            <a:ext cx="6041174" cy="6041174"/>
          </a:xfrm>
          <a:custGeom>
            <a:avLst/>
            <a:gdLst/>
            <a:ahLst/>
            <a:cxnLst/>
            <a:rect r="r" b="b" t="t" l="l"/>
            <a:pathLst>
              <a:path h="6041174" w="6041174">
                <a:moveTo>
                  <a:pt x="0" y="0"/>
                </a:moveTo>
                <a:lnTo>
                  <a:pt x="6041174" y="0"/>
                </a:lnTo>
                <a:lnTo>
                  <a:pt x="6041174" y="6041173"/>
                </a:lnTo>
                <a:lnTo>
                  <a:pt x="0" y="6041173"/>
                </a:lnTo>
                <a:lnTo>
                  <a:pt x="0" y="0"/>
                </a:lnTo>
                <a:close/>
              </a:path>
            </a:pathLst>
          </a:custGeom>
          <a:blipFill>
            <a:blip r:embed="rId2"/>
            <a:stretch>
              <a:fillRect l="0" t="0" r="0" b="0"/>
            </a:stretch>
          </a:blipFill>
        </p:spPr>
      </p:sp>
      <p:sp>
        <p:nvSpPr>
          <p:cNvPr name="TextBox 6" id="6"/>
          <p:cNvSpPr txBox="true"/>
          <p:nvPr/>
        </p:nvSpPr>
        <p:spPr>
          <a:xfrm rot="0">
            <a:off x="2899702" y="490311"/>
            <a:ext cx="12488596" cy="859154"/>
          </a:xfrm>
          <a:prstGeom prst="rect">
            <a:avLst/>
          </a:prstGeom>
        </p:spPr>
        <p:txBody>
          <a:bodyPr anchor="t" rtlCol="false" tIns="0" lIns="0" bIns="0" rIns="0">
            <a:spAutoFit/>
          </a:bodyPr>
          <a:lstStyle/>
          <a:p>
            <a:pPr algn="l" marL="0" indent="0" lvl="0">
              <a:lnSpc>
                <a:spcPts val="6720"/>
              </a:lnSpc>
            </a:pPr>
            <a:r>
              <a:rPr lang="en-US" b="true" sz="4800" spc="240">
                <a:solidFill>
                  <a:srgbClr val="000000"/>
                </a:solidFill>
                <a:latin typeface="Helios Extended Bold"/>
                <a:ea typeface="Helios Extended Bold"/>
                <a:cs typeface="Helios Extended Bold"/>
                <a:sym typeface="Helios Extended Bold"/>
              </a:rPr>
              <a:t>SPRINT 1 STORIES COMPLETED</a:t>
            </a:r>
          </a:p>
        </p:txBody>
      </p:sp>
      <p:sp>
        <p:nvSpPr>
          <p:cNvPr name="TextBox 7" id="7"/>
          <p:cNvSpPr txBox="true"/>
          <p:nvPr/>
        </p:nvSpPr>
        <p:spPr>
          <a:xfrm rot="0">
            <a:off x="11304593" y="8343391"/>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3" tooltip="https://1drv.ms/x/c/c30f4680ccc79b8c/IQC9fztrzBx4Rrh7wy889blgAWKdZ5Khnt9L0mDcJNT6C-c"/>
              </a:rPr>
              <a:t>Detailed spreadsheet here</a:t>
            </a:r>
          </a:p>
        </p:txBody>
      </p:sp>
      <p:sp>
        <p:nvSpPr>
          <p:cNvPr name="TextBox 8" id="8"/>
          <p:cNvSpPr txBox="true"/>
          <p:nvPr/>
        </p:nvSpPr>
        <p:spPr>
          <a:xfrm rot="0">
            <a:off x="9498193" y="2616193"/>
            <a:ext cx="5890104" cy="5363268"/>
          </a:xfrm>
          <a:prstGeom prst="rect">
            <a:avLst/>
          </a:prstGeom>
        </p:spPr>
        <p:txBody>
          <a:bodyPr anchor="t" rtlCol="false" tIns="0" lIns="0" bIns="0" rIns="0">
            <a:spAutoFit/>
          </a:bodyPr>
          <a:lstStyle/>
          <a:p>
            <a:pPr algn="l" marL="373896" indent="-186948" lvl="1">
              <a:lnSpc>
                <a:spcPts val="3117"/>
              </a:lnSpc>
              <a:buFont typeface="Arial"/>
              <a:buChar char="•"/>
            </a:pPr>
            <a:r>
              <a:rPr lang="en-US" sz="1731">
                <a:solidFill>
                  <a:srgbClr val="000000"/>
                </a:solidFill>
                <a:latin typeface="Open Sauce"/>
                <a:ea typeface="Open Sauce"/>
                <a:cs typeface="Open Sauce"/>
                <a:sym typeface="Open Sauce"/>
              </a:rPr>
              <a:t>US1 - Journal entry submission</a:t>
            </a:r>
          </a:p>
          <a:p>
            <a:pPr algn="l" marL="373896" indent="-186948" lvl="1">
              <a:lnSpc>
                <a:spcPts val="3117"/>
              </a:lnSpc>
              <a:buFont typeface="Arial"/>
              <a:buChar char="•"/>
            </a:pPr>
            <a:r>
              <a:rPr lang="en-US" sz="1731">
                <a:solidFill>
                  <a:srgbClr val="000000"/>
                </a:solidFill>
                <a:latin typeface="Open Sauce"/>
                <a:ea typeface="Open Sauce"/>
                <a:cs typeface="Open Sauce"/>
                <a:sym typeface="Open Sauce"/>
              </a:rPr>
              <a:t>US2 - Journal entry processing</a:t>
            </a:r>
          </a:p>
          <a:p>
            <a:pPr algn="l" marL="373896" indent="-186948" lvl="1">
              <a:lnSpc>
                <a:spcPts val="3117"/>
              </a:lnSpc>
              <a:buFont typeface="Arial"/>
              <a:buChar char="•"/>
            </a:pPr>
            <a:r>
              <a:rPr lang="en-US" sz="1731">
                <a:solidFill>
                  <a:srgbClr val="000000"/>
                </a:solidFill>
                <a:latin typeface="Open Sauce"/>
                <a:ea typeface="Open Sauce"/>
                <a:cs typeface="Open Sauce"/>
                <a:sym typeface="Open Sauce"/>
              </a:rPr>
              <a:t>US3 - AI sentiment analysis</a:t>
            </a:r>
          </a:p>
          <a:p>
            <a:pPr algn="l" marL="373896" indent="-186948" lvl="1">
              <a:lnSpc>
                <a:spcPts val="3117"/>
              </a:lnSpc>
              <a:buFont typeface="Arial"/>
              <a:buChar char="•"/>
            </a:pPr>
            <a:r>
              <a:rPr lang="en-US" sz="1731">
                <a:solidFill>
                  <a:srgbClr val="000000"/>
                </a:solidFill>
                <a:latin typeface="Open Sauce"/>
                <a:ea typeface="Open Sauce"/>
                <a:cs typeface="Open Sauce"/>
                <a:sym typeface="Open Sauce"/>
              </a:rPr>
              <a:t>US4 - Confidence score display</a:t>
            </a:r>
          </a:p>
          <a:p>
            <a:pPr algn="l" marL="373896" indent="-186948" lvl="1">
              <a:lnSpc>
                <a:spcPts val="3117"/>
              </a:lnSpc>
              <a:buFont typeface="Arial"/>
              <a:buChar char="•"/>
            </a:pPr>
            <a:r>
              <a:rPr lang="en-US" sz="1731">
                <a:solidFill>
                  <a:srgbClr val="000000"/>
                </a:solidFill>
                <a:latin typeface="Open Sauce"/>
                <a:ea typeface="Open Sauce"/>
                <a:cs typeface="Open Sauce"/>
                <a:sym typeface="Open Sauce"/>
              </a:rPr>
              <a:t>US5 - Sentiment result display</a:t>
            </a:r>
          </a:p>
          <a:p>
            <a:pPr algn="l" marL="373896" indent="-186948" lvl="1">
              <a:lnSpc>
                <a:spcPts val="3117"/>
              </a:lnSpc>
              <a:buFont typeface="Arial"/>
              <a:buChar char="•"/>
            </a:pPr>
            <a:r>
              <a:rPr lang="en-US" sz="1731">
                <a:solidFill>
                  <a:srgbClr val="000000"/>
                </a:solidFill>
                <a:latin typeface="Open Sauce"/>
                <a:ea typeface="Open Sauce"/>
                <a:cs typeface="Open Sauce"/>
                <a:sym typeface="Open Sauce"/>
              </a:rPr>
              <a:t>US7 - Input validation</a:t>
            </a:r>
          </a:p>
          <a:p>
            <a:pPr algn="l" marL="373896" indent="-186948" lvl="1">
              <a:lnSpc>
                <a:spcPts val="3117"/>
              </a:lnSpc>
              <a:buFont typeface="Arial"/>
              <a:buChar char="•"/>
            </a:pPr>
            <a:r>
              <a:rPr lang="en-US" sz="1731">
                <a:solidFill>
                  <a:srgbClr val="000000"/>
                </a:solidFill>
                <a:latin typeface="Open Sauce"/>
                <a:ea typeface="Open Sauce"/>
                <a:cs typeface="Open Sauce"/>
                <a:sym typeface="Open Sauce"/>
              </a:rPr>
              <a:t>US8 -</a:t>
            </a:r>
            <a:r>
              <a:rPr lang="en-US" sz="1731">
                <a:solidFill>
                  <a:srgbClr val="000000"/>
                </a:solidFill>
                <a:latin typeface="Open Sauce"/>
                <a:ea typeface="Open Sauce"/>
                <a:cs typeface="Open Sauce"/>
                <a:sym typeface="Open Sauce"/>
              </a:rPr>
              <a:t> Submission confirmation</a:t>
            </a:r>
          </a:p>
          <a:p>
            <a:pPr algn="l" marL="373896" indent="-186948" lvl="1">
              <a:lnSpc>
                <a:spcPts val="3117"/>
              </a:lnSpc>
              <a:buFont typeface="Arial"/>
              <a:buChar char="•"/>
            </a:pPr>
            <a:r>
              <a:rPr lang="en-US" sz="1731">
                <a:solidFill>
                  <a:srgbClr val="000000"/>
                </a:solidFill>
                <a:latin typeface="Open Sauce"/>
                <a:ea typeface="Open Sauce"/>
                <a:cs typeface="Open Sauce"/>
                <a:sym typeface="Open Sauce"/>
              </a:rPr>
              <a:t>US9 - Error handling</a:t>
            </a:r>
          </a:p>
          <a:p>
            <a:pPr algn="l" marL="373896" indent="-186948" lvl="1">
              <a:lnSpc>
                <a:spcPts val="3117"/>
              </a:lnSpc>
              <a:buFont typeface="Arial"/>
              <a:buChar char="•"/>
            </a:pPr>
            <a:r>
              <a:rPr lang="en-US" sz="1731">
                <a:solidFill>
                  <a:srgbClr val="000000"/>
                </a:solidFill>
                <a:latin typeface="Open Sauce"/>
                <a:ea typeface="Open Sauce"/>
                <a:cs typeface="Open Sauce"/>
                <a:sym typeface="Open Sauce"/>
              </a:rPr>
              <a:t>US10 - Input field reset</a:t>
            </a:r>
          </a:p>
          <a:p>
            <a:pPr algn="l">
              <a:lnSpc>
                <a:spcPts val="3117"/>
              </a:lnSpc>
            </a:pPr>
          </a:p>
          <a:p>
            <a:pPr algn="l">
              <a:lnSpc>
                <a:spcPts val="3117"/>
              </a:lnSpc>
            </a:pPr>
          </a:p>
          <a:p>
            <a:pPr algn="l" marL="373896" indent="-186948" lvl="1">
              <a:lnSpc>
                <a:spcPts val="3117"/>
              </a:lnSpc>
              <a:buFont typeface="Arial"/>
              <a:buChar char="•"/>
            </a:pPr>
            <a:r>
              <a:rPr lang="en-US" sz="1731">
                <a:solidFill>
                  <a:srgbClr val="000000"/>
                </a:solidFill>
                <a:latin typeface="Open Sauce"/>
                <a:ea typeface="Open Sauce"/>
                <a:cs typeface="Open Sauce"/>
                <a:sym typeface="Open Sauce"/>
              </a:rPr>
              <a:t>US13 — V</a:t>
            </a:r>
            <a:r>
              <a:rPr lang="en-US" sz="1731">
                <a:solidFill>
                  <a:srgbClr val="000000"/>
                </a:solidFill>
                <a:latin typeface="Open Sauce"/>
                <a:ea typeface="Open Sauce"/>
                <a:cs typeface="Open Sauce"/>
                <a:sym typeface="Open Sauce"/>
              </a:rPr>
              <a:t>iew previous journal entries - half completed</a:t>
            </a:r>
          </a:p>
          <a:p>
            <a:pPr algn="l">
              <a:lnSpc>
                <a:spcPts val="2078"/>
              </a:lnSpc>
              <a:spcBef>
                <a:spcPct val="0"/>
              </a:spcBef>
            </a:pP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44399" y="1784768"/>
            <a:ext cx="15999202" cy="7989972"/>
            <a:chOff x="0" y="0"/>
            <a:chExt cx="4668157" cy="2331293"/>
          </a:xfrm>
        </p:grpSpPr>
        <p:sp>
          <p:nvSpPr>
            <p:cNvPr name="Freeform 3" id="3"/>
            <p:cNvSpPr/>
            <p:nvPr/>
          </p:nvSpPr>
          <p:spPr>
            <a:xfrm flipH="false" flipV="false" rot="0">
              <a:off x="0" y="0"/>
              <a:ext cx="4668157" cy="2331293"/>
            </a:xfrm>
            <a:custGeom>
              <a:avLst/>
              <a:gdLst/>
              <a:ahLst/>
              <a:cxnLst/>
              <a:rect r="r" b="b" t="t" l="l"/>
              <a:pathLst>
                <a:path h="2331293" w="4668157">
                  <a:moveTo>
                    <a:pt x="4668157" y="25162"/>
                  </a:moveTo>
                  <a:lnTo>
                    <a:pt x="4668157" y="2306131"/>
                  </a:lnTo>
                  <a:cubicBezTo>
                    <a:pt x="4668157" y="2312804"/>
                    <a:pt x="4665506" y="2319204"/>
                    <a:pt x="4660787" y="2323923"/>
                  </a:cubicBezTo>
                  <a:cubicBezTo>
                    <a:pt x="4656069" y="2328642"/>
                    <a:pt x="4649669" y="2331293"/>
                    <a:pt x="4642995" y="2331293"/>
                  </a:cubicBezTo>
                  <a:lnTo>
                    <a:pt x="25162" y="2331293"/>
                  </a:lnTo>
                  <a:cubicBezTo>
                    <a:pt x="18489" y="2331293"/>
                    <a:pt x="12089" y="2328642"/>
                    <a:pt x="7370" y="2323923"/>
                  </a:cubicBezTo>
                  <a:cubicBezTo>
                    <a:pt x="2651" y="2319204"/>
                    <a:pt x="0" y="2312804"/>
                    <a:pt x="0" y="2306131"/>
                  </a:cubicBezTo>
                  <a:lnTo>
                    <a:pt x="0" y="25162"/>
                  </a:lnTo>
                  <a:cubicBezTo>
                    <a:pt x="0" y="18489"/>
                    <a:pt x="2651" y="12089"/>
                    <a:pt x="7370" y="7370"/>
                  </a:cubicBezTo>
                  <a:cubicBezTo>
                    <a:pt x="12089" y="2651"/>
                    <a:pt x="18489" y="0"/>
                    <a:pt x="25162" y="0"/>
                  </a:cubicBezTo>
                  <a:lnTo>
                    <a:pt x="4642995" y="0"/>
                  </a:lnTo>
                  <a:cubicBezTo>
                    <a:pt x="4649669" y="0"/>
                    <a:pt x="4656069" y="2651"/>
                    <a:pt x="4660787" y="7370"/>
                  </a:cubicBezTo>
                  <a:cubicBezTo>
                    <a:pt x="4665506" y="12089"/>
                    <a:pt x="4668157" y="18489"/>
                    <a:pt x="4668157" y="25162"/>
                  </a:cubicBezTo>
                  <a:close/>
                </a:path>
              </a:pathLst>
            </a:custGeom>
            <a:solidFill>
              <a:srgbClr val="F2F1F1"/>
            </a:solidFill>
          </p:spPr>
        </p:sp>
        <p:sp>
          <p:nvSpPr>
            <p:cNvPr name="TextBox 4" id="4"/>
            <p:cNvSpPr txBox="true"/>
            <p:nvPr/>
          </p:nvSpPr>
          <p:spPr>
            <a:xfrm>
              <a:off x="0" y="9525"/>
              <a:ext cx="4668157" cy="2321768"/>
            </a:xfrm>
            <a:prstGeom prst="rect">
              <a:avLst/>
            </a:prstGeom>
          </p:spPr>
          <p:txBody>
            <a:bodyPr anchor="ctr" rtlCol="false" tIns="50800" lIns="50800" bIns="50800" rIns="50800"/>
            <a:lstStyle/>
            <a:p>
              <a:pPr algn="l" marL="373896" indent="-186948" lvl="1">
                <a:lnSpc>
                  <a:spcPts val="2078"/>
                </a:lnSpc>
                <a:spcBef>
                  <a:spcPct val="0"/>
                </a:spcBef>
                <a:buFont typeface="Arial"/>
                <a:buChar char="•"/>
              </a:pPr>
            </a:p>
          </p:txBody>
        </p:sp>
      </p:grpSp>
      <p:sp>
        <p:nvSpPr>
          <p:cNvPr name="TextBox 5" id="5"/>
          <p:cNvSpPr txBox="true"/>
          <p:nvPr/>
        </p:nvSpPr>
        <p:spPr>
          <a:xfrm rot="0">
            <a:off x="6694076" y="2467896"/>
            <a:ext cx="10249739" cy="5961027"/>
          </a:xfrm>
          <a:prstGeom prst="rect">
            <a:avLst/>
          </a:prstGeom>
        </p:spPr>
        <p:txBody>
          <a:bodyPr anchor="t" rtlCol="false" tIns="0" lIns="0" bIns="0" rIns="0">
            <a:spAutoFit/>
          </a:bodyPr>
          <a:lstStyle/>
          <a:p>
            <a:pPr algn="l">
              <a:lnSpc>
                <a:spcPts val="2843"/>
              </a:lnSpc>
            </a:pPr>
            <a:r>
              <a:rPr lang="en-US" sz="1733" b="true">
                <a:solidFill>
                  <a:srgbClr val="000000"/>
                </a:solidFill>
                <a:latin typeface="Open Sauce Bold"/>
                <a:ea typeface="Open Sauce Bold"/>
                <a:cs typeface="Open Sauce Bold"/>
                <a:sym typeface="Open Sauce Bold"/>
              </a:rPr>
              <a:t>These stories will be carried over to Sprint 2 for completion:</a:t>
            </a:r>
          </a:p>
          <a:p>
            <a:pPr algn="l">
              <a:lnSpc>
                <a:spcPts val="2843"/>
              </a:lnSpc>
            </a:pPr>
          </a:p>
          <a:p>
            <a:pPr algn="l" marL="374283" indent="-187142" lvl="1">
              <a:lnSpc>
                <a:spcPts val="2843"/>
              </a:lnSpc>
              <a:buFont typeface="Arial"/>
              <a:buChar char="•"/>
            </a:pPr>
            <a:r>
              <a:rPr lang="en-US" sz="1733" strike="noStrike" u="none">
                <a:solidFill>
                  <a:srgbClr val="000000"/>
                </a:solidFill>
                <a:latin typeface="Open Sauce"/>
                <a:ea typeface="Open Sauce"/>
                <a:cs typeface="Open Sauce"/>
                <a:sym typeface="Open Sauce"/>
              </a:rPr>
              <a:t>US6 - Mood visualization</a:t>
            </a:r>
          </a:p>
          <a:p>
            <a:pPr algn="l" marL="374283" indent="-187142" lvl="1">
              <a:lnSpc>
                <a:spcPts val="2843"/>
              </a:lnSpc>
              <a:buFont typeface="Arial"/>
              <a:buChar char="•"/>
            </a:pPr>
            <a:r>
              <a:rPr lang="en-US" sz="1733" strike="noStrike" u="none">
                <a:solidFill>
                  <a:srgbClr val="000000"/>
                </a:solidFill>
                <a:latin typeface="Open Sauce"/>
                <a:ea typeface="Open Sauce"/>
                <a:cs typeface="Open Sauce"/>
                <a:sym typeface="Open Sauce"/>
              </a:rPr>
              <a:t>US13 - User related</a:t>
            </a:r>
          </a:p>
          <a:p>
            <a:pPr algn="l">
              <a:lnSpc>
                <a:spcPts val="2843"/>
              </a:lnSpc>
            </a:pPr>
          </a:p>
          <a:p>
            <a:pPr algn="l">
              <a:lnSpc>
                <a:spcPts val="2843"/>
              </a:lnSpc>
            </a:pPr>
            <a:r>
              <a:rPr lang="en-US" b="true" sz="1733" strike="noStrike" u="none">
                <a:solidFill>
                  <a:srgbClr val="000000"/>
                </a:solidFill>
                <a:latin typeface="Open Sauce Bold"/>
                <a:ea typeface="Open Sauce Bold"/>
                <a:cs typeface="Open Sauce Bold"/>
                <a:sym typeface="Open Sauce Bold"/>
              </a:rPr>
              <a:t>Deferred </a:t>
            </a:r>
            <a:r>
              <a:rPr lang="en-US" b="true" sz="1733">
                <a:solidFill>
                  <a:srgbClr val="000000"/>
                </a:solidFill>
                <a:latin typeface="Open Sauce Bold"/>
                <a:ea typeface="Open Sauce Bold"/>
                <a:cs typeface="Open Sauce Bold"/>
                <a:sym typeface="Open Sauce Bold"/>
              </a:rPr>
              <a:t>Stories </a:t>
            </a:r>
            <a:r>
              <a:rPr lang="en-US" b="true" sz="1733" strike="noStrike" u="none">
                <a:solidFill>
                  <a:srgbClr val="000000"/>
                </a:solidFill>
                <a:latin typeface="Open Sauce Bold"/>
                <a:ea typeface="Open Sauce Bold"/>
                <a:cs typeface="Open Sauce Bold"/>
                <a:sym typeface="Open Sauce Bold"/>
              </a:rPr>
              <a:t>(Ou</a:t>
            </a:r>
            <a:r>
              <a:rPr lang="en-US" b="true" sz="1733">
                <a:solidFill>
                  <a:srgbClr val="000000"/>
                </a:solidFill>
                <a:latin typeface="Open Sauce Bold"/>
                <a:ea typeface="Open Sauce Bold"/>
                <a:cs typeface="Open Sauce Bold"/>
                <a:sym typeface="Open Sauce Bold"/>
              </a:rPr>
              <a:t>t</a:t>
            </a:r>
            <a:r>
              <a:rPr lang="en-US" b="true" sz="1733" strike="noStrike" u="none">
                <a:solidFill>
                  <a:srgbClr val="000000"/>
                </a:solidFill>
                <a:latin typeface="Open Sauce Bold"/>
                <a:ea typeface="Open Sauce Bold"/>
                <a:cs typeface="Open Sauce Bold"/>
                <a:sym typeface="Open Sauce Bold"/>
              </a:rPr>
              <a:t> of Sprint Scope)</a:t>
            </a:r>
          </a:p>
          <a:p>
            <a:pPr algn="l">
              <a:lnSpc>
                <a:spcPts val="2843"/>
              </a:lnSpc>
            </a:pPr>
            <a:r>
              <a:rPr lang="en-US" sz="1733" strike="noStrike" u="none">
                <a:solidFill>
                  <a:srgbClr val="000000"/>
                </a:solidFill>
                <a:latin typeface="Open Sauce"/>
                <a:ea typeface="Open Sauce"/>
                <a:cs typeface="Open Sauce"/>
                <a:sym typeface="Open Sauce"/>
              </a:rPr>
              <a:t>T</a:t>
            </a:r>
            <a:r>
              <a:rPr lang="en-US" sz="1733">
                <a:solidFill>
                  <a:srgbClr val="000000"/>
                </a:solidFill>
                <a:latin typeface="Open Sauce"/>
                <a:ea typeface="Open Sauce"/>
                <a:cs typeface="Open Sauce"/>
                <a:sym typeface="Open Sauce"/>
              </a:rPr>
              <a:t>h</a:t>
            </a:r>
            <a:r>
              <a:rPr lang="en-US" sz="1733" strike="noStrike" u="none">
                <a:solidFill>
                  <a:srgbClr val="000000"/>
                </a:solidFill>
                <a:latin typeface="Open Sauce"/>
                <a:ea typeface="Open Sauce"/>
                <a:cs typeface="Open Sauce"/>
                <a:sym typeface="Open Sauce"/>
              </a:rPr>
              <a:t>e following s</a:t>
            </a:r>
            <a:r>
              <a:rPr lang="en-US" sz="1733">
                <a:solidFill>
                  <a:srgbClr val="000000"/>
                </a:solidFill>
                <a:latin typeface="Open Sauce"/>
                <a:ea typeface="Open Sauce"/>
                <a:cs typeface="Open Sauce"/>
                <a:sym typeface="Open Sauce"/>
              </a:rPr>
              <a:t>t</a:t>
            </a:r>
            <a:r>
              <a:rPr lang="en-US" sz="1733" strike="noStrike" u="none">
                <a:solidFill>
                  <a:srgbClr val="000000"/>
                </a:solidFill>
                <a:latin typeface="Open Sauce"/>
                <a:ea typeface="Open Sauce"/>
                <a:cs typeface="Open Sauce"/>
                <a:sym typeface="Open Sauce"/>
              </a:rPr>
              <a:t>ories</a:t>
            </a:r>
            <a:r>
              <a:rPr lang="en-US" sz="1733">
                <a:solidFill>
                  <a:srgbClr val="000000"/>
                </a:solidFill>
                <a:latin typeface="Open Sauce"/>
                <a:ea typeface="Open Sauce"/>
                <a:cs typeface="Open Sauce"/>
                <a:sym typeface="Open Sauce"/>
              </a:rPr>
              <a:t> we</a:t>
            </a:r>
            <a:r>
              <a:rPr lang="en-US" sz="1733" strike="noStrike" u="none">
                <a:solidFill>
                  <a:srgbClr val="000000"/>
                </a:solidFill>
                <a:latin typeface="Open Sauce"/>
                <a:ea typeface="Open Sauce"/>
                <a:cs typeface="Open Sauce"/>
                <a:sym typeface="Open Sauce"/>
              </a:rPr>
              <a:t>re</a:t>
            </a:r>
            <a:r>
              <a:rPr lang="en-US" sz="1733">
                <a:solidFill>
                  <a:srgbClr val="000000"/>
                </a:solidFill>
                <a:latin typeface="Open Sauce"/>
                <a:ea typeface="Open Sauce"/>
                <a:cs typeface="Open Sauce"/>
                <a:sym typeface="Open Sauce"/>
              </a:rPr>
              <a:t> </a:t>
            </a:r>
            <a:r>
              <a:rPr lang="en-US" sz="1733" strike="noStrike" u="none">
                <a:solidFill>
                  <a:srgbClr val="000000"/>
                </a:solidFill>
                <a:latin typeface="Open Sauce"/>
                <a:ea typeface="Open Sauce"/>
                <a:cs typeface="Open Sauce"/>
                <a:sym typeface="Open Sauce"/>
              </a:rPr>
              <a:t>intent</a:t>
            </a:r>
            <a:r>
              <a:rPr lang="en-US" sz="1733">
                <a:solidFill>
                  <a:srgbClr val="000000"/>
                </a:solidFill>
                <a:latin typeface="Open Sauce"/>
                <a:ea typeface="Open Sauce"/>
                <a:cs typeface="Open Sauce"/>
                <a:sym typeface="Open Sauce"/>
              </a:rPr>
              <a:t>i</a:t>
            </a:r>
            <a:r>
              <a:rPr lang="en-US" sz="1733" strike="noStrike" u="none">
                <a:solidFill>
                  <a:srgbClr val="000000"/>
                </a:solidFill>
                <a:latin typeface="Open Sauce"/>
                <a:ea typeface="Open Sauce"/>
                <a:cs typeface="Open Sauce"/>
                <a:sym typeface="Open Sauce"/>
              </a:rPr>
              <a:t>o</a:t>
            </a:r>
            <a:r>
              <a:rPr lang="en-US" sz="1733">
                <a:solidFill>
                  <a:srgbClr val="000000"/>
                </a:solidFill>
                <a:latin typeface="Open Sauce"/>
                <a:ea typeface="Open Sauce"/>
                <a:cs typeface="Open Sauce"/>
                <a:sym typeface="Open Sauce"/>
              </a:rPr>
              <a:t>n</a:t>
            </a:r>
            <a:r>
              <a:rPr lang="en-US" sz="1733" strike="noStrike" u="none">
                <a:solidFill>
                  <a:srgbClr val="000000"/>
                </a:solidFill>
                <a:latin typeface="Open Sauce"/>
                <a:ea typeface="Open Sauce"/>
                <a:cs typeface="Open Sauce"/>
                <a:sym typeface="Open Sauce"/>
              </a:rPr>
              <a:t>ally </a:t>
            </a:r>
            <a:r>
              <a:rPr lang="en-US" sz="1733">
                <a:solidFill>
                  <a:srgbClr val="000000"/>
                </a:solidFill>
                <a:latin typeface="Open Sauce"/>
                <a:ea typeface="Open Sauce"/>
                <a:cs typeface="Open Sauce"/>
                <a:sym typeface="Open Sauce"/>
              </a:rPr>
              <a:t>e</a:t>
            </a:r>
            <a:r>
              <a:rPr lang="en-US" sz="1733" strike="noStrike" u="none">
                <a:solidFill>
                  <a:srgbClr val="000000"/>
                </a:solidFill>
                <a:latin typeface="Open Sauce"/>
                <a:ea typeface="Open Sauce"/>
                <a:cs typeface="Open Sauce"/>
                <a:sym typeface="Open Sauce"/>
              </a:rPr>
              <a:t>xclu</a:t>
            </a:r>
            <a:r>
              <a:rPr lang="en-US" sz="1733">
                <a:solidFill>
                  <a:srgbClr val="000000"/>
                </a:solidFill>
                <a:latin typeface="Open Sauce"/>
                <a:ea typeface="Open Sauce"/>
                <a:cs typeface="Open Sauce"/>
                <a:sym typeface="Open Sauce"/>
              </a:rPr>
              <a:t>d</a:t>
            </a:r>
            <a:r>
              <a:rPr lang="en-US" sz="1733" strike="noStrike" u="none">
                <a:solidFill>
                  <a:srgbClr val="000000"/>
                </a:solidFill>
                <a:latin typeface="Open Sauce"/>
                <a:ea typeface="Open Sauce"/>
                <a:cs typeface="Open Sauce"/>
                <a:sym typeface="Open Sauce"/>
              </a:rPr>
              <a:t>ed from Sprint 1,</a:t>
            </a:r>
            <a:r>
              <a:rPr lang="en-US" sz="1733">
                <a:solidFill>
                  <a:srgbClr val="000000"/>
                </a:solidFill>
                <a:latin typeface="Open Sauce"/>
                <a:ea typeface="Open Sauce"/>
                <a:cs typeface="Open Sauce"/>
                <a:sym typeface="Open Sauce"/>
              </a:rPr>
              <a:t> as t</a:t>
            </a:r>
            <a:r>
              <a:rPr lang="en-US" sz="1733" strike="noStrike" u="none">
                <a:solidFill>
                  <a:srgbClr val="000000"/>
                </a:solidFill>
                <a:latin typeface="Open Sauce"/>
                <a:ea typeface="Open Sauce"/>
                <a:cs typeface="Open Sauce"/>
                <a:sym typeface="Open Sauce"/>
              </a:rPr>
              <a:t>hey</a:t>
            </a:r>
            <a:r>
              <a:rPr lang="en-US" sz="1733">
                <a:solidFill>
                  <a:srgbClr val="000000"/>
                </a:solidFill>
                <a:latin typeface="Open Sauce"/>
                <a:ea typeface="Open Sauce"/>
                <a:cs typeface="Open Sauce"/>
                <a:sym typeface="Open Sauce"/>
              </a:rPr>
              <a:t> w</a:t>
            </a:r>
            <a:r>
              <a:rPr lang="en-US" sz="1733" strike="noStrike" u="none">
                <a:solidFill>
                  <a:srgbClr val="000000"/>
                </a:solidFill>
                <a:latin typeface="Open Sauce"/>
                <a:ea typeface="Open Sauce"/>
                <a:cs typeface="Open Sauce"/>
                <a:sym typeface="Open Sauce"/>
              </a:rPr>
              <a:t>ere c</a:t>
            </a:r>
            <a:r>
              <a:rPr lang="en-US" sz="1733">
                <a:solidFill>
                  <a:srgbClr val="000000"/>
                </a:solidFill>
                <a:latin typeface="Open Sauce"/>
                <a:ea typeface="Open Sauce"/>
                <a:cs typeface="Open Sauce"/>
                <a:sym typeface="Open Sauce"/>
              </a:rPr>
              <a:t>l</a:t>
            </a:r>
            <a:r>
              <a:rPr lang="en-US" sz="1733" strike="noStrike" u="none">
                <a:solidFill>
                  <a:srgbClr val="000000"/>
                </a:solidFill>
                <a:latin typeface="Open Sauce"/>
                <a:ea typeface="Open Sauce"/>
                <a:cs typeface="Open Sauce"/>
                <a:sym typeface="Open Sauce"/>
              </a:rPr>
              <a:t>assifie</a:t>
            </a:r>
            <a:r>
              <a:rPr lang="en-US" sz="1733">
                <a:solidFill>
                  <a:srgbClr val="000000"/>
                </a:solidFill>
                <a:latin typeface="Open Sauce"/>
                <a:ea typeface="Open Sauce"/>
                <a:cs typeface="Open Sauce"/>
                <a:sym typeface="Open Sauce"/>
              </a:rPr>
              <a:t>d </a:t>
            </a:r>
            <a:r>
              <a:rPr lang="en-US" sz="1733" strike="noStrike" u="none">
                <a:solidFill>
                  <a:srgbClr val="000000"/>
                </a:solidFill>
                <a:latin typeface="Open Sauce"/>
                <a:ea typeface="Open Sauce"/>
                <a:cs typeface="Open Sauce"/>
                <a:sym typeface="Open Sauce"/>
              </a:rPr>
              <a:t>as Will N</a:t>
            </a:r>
            <a:r>
              <a:rPr lang="en-US" sz="1733">
                <a:solidFill>
                  <a:srgbClr val="000000"/>
                </a:solidFill>
                <a:latin typeface="Open Sauce"/>
                <a:ea typeface="Open Sauce"/>
                <a:cs typeface="Open Sauce"/>
                <a:sym typeface="Open Sauce"/>
              </a:rPr>
              <a:t>ot </a:t>
            </a:r>
            <a:r>
              <a:rPr lang="en-US" sz="1733" strike="noStrike" u="none">
                <a:solidFill>
                  <a:srgbClr val="000000"/>
                </a:solidFill>
                <a:latin typeface="Open Sauce"/>
                <a:ea typeface="Open Sauce"/>
                <a:cs typeface="Open Sauce"/>
                <a:sym typeface="Open Sauce"/>
              </a:rPr>
              <a:t>H</a:t>
            </a:r>
            <a:r>
              <a:rPr lang="en-US" sz="1733">
                <a:solidFill>
                  <a:srgbClr val="000000"/>
                </a:solidFill>
                <a:latin typeface="Open Sauce"/>
                <a:ea typeface="Open Sauce"/>
                <a:cs typeface="Open Sauce"/>
                <a:sym typeface="Open Sauce"/>
              </a:rPr>
              <a:t>ave for t</a:t>
            </a:r>
            <a:r>
              <a:rPr lang="en-US" sz="1733" strike="noStrike" u="none">
                <a:solidFill>
                  <a:srgbClr val="000000"/>
                </a:solidFill>
                <a:latin typeface="Open Sauce"/>
                <a:ea typeface="Open Sauce"/>
                <a:cs typeface="Open Sauce"/>
                <a:sym typeface="Open Sauce"/>
              </a:rPr>
              <a:t>he</a:t>
            </a:r>
            <a:r>
              <a:rPr lang="en-US" sz="1733">
                <a:solidFill>
                  <a:srgbClr val="000000"/>
                </a:solidFill>
                <a:latin typeface="Open Sauce"/>
                <a:ea typeface="Open Sauce"/>
                <a:cs typeface="Open Sauce"/>
                <a:sym typeface="Open Sauce"/>
              </a:rPr>
              <a:t> </a:t>
            </a:r>
            <a:r>
              <a:rPr lang="en-US" sz="1733" strike="noStrike" u="none">
                <a:solidFill>
                  <a:srgbClr val="000000"/>
                </a:solidFill>
                <a:latin typeface="Open Sauce"/>
                <a:ea typeface="Open Sauce"/>
                <a:cs typeface="Open Sauce"/>
                <a:sym typeface="Open Sauce"/>
              </a:rPr>
              <a:t>MVP</a:t>
            </a:r>
            <a:r>
              <a:rPr lang="en-US" sz="1733">
                <a:solidFill>
                  <a:srgbClr val="000000"/>
                </a:solidFill>
                <a:latin typeface="Open Sauce"/>
                <a:ea typeface="Open Sauce"/>
                <a:cs typeface="Open Sauce"/>
                <a:sym typeface="Open Sauce"/>
              </a:rPr>
              <a:t>:</a:t>
            </a:r>
          </a:p>
          <a:p>
            <a:pPr algn="l">
              <a:lnSpc>
                <a:spcPts val="2843"/>
              </a:lnSpc>
            </a:pPr>
          </a:p>
          <a:p>
            <a:pPr algn="l" marL="374283" indent="-187142" lvl="1">
              <a:lnSpc>
                <a:spcPts val="2843"/>
              </a:lnSpc>
              <a:buFont typeface="Arial"/>
              <a:buChar char="•"/>
            </a:pPr>
            <a:r>
              <a:rPr lang="en-US" sz="1733">
                <a:solidFill>
                  <a:srgbClr val="000000"/>
                </a:solidFill>
                <a:latin typeface="Open Sauce"/>
                <a:ea typeface="Open Sauce"/>
                <a:cs typeface="Open Sauce"/>
                <a:sym typeface="Open Sauce"/>
              </a:rPr>
              <a:t>US11 </a:t>
            </a:r>
            <a:r>
              <a:rPr lang="en-US" sz="1733" strike="noStrike" u="none">
                <a:solidFill>
                  <a:srgbClr val="000000"/>
                </a:solidFill>
                <a:latin typeface="Open Sauce"/>
                <a:ea typeface="Open Sauce"/>
                <a:cs typeface="Open Sauce"/>
                <a:sym typeface="Open Sauce"/>
              </a:rPr>
              <a:t>– User</a:t>
            </a:r>
            <a:r>
              <a:rPr lang="en-US" sz="1733">
                <a:solidFill>
                  <a:srgbClr val="000000"/>
                </a:solidFill>
                <a:latin typeface="Open Sauce"/>
                <a:ea typeface="Open Sauce"/>
                <a:cs typeface="Open Sauce"/>
                <a:sym typeface="Open Sauce"/>
              </a:rPr>
              <a:t> </a:t>
            </a:r>
            <a:r>
              <a:rPr lang="en-US" sz="1733" strike="noStrike" u="none">
                <a:solidFill>
                  <a:srgbClr val="000000"/>
                </a:solidFill>
                <a:latin typeface="Open Sauce"/>
                <a:ea typeface="Open Sauce"/>
                <a:cs typeface="Open Sauce"/>
                <a:sym typeface="Open Sauce"/>
              </a:rPr>
              <a:t>Registration</a:t>
            </a:r>
          </a:p>
          <a:p>
            <a:pPr algn="l">
              <a:lnSpc>
                <a:spcPts val="2843"/>
              </a:lnSpc>
            </a:pPr>
            <a:r>
              <a:rPr lang="en-US" sz="1733">
                <a:solidFill>
                  <a:srgbClr val="000000"/>
                </a:solidFill>
                <a:latin typeface="Open Sauce"/>
                <a:ea typeface="Open Sauce"/>
                <a:cs typeface="Open Sauce"/>
                <a:sym typeface="Open Sauce"/>
              </a:rPr>
              <a:t>As a user, I want to register an account so that my journal entries are securely stored.</a:t>
            </a:r>
          </a:p>
          <a:p>
            <a:pPr algn="l" marL="374283" indent="-187142" lvl="1">
              <a:lnSpc>
                <a:spcPts val="2843"/>
              </a:lnSpc>
              <a:buFont typeface="Arial"/>
              <a:buChar char="•"/>
            </a:pPr>
            <a:r>
              <a:rPr lang="en-US" sz="1733">
                <a:solidFill>
                  <a:srgbClr val="000000"/>
                </a:solidFill>
                <a:latin typeface="Open Sauce"/>
                <a:ea typeface="Open Sauce"/>
                <a:cs typeface="Open Sauce"/>
                <a:sym typeface="Open Sauce"/>
              </a:rPr>
              <a:t>US12 </a:t>
            </a:r>
            <a:r>
              <a:rPr lang="en-US" sz="1733" strike="noStrike" u="none">
                <a:solidFill>
                  <a:srgbClr val="000000"/>
                </a:solidFill>
                <a:latin typeface="Open Sauce"/>
                <a:ea typeface="Open Sauce"/>
                <a:cs typeface="Open Sauce"/>
                <a:sym typeface="Open Sauce"/>
              </a:rPr>
              <a:t>– User</a:t>
            </a:r>
            <a:r>
              <a:rPr lang="en-US" sz="1733">
                <a:solidFill>
                  <a:srgbClr val="000000"/>
                </a:solidFill>
                <a:latin typeface="Open Sauce"/>
                <a:ea typeface="Open Sauce"/>
                <a:cs typeface="Open Sauce"/>
                <a:sym typeface="Open Sauce"/>
              </a:rPr>
              <a:t> </a:t>
            </a:r>
            <a:r>
              <a:rPr lang="en-US" sz="1733" strike="noStrike" u="none">
                <a:solidFill>
                  <a:srgbClr val="000000"/>
                </a:solidFill>
                <a:latin typeface="Open Sauce"/>
                <a:ea typeface="Open Sauce"/>
                <a:cs typeface="Open Sauce"/>
                <a:sym typeface="Open Sauce"/>
              </a:rPr>
              <a:t>Login</a:t>
            </a:r>
          </a:p>
          <a:p>
            <a:pPr algn="l">
              <a:lnSpc>
                <a:spcPts val="2843"/>
              </a:lnSpc>
              <a:spcBef>
                <a:spcPct val="0"/>
              </a:spcBef>
            </a:pPr>
            <a:r>
              <a:rPr lang="en-US" sz="1733">
                <a:solidFill>
                  <a:srgbClr val="000000"/>
                </a:solidFill>
                <a:latin typeface="Open Sauce"/>
                <a:ea typeface="Open Sauce"/>
                <a:cs typeface="Open Sauce"/>
                <a:sym typeface="Open Sauce"/>
              </a:rPr>
              <a:t>As a user, I want to log in so that I can access my journal dashboard.</a:t>
            </a:r>
          </a:p>
          <a:p>
            <a:pPr algn="l">
              <a:lnSpc>
                <a:spcPts val="2843"/>
              </a:lnSpc>
              <a:spcBef>
                <a:spcPct val="0"/>
              </a:spcBef>
            </a:pPr>
          </a:p>
          <a:p>
            <a:pPr algn="l">
              <a:lnSpc>
                <a:spcPts val="2843"/>
              </a:lnSpc>
              <a:spcBef>
                <a:spcPct val="0"/>
              </a:spcBef>
            </a:pPr>
            <a:r>
              <a:rPr lang="en-US" sz="1733" strike="noStrike" u="none">
                <a:solidFill>
                  <a:srgbClr val="000000"/>
                </a:solidFill>
                <a:latin typeface="Open Sauce"/>
                <a:ea typeface="Open Sauce"/>
                <a:cs typeface="Open Sauce"/>
                <a:sym typeface="Open Sauce"/>
              </a:rPr>
              <a:t>These features are planned for future sprints after the core journaling and sentiment analysis functionality is fully implemented.</a:t>
            </a:r>
          </a:p>
          <a:p>
            <a:pPr algn="l">
              <a:lnSpc>
                <a:spcPts val="2843"/>
              </a:lnSpc>
              <a:spcBef>
                <a:spcPct val="0"/>
              </a:spcBef>
            </a:pPr>
          </a:p>
        </p:txBody>
      </p:sp>
      <p:sp>
        <p:nvSpPr>
          <p:cNvPr name="Freeform 6" id="6"/>
          <p:cNvSpPr/>
          <p:nvPr/>
        </p:nvSpPr>
        <p:spPr>
          <a:xfrm flipH="false" flipV="false" rot="0">
            <a:off x="1614050" y="2758917"/>
            <a:ext cx="4031444" cy="6041674"/>
          </a:xfrm>
          <a:custGeom>
            <a:avLst/>
            <a:gdLst/>
            <a:ahLst/>
            <a:cxnLst/>
            <a:rect r="r" b="b" t="t" l="l"/>
            <a:pathLst>
              <a:path h="6041674" w="4031444">
                <a:moveTo>
                  <a:pt x="0" y="0"/>
                </a:moveTo>
                <a:lnTo>
                  <a:pt x="4031444" y="0"/>
                </a:lnTo>
                <a:lnTo>
                  <a:pt x="4031444" y="6041674"/>
                </a:lnTo>
                <a:lnTo>
                  <a:pt x="0" y="6041674"/>
                </a:lnTo>
                <a:lnTo>
                  <a:pt x="0" y="0"/>
                </a:lnTo>
                <a:close/>
              </a:path>
            </a:pathLst>
          </a:custGeom>
          <a:blipFill>
            <a:blip r:embed="rId2">
              <a:alphaModFix amt="54000"/>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2367492" y="561975"/>
            <a:ext cx="13553015" cy="809624"/>
          </a:xfrm>
          <a:prstGeom prst="rect">
            <a:avLst/>
          </a:prstGeom>
        </p:spPr>
        <p:txBody>
          <a:bodyPr anchor="t" rtlCol="false" tIns="0" lIns="0" bIns="0" rIns="0">
            <a:spAutoFit/>
          </a:bodyPr>
          <a:lstStyle/>
          <a:p>
            <a:pPr algn="l" marL="0" indent="0" lvl="0">
              <a:lnSpc>
                <a:spcPts val="6300"/>
              </a:lnSpc>
            </a:pPr>
            <a:r>
              <a:rPr lang="en-US" b="true" sz="4500" spc="225">
                <a:solidFill>
                  <a:srgbClr val="000000"/>
                </a:solidFill>
                <a:latin typeface="Helios Extended Bold"/>
                <a:ea typeface="Helios Extended Bold"/>
                <a:cs typeface="Helios Extended Bold"/>
                <a:sym typeface="Helios Extended Bold"/>
              </a:rPr>
              <a:t>SPRINT 1 STORIES NOT COMPLETED</a:t>
            </a:r>
          </a:p>
        </p:txBody>
      </p:sp>
      <p:sp>
        <p:nvSpPr>
          <p:cNvPr name="TextBox 8" id="8"/>
          <p:cNvSpPr txBox="true"/>
          <p:nvPr/>
        </p:nvSpPr>
        <p:spPr>
          <a:xfrm rot="0">
            <a:off x="11818946" y="8974580"/>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4" tooltip="https://1drv.ms/x/c/c30f4680ccc79b8c/IQC9fztrzBx4Rrh7wy889blgAWKdZ5Khnt9L0mDcJNT6C-c"/>
              </a:rPr>
              <a:t>Detailed spreadsheet here</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37888" y="5818374"/>
            <a:ext cx="14329308" cy="2812069"/>
          </a:xfrm>
          <a:custGeom>
            <a:avLst/>
            <a:gdLst/>
            <a:ahLst/>
            <a:cxnLst/>
            <a:rect r="r" b="b" t="t" l="l"/>
            <a:pathLst>
              <a:path h="2812069" w="14329308">
                <a:moveTo>
                  <a:pt x="0" y="0"/>
                </a:moveTo>
                <a:lnTo>
                  <a:pt x="14329308" y="0"/>
                </a:lnTo>
                <a:lnTo>
                  <a:pt x="14329308" y="2812069"/>
                </a:lnTo>
                <a:lnTo>
                  <a:pt x="0" y="2812069"/>
                </a:lnTo>
                <a:lnTo>
                  <a:pt x="0" y="0"/>
                </a:lnTo>
                <a:close/>
              </a:path>
            </a:pathLst>
          </a:custGeom>
          <a:blipFill>
            <a:blip r:embed="rId2"/>
            <a:stretch>
              <a:fillRect l="0" t="-20383" r="0" b="-20383"/>
            </a:stretch>
          </a:blipFill>
        </p:spPr>
      </p:sp>
      <p:sp>
        <p:nvSpPr>
          <p:cNvPr name="TextBox 3" id="3"/>
          <p:cNvSpPr txBox="true"/>
          <p:nvPr/>
        </p:nvSpPr>
        <p:spPr>
          <a:xfrm rot="0">
            <a:off x="2367492" y="561975"/>
            <a:ext cx="13553015" cy="809624"/>
          </a:xfrm>
          <a:prstGeom prst="rect">
            <a:avLst/>
          </a:prstGeom>
        </p:spPr>
        <p:txBody>
          <a:bodyPr anchor="t" rtlCol="false" tIns="0" lIns="0" bIns="0" rIns="0">
            <a:spAutoFit/>
          </a:bodyPr>
          <a:lstStyle/>
          <a:p>
            <a:pPr algn="ctr" marL="0" indent="0" lvl="0">
              <a:lnSpc>
                <a:spcPts val="6300"/>
              </a:lnSpc>
            </a:pPr>
            <a:r>
              <a:rPr lang="en-US" b="true" sz="4500" spc="225">
                <a:solidFill>
                  <a:srgbClr val="000000"/>
                </a:solidFill>
                <a:latin typeface="Helios Extended Bold"/>
                <a:ea typeface="Helios Extended Bold"/>
                <a:cs typeface="Helios Extended Bold"/>
                <a:sym typeface="Helios Extended Bold"/>
              </a:rPr>
              <a:t> METRICS</a:t>
            </a:r>
          </a:p>
        </p:txBody>
      </p:sp>
      <p:sp>
        <p:nvSpPr>
          <p:cNvPr name="TextBox 4" id="4"/>
          <p:cNvSpPr txBox="true"/>
          <p:nvPr/>
        </p:nvSpPr>
        <p:spPr>
          <a:xfrm rot="0">
            <a:off x="2137888" y="3022600"/>
            <a:ext cx="14329308" cy="2120900"/>
          </a:xfrm>
          <a:prstGeom prst="rect">
            <a:avLst/>
          </a:prstGeom>
        </p:spPr>
        <p:txBody>
          <a:bodyPr anchor="t" rtlCol="false" tIns="0" lIns="0" bIns="0" rIns="0">
            <a:spAutoFit/>
          </a:bodyPr>
          <a:lstStyle/>
          <a:p>
            <a:pPr algn="just">
              <a:lnSpc>
                <a:spcPts val="2799"/>
              </a:lnSpc>
            </a:pPr>
            <a:r>
              <a:rPr lang="en-US" sz="1999" spc="99">
                <a:solidFill>
                  <a:srgbClr val="000000"/>
                </a:solidFill>
                <a:latin typeface="Helios Extended"/>
                <a:ea typeface="Helios Extended"/>
                <a:cs typeface="Helios Extended"/>
                <a:sym typeface="Helios Extended"/>
              </a:rPr>
              <a:t>WHAT IS TEAM VELOCITY? THE TOTAL NUMBER OF STORY POINTS COMPLETED IN THIS SPRINT — NOT ISSUE COUNTS. TEAM NEXUS COMPLETED 28 STORY POINTS IN TN SPRINT 1. THE COMMITTED SCOPE WAS 41 POINTS; 13 POINTS REMAINED OUTSIDE THE COMPLETED TOTAL (SUBMISSION FLOW, MODEL INTEGRATION, VALIDATION, SENTIMENT DISPLAY WERE DELIVERED; CHART AND HISTORY WORK STILL IN PROGRESS).</a:t>
            </a:r>
          </a:p>
          <a:p>
            <a:pPr algn="just">
              <a:lnSpc>
                <a:spcPts val="2799"/>
              </a:lnSpc>
            </a:pPr>
          </a:p>
        </p:txBody>
      </p:sp>
      <p:sp>
        <p:nvSpPr>
          <p:cNvPr name="TextBox 5" id="5"/>
          <p:cNvSpPr txBox="true"/>
          <p:nvPr/>
        </p:nvSpPr>
        <p:spPr>
          <a:xfrm rot="0">
            <a:off x="2137888" y="2087444"/>
            <a:ext cx="14329308" cy="533401"/>
          </a:xfrm>
          <a:prstGeom prst="rect">
            <a:avLst/>
          </a:prstGeom>
        </p:spPr>
        <p:txBody>
          <a:bodyPr anchor="t" rtlCol="false" tIns="0" lIns="0" bIns="0" rIns="0">
            <a:spAutoFit/>
          </a:bodyPr>
          <a:lstStyle/>
          <a:p>
            <a:pPr algn="l">
              <a:lnSpc>
                <a:spcPts val="4199"/>
              </a:lnSpc>
            </a:pPr>
            <a:r>
              <a:rPr lang="en-US" b="true" sz="2999" spc="149">
                <a:solidFill>
                  <a:srgbClr val="000000"/>
                </a:solidFill>
                <a:latin typeface="Helios Extended Bold"/>
                <a:ea typeface="Helios Extended Bold"/>
                <a:cs typeface="Helios Extended Bold"/>
                <a:sym typeface="Helios Extended Bold"/>
              </a:rPr>
              <a:t>TEAM VELOCITY</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2000251"/>
            <a:ext cx="16230600" cy="5092351"/>
          </a:xfrm>
          <a:custGeom>
            <a:avLst/>
            <a:gdLst/>
            <a:ahLst/>
            <a:cxnLst/>
            <a:rect r="r" b="b" t="t" l="l"/>
            <a:pathLst>
              <a:path h="5092351" w="16230600">
                <a:moveTo>
                  <a:pt x="0" y="0"/>
                </a:moveTo>
                <a:lnTo>
                  <a:pt x="16230600" y="0"/>
                </a:lnTo>
                <a:lnTo>
                  <a:pt x="16230600" y="5092351"/>
                </a:lnTo>
                <a:lnTo>
                  <a:pt x="0" y="5092351"/>
                </a:lnTo>
                <a:lnTo>
                  <a:pt x="0" y="0"/>
                </a:lnTo>
                <a:close/>
              </a:path>
            </a:pathLst>
          </a:custGeom>
          <a:blipFill>
            <a:blip r:embed="rId2"/>
            <a:stretch>
              <a:fillRect l="0" t="0" r="0" b="0"/>
            </a:stretch>
          </a:blipFill>
        </p:spPr>
      </p:sp>
      <p:sp>
        <p:nvSpPr>
          <p:cNvPr name="TextBox 3" id="3"/>
          <p:cNvSpPr txBox="true"/>
          <p:nvPr/>
        </p:nvSpPr>
        <p:spPr>
          <a:xfrm rot="0">
            <a:off x="1979346" y="685977"/>
            <a:ext cx="14329308" cy="1057276"/>
          </a:xfrm>
          <a:prstGeom prst="rect">
            <a:avLst/>
          </a:prstGeom>
        </p:spPr>
        <p:txBody>
          <a:bodyPr anchor="t" rtlCol="false" tIns="0" lIns="0" bIns="0" rIns="0">
            <a:spAutoFit/>
          </a:bodyPr>
          <a:lstStyle/>
          <a:p>
            <a:pPr algn="ctr">
              <a:lnSpc>
                <a:spcPts val="4199"/>
              </a:lnSpc>
            </a:pPr>
            <a:r>
              <a:rPr lang="en-US" b="true" sz="2999" spc="149">
                <a:solidFill>
                  <a:srgbClr val="000000"/>
                </a:solidFill>
                <a:latin typeface="Helios Extended Bold"/>
                <a:ea typeface="Helios Extended Bold"/>
                <a:cs typeface="Helios Extended Bold"/>
                <a:sym typeface="Helios Extended Bold"/>
              </a:rPr>
              <a:t>BURNDOWN STATUS</a:t>
            </a:r>
          </a:p>
          <a:p>
            <a:pPr algn="ctr">
              <a:lnSpc>
                <a:spcPts val="4199"/>
              </a:lnSpc>
            </a:pPr>
          </a:p>
        </p:txBody>
      </p:sp>
      <p:sp>
        <p:nvSpPr>
          <p:cNvPr name="TextBox 4" id="4"/>
          <p:cNvSpPr txBox="true"/>
          <p:nvPr/>
        </p:nvSpPr>
        <p:spPr>
          <a:xfrm rot="0">
            <a:off x="1028700" y="7842250"/>
            <a:ext cx="16230600" cy="1416050"/>
          </a:xfrm>
          <a:prstGeom prst="rect">
            <a:avLst/>
          </a:prstGeom>
        </p:spPr>
        <p:txBody>
          <a:bodyPr anchor="t" rtlCol="false" tIns="0" lIns="0" bIns="0" rIns="0">
            <a:spAutoFit/>
          </a:bodyPr>
          <a:lstStyle/>
          <a:p>
            <a:pPr algn="just" marL="0" indent="0" lvl="0">
              <a:lnSpc>
                <a:spcPts val="2799"/>
              </a:lnSpc>
              <a:spcBef>
                <a:spcPct val="0"/>
              </a:spcBef>
            </a:pPr>
            <a:r>
              <a:rPr lang="en-US" sz="1999" spc="99" strike="noStrike" u="none">
                <a:solidFill>
                  <a:srgbClr val="000000"/>
                </a:solidFill>
                <a:latin typeface="Helios Extended"/>
                <a:ea typeface="Helios Extended"/>
                <a:cs typeface="Helios Extended"/>
                <a:sym typeface="Helios Extended"/>
              </a:rPr>
              <a:t>IT TRACKS REMAINING WORK OVER THE SPRINT TIMELINE. THE DASHED LINE SHOWS THE IDEAL PACE (STEADY BURN TO O). THE SOLID LINE SHOWS ACTUAL PROGRESS. TN SPRINT 1 STARTED WITH 41 COMMITTED POINTS AND ENDED WITH 13 POINTS REMAINING (28 BURNED DOWN). SPRINT DATES: 20 FEB - 27 MAR.</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16676" y="1671194"/>
            <a:ext cx="15454648" cy="7587106"/>
          </a:xfrm>
          <a:custGeom>
            <a:avLst/>
            <a:gdLst/>
            <a:ahLst/>
            <a:cxnLst/>
            <a:rect r="r" b="b" t="t" l="l"/>
            <a:pathLst>
              <a:path h="7587106" w="15454648">
                <a:moveTo>
                  <a:pt x="0" y="0"/>
                </a:moveTo>
                <a:lnTo>
                  <a:pt x="15454648" y="0"/>
                </a:lnTo>
                <a:lnTo>
                  <a:pt x="15454648" y="7587106"/>
                </a:lnTo>
                <a:lnTo>
                  <a:pt x="0" y="7587106"/>
                </a:lnTo>
                <a:lnTo>
                  <a:pt x="0" y="0"/>
                </a:lnTo>
                <a:close/>
              </a:path>
            </a:pathLst>
          </a:custGeom>
          <a:blipFill>
            <a:blip r:embed="rId2"/>
            <a:stretch>
              <a:fillRect l="0" t="-8468" r="0" b="0"/>
            </a:stretch>
          </a:blipFill>
        </p:spPr>
      </p:sp>
      <p:sp>
        <p:nvSpPr>
          <p:cNvPr name="TextBox 3" id="3"/>
          <p:cNvSpPr txBox="true"/>
          <p:nvPr/>
        </p:nvSpPr>
        <p:spPr>
          <a:xfrm rot="0">
            <a:off x="5610820" y="719137"/>
            <a:ext cx="7066359" cy="533401"/>
          </a:xfrm>
          <a:prstGeom prst="rect">
            <a:avLst/>
          </a:prstGeom>
        </p:spPr>
        <p:txBody>
          <a:bodyPr anchor="t" rtlCol="false" tIns="0" lIns="0" bIns="0" rIns="0">
            <a:spAutoFit/>
          </a:bodyPr>
          <a:lstStyle/>
          <a:p>
            <a:pPr algn="ctr" marL="0" indent="0" lvl="0">
              <a:lnSpc>
                <a:spcPts val="4199"/>
              </a:lnSpc>
              <a:spcBef>
                <a:spcPct val="0"/>
              </a:spcBef>
            </a:pPr>
            <a:r>
              <a:rPr lang="en-US" b="true" sz="2999" spc="149" strike="noStrike" u="none">
                <a:solidFill>
                  <a:srgbClr val="000000"/>
                </a:solidFill>
                <a:latin typeface="Helios Extended Bold"/>
                <a:ea typeface="Helios Extended Bold"/>
                <a:cs typeface="Helios Extended Bold"/>
                <a:sym typeface="Helios Extended Bold"/>
              </a:rPr>
              <a:t>COMPLETED VS COMMITTED</a:t>
            </a:r>
          </a:p>
        </p:txBody>
      </p:sp>
    </p:spTree>
  </p:cSld>
  <p:clrMapOvr>
    <a:masterClrMapping/>
  </p:clrMapOvr>
</p:sld>
</file>

<file path=ppt/slides/slide3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61724" y="1782040"/>
            <a:ext cx="17288351" cy="7631716"/>
            <a:chOff x="0" y="0"/>
            <a:chExt cx="4553331" cy="2010029"/>
          </a:xfrm>
        </p:grpSpPr>
        <p:sp>
          <p:nvSpPr>
            <p:cNvPr name="Freeform 3" id="3"/>
            <p:cNvSpPr/>
            <p:nvPr/>
          </p:nvSpPr>
          <p:spPr>
            <a:xfrm flipH="false" flipV="false" rot="0">
              <a:off x="0" y="0"/>
              <a:ext cx="4553331" cy="2010029"/>
            </a:xfrm>
            <a:custGeom>
              <a:avLst/>
              <a:gdLst/>
              <a:ahLst/>
              <a:cxnLst/>
              <a:rect r="r" b="b" t="t" l="l"/>
              <a:pathLst>
                <a:path h="2010029" w="4553331">
                  <a:moveTo>
                    <a:pt x="4553331" y="23286"/>
                  </a:moveTo>
                  <a:lnTo>
                    <a:pt x="4553331" y="1986743"/>
                  </a:lnTo>
                  <a:cubicBezTo>
                    <a:pt x="4553331" y="1999604"/>
                    <a:pt x="4542905" y="2010029"/>
                    <a:pt x="4530045" y="2010029"/>
                  </a:cubicBezTo>
                  <a:lnTo>
                    <a:pt x="23286" y="2010029"/>
                  </a:lnTo>
                  <a:cubicBezTo>
                    <a:pt x="10426" y="2010029"/>
                    <a:pt x="0" y="1999604"/>
                    <a:pt x="0" y="1986743"/>
                  </a:cubicBezTo>
                  <a:lnTo>
                    <a:pt x="0" y="23286"/>
                  </a:lnTo>
                  <a:cubicBezTo>
                    <a:pt x="0" y="10426"/>
                    <a:pt x="10426" y="0"/>
                    <a:pt x="23286" y="0"/>
                  </a:cubicBezTo>
                  <a:lnTo>
                    <a:pt x="4530045" y="0"/>
                  </a:lnTo>
                  <a:cubicBezTo>
                    <a:pt x="4542905" y="0"/>
                    <a:pt x="4553331" y="10426"/>
                    <a:pt x="4553331" y="23286"/>
                  </a:cubicBezTo>
                  <a:close/>
                </a:path>
              </a:pathLst>
            </a:custGeom>
            <a:solidFill>
              <a:srgbClr val="F2F1F1">
                <a:alpha val="80000"/>
              </a:srgbClr>
            </a:solidFill>
          </p:spPr>
        </p:sp>
        <p:sp>
          <p:nvSpPr>
            <p:cNvPr name="TextBox 4" id="4"/>
            <p:cNvSpPr txBox="true"/>
            <p:nvPr/>
          </p:nvSpPr>
          <p:spPr>
            <a:xfrm>
              <a:off x="0" y="-47625"/>
              <a:ext cx="4553331" cy="2057654"/>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902595" y="2696415"/>
            <a:ext cx="4796382" cy="6226503"/>
            <a:chOff x="0" y="0"/>
            <a:chExt cx="1263245" cy="1639902"/>
          </a:xfrm>
        </p:grpSpPr>
        <p:sp>
          <p:nvSpPr>
            <p:cNvPr name="Freeform 6" id="6"/>
            <p:cNvSpPr/>
            <p:nvPr/>
          </p:nvSpPr>
          <p:spPr>
            <a:xfrm flipH="false" flipV="false" rot="0">
              <a:off x="0" y="0"/>
              <a:ext cx="1263245" cy="1639902"/>
            </a:xfrm>
            <a:custGeom>
              <a:avLst/>
              <a:gdLst/>
              <a:ahLst/>
              <a:cxnLst/>
              <a:rect r="r" b="b" t="t" l="l"/>
              <a:pathLst>
                <a:path h="1639902" w="1263245">
                  <a:moveTo>
                    <a:pt x="38739" y="0"/>
                  </a:moveTo>
                  <a:lnTo>
                    <a:pt x="1224506" y="0"/>
                  </a:lnTo>
                  <a:cubicBezTo>
                    <a:pt x="1245901" y="0"/>
                    <a:pt x="1263245" y="17344"/>
                    <a:pt x="1263245" y="38739"/>
                  </a:cubicBezTo>
                  <a:lnTo>
                    <a:pt x="1263245" y="1601163"/>
                  </a:lnTo>
                  <a:cubicBezTo>
                    <a:pt x="1263245" y="1611437"/>
                    <a:pt x="1259163" y="1621291"/>
                    <a:pt x="1251898" y="1628556"/>
                  </a:cubicBezTo>
                  <a:cubicBezTo>
                    <a:pt x="1244633" y="1635821"/>
                    <a:pt x="1234780" y="1639902"/>
                    <a:pt x="1224506" y="1639902"/>
                  </a:cubicBezTo>
                  <a:lnTo>
                    <a:pt x="38739" y="1639902"/>
                  </a:lnTo>
                  <a:cubicBezTo>
                    <a:pt x="17344" y="1639902"/>
                    <a:pt x="0" y="1622558"/>
                    <a:pt x="0" y="1601163"/>
                  </a:cubicBezTo>
                  <a:lnTo>
                    <a:pt x="0" y="38739"/>
                  </a:lnTo>
                  <a:cubicBezTo>
                    <a:pt x="0" y="17344"/>
                    <a:pt x="17344" y="0"/>
                    <a:pt x="38739" y="0"/>
                  </a:cubicBezTo>
                  <a:close/>
                </a:path>
              </a:pathLst>
            </a:custGeom>
            <a:solidFill>
              <a:srgbClr val="FFFFFF"/>
            </a:solidFill>
            <a:ln w="57150" cap="rnd">
              <a:solidFill>
                <a:srgbClr val="0EA2A8"/>
              </a:solidFill>
              <a:prstDash val="solid"/>
              <a:round/>
            </a:ln>
          </p:spPr>
        </p:sp>
        <p:sp>
          <p:nvSpPr>
            <p:cNvPr name="TextBox 7" id="7"/>
            <p:cNvSpPr txBox="true"/>
            <p:nvPr/>
          </p:nvSpPr>
          <p:spPr>
            <a:xfrm>
              <a:off x="0" y="0"/>
              <a:ext cx="1263245" cy="1639902"/>
            </a:xfrm>
            <a:prstGeom prst="rect">
              <a:avLst/>
            </a:prstGeom>
          </p:spPr>
          <p:txBody>
            <a:bodyPr anchor="ctr" rtlCol="false" tIns="50800" lIns="50800" bIns="50800" rIns="50800"/>
            <a:lstStyle/>
            <a:p>
              <a:pPr algn="ctr">
                <a:lnSpc>
                  <a:spcPts val="2160"/>
                </a:lnSpc>
              </a:pPr>
            </a:p>
            <a:p>
              <a:pPr algn="ctr">
                <a:lnSpc>
                  <a:spcPts val="2160"/>
                </a:lnSpc>
              </a:pPr>
            </a:p>
          </p:txBody>
        </p:sp>
      </p:grpSp>
      <p:sp>
        <p:nvSpPr>
          <p:cNvPr name="TextBox 8" id="8"/>
          <p:cNvSpPr txBox="true"/>
          <p:nvPr/>
        </p:nvSpPr>
        <p:spPr>
          <a:xfrm rot="0">
            <a:off x="5189824" y="460375"/>
            <a:ext cx="7611446" cy="984250"/>
          </a:xfrm>
          <a:prstGeom prst="rect">
            <a:avLst/>
          </a:prstGeom>
        </p:spPr>
        <p:txBody>
          <a:bodyPr anchor="t" rtlCol="false" tIns="0" lIns="0" bIns="0" rIns="0">
            <a:spAutoFit/>
          </a:bodyPr>
          <a:lstStyle/>
          <a:p>
            <a:pPr algn="l" marL="0" indent="0" lvl="0">
              <a:lnSpc>
                <a:spcPts val="7700"/>
              </a:lnSpc>
            </a:pPr>
            <a:r>
              <a:rPr lang="en-US" b="true" sz="5500" spc="275">
                <a:solidFill>
                  <a:srgbClr val="000000"/>
                </a:solidFill>
                <a:latin typeface="Helios Extended Bold"/>
                <a:ea typeface="Helios Extended Bold"/>
                <a:cs typeface="Helios Extended Bold"/>
                <a:sym typeface="Helios Extended Bold"/>
              </a:rPr>
              <a:t>RETROSPECTIVE</a:t>
            </a:r>
          </a:p>
        </p:txBody>
      </p:sp>
      <p:grpSp>
        <p:nvGrpSpPr>
          <p:cNvPr name="Group 9" id="9"/>
          <p:cNvGrpSpPr/>
          <p:nvPr/>
        </p:nvGrpSpPr>
        <p:grpSpPr>
          <a:xfrm rot="0">
            <a:off x="1408077" y="2182207"/>
            <a:ext cx="3785418" cy="1028415"/>
            <a:chOff x="0" y="0"/>
            <a:chExt cx="2571057" cy="698500"/>
          </a:xfrm>
        </p:grpSpPr>
        <p:sp>
          <p:nvSpPr>
            <p:cNvPr name="Freeform 10" id="10"/>
            <p:cNvSpPr/>
            <p:nvPr/>
          </p:nvSpPr>
          <p:spPr>
            <a:xfrm flipH="false" flipV="false" rot="0">
              <a:off x="2207" y="0"/>
              <a:ext cx="2566644" cy="698500"/>
            </a:xfrm>
            <a:custGeom>
              <a:avLst/>
              <a:gdLst/>
              <a:ahLst/>
              <a:cxnLst/>
              <a:rect r="r" b="b" t="t" l="l"/>
              <a:pathLst>
                <a:path h="698500" w="2566644">
                  <a:moveTo>
                    <a:pt x="2564736" y="356321"/>
                  </a:moveTo>
                  <a:lnTo>
                    <a:pt x="2369764" y="691429"/>
                  </a:lnTo>
                  <a:cubicBezTo>
                    <a:pt x="2367217" y="695807"/>
                    <a:pt x="2362534" y="698500"/>
                    <a:pt x="2357469" y="698500"/>
                  </a:cubicBezTo>
                  <a:lnTo>
                    <a:pt x="209174" y="698500"/>
                  </a:lnTo>
                  <a:cubicBezTo>
                    <a:pt x="204109" y="698500"/>
                    <a:pt x="199426" y="695807"/>
                    <a:pt x="196879" y="691429"/>
                  </a:cubicBezTo>
                  <a:lnTo>
                    <a:pt x="1907" y="356321"/>
                  </a:lnTo>
                  <a:cubicBezTo>
                    <a:pt x="-636" y="351950"/>
                    <a:pt x="-636" y="346550"/>
                    <a:pt x="1907" y="342179"/>
                  </a:cubicBezTo>
                  <a:lnTo>
                    <a:pt x="196879" y="7071"/>
                  </a:lnTo>
                  <a:cubicBezTo>
                    <a:pt x="199426" y="2693"/>
                    <a:pt x="204109" y="0"/>
                    <a:pt x="209174" y="0"/>
                  </a:cubicBezTo>
                  <a:lnTo>
                    <a:pt x="2357469" y="0"/>
                  </a:lnTo>
                  <a:cubicBezTo>
                    <a:pt x="2362534" y="0"/>
                    <a:pt x="2367217" y="2693"/>
                    <a:pt x="2369764" y="7071"/>
                  </a:cubicBezTo>
                  <a:lnTo>
                    <a:pt x="2564736" y="342179"/>
                  </a:lnTo>
                  <a:cubicBezTo>
                    <a:pt x="2567279" y="346550"/>
                    <a:pt x="2567279" y="351950"/>
                    <a:pt x="2564736" y="356321"/>
                  </a:cubicBezTo>
                  <a:close/>
                </a:path>
              </a:pathLst>
            </a:custGeom>
            <a:solidFill>
              <a:srgbClr val="0EA2A8"/>
            </a:solidFill>
          </p:spPr>
        </p:sp>
        <p:sp>
          <p:nvSpPr>
            <p:cNvPr name="TextBox 11" id="11"/>
            <p:cNvSpPr txBox="true"/>
            <p:nvPr/>
          </p:nvSpPr>
          <p:spPr>
            <a:xfrm>
              <a:off x="114300" y="0"/>
              <a:ext cx="2342457" cy="698500"/>
            </a:xfrm>
            <a:prstGeom prst="rect">
              <a:avLst/>
            </a:prstGeom>
          </p:spPr>
          <p:txBody>
            <a:bodyPr anchor="ctr" rtlCol="false" tIns="50800" lIns="50800" bIns="50800" rIns="50800"/>
            <a:lstStyle/>
            <a:p>
              <a:pPr algn="ctr">
                <a:lnSpc>
                  <a:spcPts val="2160"/>
                </a:lnSpc>
              </a:pPr>
            </a:p>
          </p:txBody>
        </p:sp>
      </p:grpSp>
      <p:sp>
        <p:nvSpPr>
          <p:cNvPr name="AutoShape 12" id="12"/>
          <p:cNvSpPr/>
          <p:nvPr/>
        </p:nvSpPr>
        <p:spPr>
          <a:xfrm>
            <a:off x="1408077" y="4986650"/>
            <a:ext cx="3781747" cy="0"/>
          </a:xfrm>
          <a:prstGeom prst="line">
            <a:avLst/>
          </a:prstGeom>
          <a:ln cap="flat" w="19050">
            <a:solidFill>
              <a:srgbClr val="000000"/>
            </a:solidFill>
            <a:prstDash val="solid"/>
            <a:headEnd type="none" len="sm" w="sm"/>
            <a:tailEnd type="none" len="sm" w="sm"/>
          </a:ln>
        </p:spPr>
      </p:sp>
      <p:sp>
        <p:nvSpPr>
          <p:cNvPr name="AutoShape 13" id="13"/>
          <p:cNvSpPr/>
          <p:nvPr/>
        </p:nvSpPr>
        <p:spPr>
          <a:xfrm>
            <a:off x="1408077" y="6847200"/>
            <a:ext cx="3781747" cy="0"/>
          </a:xfrm>
          <a:prstGeom prst="line">
            <a:avLst/>
          </a:prstGeom>
          <a:ln cap="flat" w="19050">
            <a:solidFill>
              <a:srgbClr val="000000"/>
            </a:solidFill>
            <a:prstDash val="solid"/>
            <a:headEnd type="none" len="sm" w="sm"/>
            <a:tailEnd type="none" len="sm" w="sm"/>
          </a:ln>
        </p:spPr>
      </p:sp>
      <p:grpSp>
        <p:nvGrpSpPr>
          <p:cNvPr name="Group 14" id="14"/>
          <p:cNvGrpSpPr/>
          <p:nvPr/>
        </p:nvGrpSpPr>
        <p:grpSpPr>
          <a:xfrm rot="0">
            <a:off x="6745809" y="2711527"/>
            <a:ext cx="4796382" cy="6226503"/>
            <a:chOff x="0" y="0"/>
            <a:chExt cx="1263245" cy="1639902"/>
          </a:xfrm>
        </p:grpSpPr>
        <p:sp>
          <p:nvSpPr>
            <p:cNvPr name="Freeform 15" id="15"/>
            <p:cNvSpPr/>
            <p:nvPr/>
          </p:nvSpPr>
          <p:spPr>
            <a:xfrm flipH="false" flipV="false" rot="0">
              <a:off x="0" y="0"/>
              <a:ext cx="1263245" cy="1639902"/>
            </a:xfrm>
            <a:custGeom>
              <a:avLst/>
              <a:gdLst/>
              <a:ahLst/>
              <a:cxnLst/>
              <a:rect r="r" b="b" t="t" l="l"/>
              <a:pathLst>
                <a:path h="1639902" w="1263245">
                  <a:moveTo>
                    <a:pt x="38739" y="0"/>
                  </a:moveTo>
                  <a:lnTo>
                    <a:pt x="1224506" y="0"/>
                  </a:lnTo>
                  <a:cubicBezTo>
                    <a:pt x="1245901" y="0"/>
                    <a:pt x="1263245" y="17344"/>
                    <a:pt x="1263245" y="38739"/>
                  </a:cubicBezTo>
                  <a:lnTo>
                    <a:pt x="1263245" y="1601163"/>
                  </a:lnTo>
                  <a:cubicBezTo>
                    <a:pt x="1263245" y="1611437"/>
                    <a:pt x="1259163" y="1621291"/>
                    <a:pt x="1251898" y="1628556"/>
                  </a:cubicBezTo>
                  <a:cubicBezTo>
                    <a:pt x="1244633" y="1635821"/>
                    <a:pt x="1234780" y="1639902"/>
                    <a:pt x="1224506" y="1639902"/>
                  </a:cubicBezTo>
                  <a:lnTo>
                    <a:pt x="38739" y="1639902"/>
                  </a:lnTo>
                  <a:cubicBezTo>
                    <a:pt x="17344" y="1639902"/>
                    <a:pt x="0" y="1622558"/>
                    <a:pt x="0" y="1601163"/>
                  </a:cubicBezTo>
                  <a:lnTo>
                    <a:pt x="0" y="38739"/>
                  </a:lnTo>
                  <a:cubicBezTo>
                    <a:pt x="0" y="17344"/>
                    <a:pt x="17344" y="0"/>
                    <a:pt x="38739" y="0"/>
                  </a:cubicBezTo>
                  <a:close/>
                </a:path>
              </a:pathLst>
            </a:custGeom>
            <a:solidFill>
              <a:srgbClr val="FFFFFF"/>
            </a:solidFill>
            <a:ln w="57150" cap="rnd">
              <a:solidFill>
                <a:srgbClr val="1F8286"/>
              </a:solidFill>
              <a:prstDash val="solid"/>
              <a:round/>
            </a:ln>
          </p:spPr>
        </p:sp>
        <p:sp>
          <p:nvSpPr>
            <p:cNvPr name="TextBox 16" id="16"/>
            <p:cNvSpPr txBox="true"/>
            <p:nvPr/>
          </p:nvSpPr>
          <p:spPr>
            <a:xfrm>
              <a:off x="0" y="0"/>
              <a:ext cx="1263245" cy="1639902"/>
            </a:xfrm>
            <a:prstGeom prst="rect">
              <a:avLst/>
            </a:prstGeom>
          </p:spPr>
          <p:txBody>
            <a:bodyPr anchor="ctr" rtlCol="false" tIns="50800" lIns="50800" bIns="50800" rIns="50800"/>
            <a:lstStyle/>
            <a:p>
              <a:pPr algn="ctr">
                <a:lnSpc>
                  <a:spcPts val="2160"/>
                </a:lnSpc>
              </a:pPr>
            </a:p>
          </p:txBody>
        </p:sp>
      </p:grpSp>
      <p:grpSp>
        <p:nvGrpSpPr>
          <p:cNvPr name="Group 17" id="17"/>
          <p:cNvGrpSpPr/>
          <p:nvPr/>
        </p:nvGrpSpPr>
        <p:grpSpPr>
          <a:xfrm rot="0">
            <a:off x="7251291" y="2197319"/>
            <a:ext cx="3785418" cy="1028415"/>
            <a:chOff x="0" y="0"/>
            <a:chExt cx="2571057" cy="698500"/>
          </a:xfrm>
        </p:grpSpPr>
        <p:sp>
          <p:nvSpPr>
            <p:cNvPr name="Freeform 18" id="18"/>
            <p:cNvSpPr/>
            <p:nvPr/>
          </p:nvSpPr>
          <p:spPr>
            <a:xfrm flipH="false" flipV="false" rot="0">
              <a:off x="2207" y="0"/>
              <a:ext cx="2566644" cy="698500"/>
            </a:xfrm>
            <a:custGeom>
              <a:avLst/>
              <a:gdLst/>
              <a:ahLst/>
              <a:cxnLst/>
              <a:rect r="r" b="b" t="t" l="l"/>
              <a:pathLst>
                <a:path h="698500" w="2566644">
                  <a:moveTo>
                    <a:pt x="2564736" y="356321"/>
                  </a:moveTo>
                  <a:lnTo>
                    <a:pt x="2369764" y="691429"/>
                  </a:lnTo>
                  <a:cubicBezTo>
                    <a:pt x="2367217" y="695807"/>
                    <a:pt x="2362534" y="698500"/>
                    <a:pt x="2357469" y="698500"/>
                  </a:cubicBezTo>
                  <a:lnTo>
                    <a:pt x="209174" y="698500"/>
                  </a:lnTo>
                  <a:cubicBezTo>
                    <a:pt x="204109" y="698500"/>
                    <a:pt x="199426" y="695807"/>
                    <a:pt x="196879" y="691429"/>
                  </a:cubicBezTo>
                  <a:lnTo>
                    <a:pt x="1907" y="356321"/>
                  </a:lnTo>
                  <a:cubicBezTo>
                    <a:pt x="-636" y="351950"/>
                    <a:pt x="-636" y="346550"/>
                    <a:pt x="1907" y="342179"/>
                  </a:cubicBezTo>
                  <a:lnTo>
                    <a:pt x="196879" y="7071"/>
                  </a:lnTo>
                  <a:cubicBezTo>
                    <a:pt x="199426" y="2693"/>
                    <a:pt x="204109" y="0"/>
                    <a:pt x="209174" y="0"/>
                  </a:cubicBezTo>
                  <a:lnTo>
                    <a:pt x="2357469" y="0"/>
                  </a:lnTo>
                  <a:cubicBezTo>
                    <a:pt x="2362534" y="0"/>
                    <a:pt x="2367217" y="2693"/>
                    <a:pt x="2369764" y="7071"/>
                  </a:cubicBezTo>
                  <a:lnTo>
                    <a:pt x="2564736" y="342179"/>
                  </a:lnTo>
                  <a:cubicBezTo>
                    <a:pt x="2567279" y="346550"/>
                    <a:pt x="2567279" y="351950"/>
                    <a:pt x="2564736" y="356321"/>
                  </a:cubicBezTo>
                  <a:close/>
                </a:path>
              </a:pathLst>
            </a:custGeom>
            <a:solidFill>
              <a:srgbClr val="1F8286"/>
            </a:solidFill>
          </p:spPr>
        </p:sp>
        <p:sp>
          <p:nvSpPr>
            <p:cNvPr name="TextBox 19" id="19"/>
            <p:cNvSpPr txBox="true"/>
            <p:nvPr/>
          </p:nvSpPr>
          <p:spPr>
            <a:xfrm>
              <a:off x="114300" y="0"/>
              <a:ext cx="2342457" cy="698500"/>
            </a:xfrm>
            <a:prstGeom prst="rect">
              <a:avLst/>
            </a:prstGeom>
          </p:spPr>
          <p:txBody>
            <a:bodyPr anchor="ctr" rtlCol="false" tIns="50800" lIns="50800" bIns="50800" rIns="50800"/>
            <a:lstStyle/>
            <a:p>
              <a:pPr algn="ctr">
                <a:lnSpc>
                  <a:spcPts val="2160"/>
                </a:lnSpc>
              </a:pPr>
            </a:p>
          </p:txBody>
        </p:sp>
      </p:grpSp>
      <p:sp>
        <p:nvSpPr>
          <p:cNvPr name="AutoShape 20" id="20"/>
          <p:cNvSpPr/>
          <p:nvPr/>
        </p:nvSpPr>
        <p:spPr>
          <a:xfrm>
            <a:off x="7251291" y="5001761"/>
            <a:ext cx="3781747" cy="0"/>
          </a:xfrm>
          <a:prstGeom prst="line">
            <a:avLst/>
          </a:prstGeom>
          <a:ln cap="flat" w="19050">
            <a:solidFill>
              <a:srgbClr val="000000"/>
            </a:solidFill>
            <a:prstDash val="solid"/>
            <a:headEnd type="none" len="sm" w="sm"/>
            <a:tailEnd type="none" len="sm" w="sm"/>
          </a:ln>
        </p:spPr>
      </p:sp>
      <p:sp>
        <p:nvSpPr>
          <p:cNvPr name="AutoShape 21" id="21"/>
          <p:cNvSpPr/>
          <p:nvPr/>
        </p:nvSpPr>
        <p:spPr>
          <a:xfrm>
            <a:off x="7251291" y="6862311"/>
            <a:ext cx="3781747" cy="0"/>
          </a:xfrm>
          <a:prstGeom prst="line">
            <a:avLst/>
          </a:prstGeom>
          <a:ln cap="flat" w="19050">
            <a:solidFill>
              <a:srgbClr val="000000"/>
            </a:solidFill>
            <a:prstDash val="solid"/>
            <a:headEnd type="none" len="sm" w="sm"/>
            <a:tailEnd type="none" len="sm" w="sm"/>
          </a:ln>
        </p:spPr>
      </p:sp>
      <p:grpSp>
        <p:nvGrpSpPr>
          <p:cNvPr name="Group 22" id="22"/>
          <p:cNvGrpSpPr/>
          <p:nvPr/>
        </p:nvGrpSpPr>
        <p:grpSpPr>
          <a:xfrm rot="0">
            <a:off x="12589023" y="2726639"/>
            <a:ext cx="4796382" cy="6226503"/>
            <a:chOff x="0" y="0"/>
            <a:chExt cx="1263245" cy="1639902"/>
          </a:xfrm>
        </p:grpSpPr>
        <p:sp>
          <p:nvSpPr>
            <p:cNvPr name="Freeform 23" id="23"/>
            <p:cNvSpPr/>
            <p:nvPr/>
          </p:nvSpPr>
          <p:spPr>
            <a:xfrm flipH="false" flipV="false" rot="0">
              <a:off x="0" y="0"/>
              <a:ext cx="1263245" cy="1639902"/>
            </a:xfrm>
            <a:custGeom>
              <a:avLst/>
              <a:gdLst/>
              <a:ahLst/>
              <a:cxnLst/>
              <a:rect r="r" b="b" t="t" l="l"/>
              <a:pathLst>
                <a:path h="1639902" w="1263245">
                  <a:moveTo>
                    <a:pt x="38739" y="0"/>
                  </a:moveTo>
                  <a:lnTo>
                    <a:pt x="1224506" y="0"/>
                  </a:lnTo>
                  <a:cubicBezTo>
                    <a:pt x="1245901" y="0"/>
                    <a:pt x="1263245" y="17344"/>
                    <a:pt x="1263245" y="38739"/>
                  </a:cubicBezTo>
                  <a:lnTo>
                    <a:pt x="1263245" y="1601163"/>
                  </a:lnTo>
                  <a:cubicBezTo>
                    <a:pt x="1263245" y="1611437"/>
                    <a:pt x="1259163" y="1621291"/>
                    <a:pt x="1251898" y="1628556"/>
                  </a:cubicBezTo>
                  <a:cubicBezTo>
                    <a:pt x="1244633" y="1635821"/>
                    <a:pt x="1234780" y="1639902"/>
                    <a:pt x="1224506" y="1639902"/>
                  </a:cubicBezTo>
                  <a:lnTo>
                    <a:pt x="38739" y="1639902"/>
                  </a:lnTo>
                  <a:cubicBezTo>
                    <a:pt x="17344" y="1639902"/>
                    <a:pt x="0" y="1622558"/>
                    <a:pt x="0" y="1601163"/>
                  </a:cubicBezTo>
                  <a:lnTo>
                    <a:pt x="0" y="38739"/>
                  </a:lnTo>
                  <a:cubicBezTo>
                    <a:pt x="0" y="17344"/>
                    <a:pt x="17344" y="0"/>
                    <a:pt x="38739" y="0"/>
                  </a:cubicBezTo>
                  <a:close/>
                </a:path>
              </a:pathLst>
            </a:custGeom>
            <a:solidFill>
              <a:srgbClr val="FEFEFE"/>
            </a:solidFill>
            <a:ln w="57150" cap="rnd">
              <a:solidFill>
                <a:srgbClr val="066B72"/>
              </a:solidFill>
              <a:prstDash val="solid"/>
              <a:round/>
            </a:ln>
          </p:spPr>
        </p:sp>
        <p:sp>
          <p:nvSpPr>
            <p:cNvPr name="TextBox 24" id="24"/>
            <p:cNvSpPr txBox="true"/>
            <p:nvPr/>
          </p:nvSpPr>
          <p:spPr>
            <a:xfrm>
              <a:off x="0" y="0"/>
              <a:ext cx="1263245" cy="1639902"/>
            </a:xfrm>
            <a:prstGeom prst="rect">
              <a:avLst/>
            </a:prstGeom>
          </p:spPr>
          <p:txBody>
            <a:bodyPr anchor="ctr" rtlCol="false" tIns="50800" lIns="50800" bIns="50800" rIns="50800"/>
            <a:lstStyle/>
            <a:p>
              <a:pPr algn="ctr">
                <a:lnSpc>
                  <a:spcPts val="2160"/>
                </a:lnSpc>
              </a:pPr>
            </a:p>
          </p:txBody>
        </p:sp>
      </p:grpSp>
      <p:grpSp>
        <p:nvGrpSpPr>
          <p:cNvPr name="Group 25" id="25"/>
          <p:cNvGrpSpPr/>
          <p:nvPr/>
        </p:nvGrpSpPr>
        <p:grpSpPr>
          <a:xfrm rot="0">
            <a:off x="13094505" y="2212431"/>
            <a:ext cx="3785418" cy="1028415"/>
            <a:chOff x="0" y="0"/>
            <a:chExt cx="2571057" cy="698500"/>
          </a:xfrm>
        </p:grpSpPr>
        <p:sp>
          <p:nvSpPr>
            <p:cNvPr name="Freeform 26" id="26"/>
            <p:cNvSpPr/>
            <p:nvPr/>
          </p:nvSpPr>
          <p:spPr>
            <a:xfrm flipH="false" flipV="false" rot="0">
              <a:off x="2207" y="0"/>
              <a:ext cx="2566644" cy="698500"/>
            </a:xfrm>
            <a:custGeom>
              <a:avLst/>
              <a:gdLst/>
              <a:ahLst/>
              <a:cxnLst/>
              <a:rect r="r" b="b" t="t" l="l"/>
              <a:pathLst>
                <a:path h="698500" w="2566644">
                  <a:moveTo>
                    <a:pt x="2564736" y="356321"/>
                  </a:moveTo>
                  <a:lnTo>
                    <a:pt x="2369764" y="691429"/>
                  </a:lnTo>
                  <a:cubicBezTo>
                    <a:pt x="2367217" y="695807"/>
                    <a:pt x="2362534" y="698500"/>
                    <a:pt x="2357469" y="698500"/>
                  </a:cubicBezTo>
                  <a:lnTo>
                    <a:pt x="209174" y="698500"/>
                  </a:lnTo>
                  <a:cubicBezTo>
                    <a:pt x="204109" y="698500"/>
                    <a:pt x="199426" y="695807"/>
                    <a:pt x="196879" y="691429"/>
                  </a:cubicBezTo>
                  <a:lnTo>
                    <a:pt x="1907" y="356321"/>
                  </a:lnTo>
                  <a:cubicBezTo>
                    <a:pt x="-636" y="351950"/>
                    <a:pt x="-636" y="346550"/>
                    <a:pt x="1907" y="342179"/>
                  </a:cubicBezTo>
                  <a:lnTo>
                    <a:pt x="196879" y="7071"/>
                  </a:lnTo>
                  <a:cubicBezTo>
                    <a:pt x="199426" y="2693"/>
                    <a:pt x="204109" y="0"/>
                    <a:pt x="209174" y="0"/>
                  </a:cubicBezTo>
                  <a:lnTo>
                    <a:pt x="2357469" y="0"/>
                  </a:lnTo>
                  <a:cubicBezTo>
                    <a:pt x="2362534" y="0"/>
                    <a:pt x="2367217" y="2693"/>
                    <a:pt x="2369764" y="7071"/>
                  </a:cubicBezTo>
                  <a:lnTo>
                    <a:pt x="2564736" y="342179"/>
                  </a:lnTo>
                  <a:cubicBezTo>
                    <a:pt x="2567279" y="346550"/>
                    <a:pt x="2567279" y="351950"/>
                    <a:pt x="2564736" y="356321"/>
                  </a:cubicBezTo>
                  <a:close/>
                </a:path>
              </a:pathLst>
            </a:custGeom>
            <a:solidFill>
              <a:srgbClr val="066B72"/>
            </a:solidFill>
          </p:spPr>
        </p:sp>
        <p:sp>
          <p:nvSpPr>
            <p:cNvPr name="TextBox 27" id="27"/>
            <p:cNvSpPr txBox="true"/>
            <p:nvPr/>
          </p:nvSpPr>
          <p:spPr>
            <a:xfrm>
              <a:off x="114300" y="0"/>
              <a:ext cx="2342457" cy="698500"/>
            </a:xfrm>
            <a:prstGeom prst="rect">
              <a:avLst/>
            </a:prstGeom>
          </p:spPr>
          <p:txBody>
            <a:bodyPr anchor="ctr" rtlCol="false" tIns="50800" lIns="50800" bIns="50800" rIns="50800"/>
            <a:lstStyle/>
            <a:p>
              <a:pPr algn="ctr">
                <a:lnSpc>
                  <a:spcPts val="2160"/>
                </a:lnSpc>
              </a:pPr>
            </a:p>
          </p:txBody>
        </p:sp>
      </p:grpSp>
      <p:sp>
        <p:nvSpPr>
          <p:cNvPr name="AutoShape 28" id="28"/>
          <p:cNvSpPr/>
          <p:nvPr/>
        </p:nvSpPr>
        <p:spPr>
          <a:xfrm>
            <a:off x="13094505" y="5016873"/>
            <a:ext cx="3781747" cy="0"/>
          </a:xfrm>
          <a:prstGeom prst="line">
            <a:avLst/>
          </a:prstGeom>
          <a:ln cap="flat" w="19050">
            <a:solidFill>
              <a:srgbClr val="000000"/>
            </a:solidFill>
            <a:prstDash val="solid"/>
            <a:headEnd type="none" len="sm" w="sm"/>
            <a:tailEnd type="none" len="sm" w="sm"/>
          </a:ln>
        </p:spPr>
      </p:sp>
      <p:sp>
        <p:nvSpPr>
          <p:cNvPr name="AutoShape 29" id="29"/>
          <p:cNvSpPr/>
          <p:nvPr/>
        </p:nvSpPr>
        <p:spPr>
          <a:xfrm>
            <a:off x="13094505" y="6877423"/>
            <a:ext cx="3781747" cy="0"/>
          </a:xfrm>
          <a:prstGeom prst="line">
            <a:avLst/>
          </a:prstGeom>
          <a:ln cap="flat" w="19050">
            <a:solidFill>
              <a:srgbClr val="000000"/>
            </a:solidFill>
            <a:prstDash val="solid"/>
            <a:headEnd type="none" len="sm" w="sm"/>
            <a:tailEnd type="none" len="sm" w="sm"/>
          </a:ln>
        </p:spPr>
      </p:sp>
      <p:sp>
        <p:nvSpPr>
          <p:cNvPr name="TextBox 30" id="30"/>
          <p:cNvSpPr txBox="true"/>
          <p:nvPr/>
        </p:nvSpPr>
        <p:spPr>
          <a:xfrm rot="0">
            <a:off x="1368945" y="2454480"/>
            <a:ext cx="3824550" cy="398145"/>
          </a:xfrm>
          <a:prstGeom prst="rect">
            <a:avLst/>
          </a:prstGeom>
        </p:spPr>
        <p:txBody>
          <a:bodyPr anchor="t" rtlCol="false" tIns="0" lIns="0" bIns="0" rIns="0">
            <a:spAutoFit/>
          </a:bodyPr>
          <a:lstStyle/>
          <a:p>
            <a:pPr algn="ctr">
              <a:lnSpc>
                <a:spcPts val="3360"/>
              </a:lnSpc>
            </a:pPr>
            <a:r>
              <a:rPr lang="en-US" sz="2100" spc="210">
                <a:solidFill>
                  <a:srgbClr val="000000"/>
                </a:solidFill>
                <a:latin typeface="Lato"/>
                <a:ea typeface="Lato"/>
                <a:cs typeface="Lato"/>
                <a:sym typeface="Lato"/>
              </a:rPr>
              <a:t>WHAT WENT WELL</a:t>
            </a:r>
          </a:p>
        </p:txBody>
      </p:sp>
      <p:sp>
        <p:nvSpPr>
          <p:cNvPr name="TextBox 31" id="31"/>
          <p:cNvSpPr txBox="true"/>
          <p:nvPr/>
        </p:nvSpPr>
        <p:spPr>
          <a:xfrm rot="0">
            <a:off x="7251291" y="2275154"/>
            <a:ext cx="3824550" cy="817245"/>
          </a:xfrm>
          <a:prstGeom prst="rect">
            <a:avLst/>
          </a:prstGeom>
        </p:spPr>
        <p:txBody>
          <a:bodyPr anchor="t" rtlCol="false" tIns="0" lIns="0" bIns="0" rIns="0">
            <a:spAutoFit/>
          </a:bodyPr>
          <a:lstStyle/>
          <a:p>
            <a:pPr algn="ctr">
              <a:lnSpc>
                <a:spcPts val="3360"/>
              </a:lnSpc>
            </a:pPr>
            <a:r>
              <a:rPr lang="en-US" sz="2100" spc="210">
                <a:solidFill>
                  <a:srgbClr val="000000"/>
                </a:solidFill>
                <a:latin typeface="Lato"/>
                <a:ea typeface="Lato"/>
                <a:cs typeface="Lato"/>
                <a:sym typeface="Lato"/>
              </a:rPr>
              <a:t>WHAT COULD BE IMPROVED?</a:t>
            </a:r>
          </a:p>
        </p:txBody>
      </p:sp>
      <p:sp>
        <p:nvSpPr>
          <p:cNvPr name="TextBox 32" id="32"/>
          <p:cNvSpPr txBox="true"/>
          <p:nvPr/>
        </p:nvSpPr>
        <p:spPr>
          <a:xfrm rot="0">
            <a:off x="13094766" y="2275154"/>
            <a:ext cx="3824550" cy="817245"/>
          </a:xfrm>
          <a:prstGeom prst="rect">
            <a:avLst/>
          </a:prstGeom>
        </p:spPr>
        <p:txBody>
          <a:bodyPr anchor="t" rtlCol="false" tIns="0" lIns="0" bIns="0" rIns="0">
            <a:spAutoFit/>
          </a:bodyPr>
          <a:lstStyle/>
          <a:p>
            <a:pPr algn="ctr">
              <a:lnSpc>
                <a:spcPts val="3360"/>
              </a:lnSpc>
            </a:pPr>
            <a:r>
              <a:rPr lang="en-US" sz="2100" spc="210">
                <a:solidFill>
                  <a:srgbClr val="000000"/>
                </a:solidFill>
                <a:latin typeface="Lato"/>
                <a:ea typeface="Lato"/>
                <a:cs typeface="Lato"/>
                <a:sym typeface="Lato"/>
              </a:rPr>
              <a:t>ACTIONS FOR NEXT SPRINT </a:t>
            </a:r>
          </a:p>
        </p:txBody>
      </p:sp>
      <p:sp>
        <p:nvSpPr>
          <p:cNvPr name="TextBox 33" id="33"/>
          <p:cNvSpPr txBox="true"/>
          <p:nvPr/>
        </p:nvSpPr>
        <p:spPr>
          <a:xfrm rot="0">
            <a:off x="1200658" y="3766667"/>
            <a:ext cx="4161124" cy="4533900"/>
          </a:xfrm>
          <a:prstGeom prst="rect">
            <a:avLst/>
          </a:prstGeom>
        </p:spPr>
        <p:txBody>
          <a:bodyPr anchor="t" rtlCol="false" tIns="0" lIns="0" bIns="0" rIns="0">
            <a:spAutoFit/>
          </a:bodyPr>
          <a:lstStyle/>
          <a:p>
            <a:pPr algn="ctr">
              <a:lnSpc>
                <a:spcPts val="2160"/>
              </a:lnSpc>
              <a:spcBef>
                <a:spcPct val="0"/>
              </a:spcBef>
            </a:pPr>
            <a:r>
              <a:rPr lang="en-US" sz="1800">
                <a:solidFill>
                  <a:srgbClr val="000000"/>
                </a:solidFill>
                <a:latin typeface="Open Sauce"/>
                <a:ea typeface="Open Sauce"/>
                <a:cs typeface="Open Sauce"/>
                <a:sym typeface="Open Sauce"/>
              </a:rPr>
              <a:t>Strong collaboration acr</a:t>
            </a:r>
            <a:r>
              <a:rPr lang="en-US" sz="1800">
                <a:solidFill>
                  <a:srgbClr val="000000"/>
                </a:solidFill>
                <a:latin typeface="Open Sauce"/>
                <a:ea typeface="Open Sauce"/>
                <a:cs typeface="Open Sauce"/>
                <a:sym typeface="Open Sauce"/>
              </a:rPr>
              <a:t>oss different tasks (frontend, backend, and AI) enabled parallel progress</a:t>
            </a:r>
          </a:p>
          <a:p>
            <a:pPr algn="ctr">
              <a:lnSpc>
                <a:spcPts val="2160"/>
              </a:lnSpc>
              <a:spcBef>
                <a:spcPct val="0"/>
              </a:spcBef>
            </a:pPr>
          </a:p>
          <a:p>
            <a:pPr algn="ctr">
              <a:lnSpc>
                <a:spcPts val="2160"/>
              </a:lnSpc>
              <a:spcBef>
                <a:spcPct val="0"/>
              </a:spcBef>
            </a:pPr>
          </a:p>
          <a:p>
            <a:pPr algn="ctr">
              <a:lnSpc>
                <a:spcPts val="2160"/>
              </a:lnSpc>
              <a:spcBef>
                <a:spcPct val="0"/>
              </a:spcBef>
            </a:pPr>
          </a:p>
          <a:p>
            <a:pPr algn="ctr">
              <a:lnSpc>
                <a:spcPts val="2160"/>
              </a:lnSpc>
              <a:spcBef>
                <a:spcPct val="0"/>
              </a:spcBef>
            </a:pPr>
            <a:r>
              <a:rPr lang="en-US" sz="1800">
                <a:solidFill>
                  <a:srgbClr val="000000"/>
                </a:solidFill>
                <a:latin typeface="Open Sauce"/>
                <a:ea typeface="Open Sauce"/>
                <a:cs typeface="Open Sauce"/>
                <a:sym typeface="Open Sauce"/>
              </a:rPr>
              <a:t>Co-ownership model worked effectively, especially for shared responsibilities across team members</a:t>
            </a:r>
          </a:p>
          <a:p>
            <a:pPr algn="ctr">
              <a:lnSpc>
                <a:spcPts val="2160"/>
              </a:lnSpc>
              <a:spcBef>
                <a:spcPct val="0"/>
              </a:spcBef>
            </a:pPr>
          </a:p>
          <a:p>
            <a:pPr algn="ctr">
              <a:lnSpc>
                <a:spcPts val="2160"/>
              </a:lnSpc>
              <a:spcBef>
                <a:spcPct val="0"/>
              </a:spcBef>
            </a:pPr>
          </a:p>
          <a:p>
            <a:pPr algn="ctr">
              <a:lnSpc>
                <a:spcPts val="2160"/>
              </a:lnSpc>
              <a:spcBef>
                <a:spcPct val="0"/>
              </a:spcBef>
            </a:pPr>
          </a:p>
          <a:p>
            <a:pPr algn="ctr">
              <a:lnSpc>
                <a:spcPts val="2160"/>
              </a:lnSpc>
              <a:spcBef>
                <a:spcPct val="0"/>
              </a:spcBef>
            </a:pPr>
            <a:r>
              <a:rPr lang="en-US" sz="1800">
                <a:solidFill>
                  <a:srgbClr val="000000"/>
                </a:solidFill>
                <a:latin typeface="Open Sauce"/>
                <a:ea typeface="Open Sauce"/>
                <a:cs typeface="Open Sauce"/>
                <a:sym typeface="Open Sauce"/>
              </a:rPr>
              <a:t>Task breakdown helped clarify responsibilities and made it easier to track progress during the sprint</a:t>
            </a:r>
          </a:p>
          <a:p>
            <a:pPr algn="ctr">
              <a:lnSpc>
                <a:spcPts val="2160"/>
              </a:lnSpc>
              <a:spcBef>
                <a:spcPct val="0"/>
              </a:spcBef>
            </a:pPr>
          </a:p>
        </p:txBody>
      </p:sp>
      <p:sp>
        <p:nvSpPr>
          <p:cNvPr name="TextBox 34" id="34"/>
          <p:cNvSpPr txBox="true"/>
          <p:nvPr/>
        </p:nvSpPr>
        <p:spPr>
          <a:xfrm rot="0">
            <a:off x="7083004" y="3766667"/>
            <a:ext cx="4161124" cy="4533900"/>
          </a:xfrm>
          <a:prstGeom prst="rect">
            <a:avLst/>
          </a:prstGeom>
        </p:spPr>
        <p:txBody>
          <a:bodyPr anchor="t" rtlCol="false" tIns="0" lIns="0" bIns="0" rIns="0">
            <a:spAutoFit/>
          </a:bodyPr>
          <a:lstStyle/>
          <a:p>
            <a:pPr algn="ctr">
              <a:lnSpc>
                <a:spcPts val="2160"/>
              </a:lnSpc>
              <a:spcBef>
                <a:spcPct val="0"/>
              </a:spcBef>
            </a:pPr>
            <a:r>
              <a:rPr lang="en-US" sz="1800">
                <a:solidFill>
                  <a:srgbClr val="000000"/>
                </a:solidFill>
                <a:latin typeface="Open Sauce"/>
                <a:ea typeface="Open Sauce"/>
                <a:cs typeface="Open Sauce"/>
                <a:sym typeface="Open Sauce"/>
              </a:rPr>
              <a:t>Communication could be more c</a:t>
            </a:r>
            <a:r>
              <a:rPr lang="en-US" sz="1800">
                <a:solidFill>
                  <a:srgbClr val="000000"/>
                </a:solidFill>
                <a:latin typeface="Open Sauce"/>
                <a:ea typeface="Open Sauce"/>
                <a:cs typeface="Open Sauce"/>
                <a:sym typeface="Open Sauce"/>
              </a:rPr>
              <a:t>onsistent across the team</a:t>
            </a:r>
          </a:p>
          <a:p>
            <a:pPr algn="ctr">
              <a:lnSpc>
                <a:spcPts val="2160"/>
              </a:lnSpc>
              <a:spcBef>
                <a:spcPct val="0"/>
              </a:spcBef>
            </a:pPr>
          </a:p>
          <a:p>
            <a:pPr algn="ctr">
              <a:lnSpc>
                <a:spcPts val="2160"/>
              </a:lnSpc>
              <a:spcBef>
                <a:spcPct val="0"/>
              </a:spcBef>
            </a:pPr>
          </a:p>
          <a:p>
            <a:pPr algn="ctr">
              <a:lnSpc>
                <a:spcPts val="2160"/>
              </a:lnSpc>
              <a:spcBef>
                <a:spcPct val="0"/>
              </a:spcBef>
            </a:pPr>
          </a:p>
          <a:p>
            <a:pPr algn="ctr">
              <a:lnSpc>
                <a:spcPts val="2160"/>
              </a:lnSpc>
              <a:spcBef>
                <a:spcPct val="0"/>
              </a:spcBef>
            </a:pPr>
          </a:p>
          <a:p>
            <a:pPr algn="ctr">
              <a:lnSpc>
                <a:spcPts val="2160"/>
              </a:lnSpc>
              <a:spcBef>
                <a:spcPct val="0"/>
              </a:spcBef>
            </a:pPr>
            <a:r>
              <a:rPr lang="en-US" sz="1800">
                <a:solidFill>
                  <a:srgbClr val="000000"/>
                </a:solidFill>
                <a:latin typeface="Open Sauce"/>
                <a:ea typeface="Open Sauce"/>
                <a:cs typeface="Open Sauce"/>
                <a:sym typeface="Open Sauce"/>
              </a:rPr>
              <a:t>Need for more proactive follow-ups (e.g., setting up quick sync calls to ensure tasks stay on track)</a:t>
            </a:r>
          </a:p>
          <a:p>
            <a:pPr algn="ctr">
              <a:lnSpc>
                <a:spcPts val="2160"/>
              </a:lnSpc>
              <a:spcBef>
                <a:spcPct val="0"/>
              </a:spcBef>
            </a:pPr>
          </a:p>
          <a:p>
            <a:pPr algn="ctr">
              <a:lnSpc>
                <a:spcPts val="2160"/>
              </a:lnSpc>
              <a:spcBef>
                <a:spcPct val="0"/>
              </a:spcBef>
            </a:pPr>
          </a:p>
          <a:p>
            <a:pPr algn="ctr">
              <a:lnSpc>
                <a:spcPts val="2160"/>
              </a:lnSpc>
              <a:spcBef>
                <a:spcPct val="0"/>
              </a:spcBef>
            </a:pPr>
          </a:p>
          <a:p>
            <a:pPr algn="ctr">
              <a:lnSpc>
                <a:spcPts val="2160"/>
              </a:lnSpc>
              <a:spcBef>
                <a:spcPct val="0"/>
              </a:spcBef>
            </a:pPr>
          </a:p>
          <a:p>
            <a:pPr algn="ctr">
              <a:lnSpc>
                <a:spcPts val="2160"/>
              </a:lnSpc>
              <a:spcBef>
                <a:spcPct val="0"/>
              </a:spcBef>
            </a:pPr>
            <a:r>
              <a:rPr lang="en-US" sz="1800">
                <a:solidFill>
                  <a:srgbClr val="000000"/>
                </a:solidFill>
                <a:latin typeface="Open Sauce"/>
                <a:ea typeface="Open Sauce"/>
                <a:cs typeface="Open Sauce"/>
                <a:sym typeface="Open Sauce"/>
              </a:rPr>
              <a:t>Daily stand-ups could be more structured and focused on blockers and progress</a:t>
            </a:r>
          </a:p>
          <a:p>
            <a:pPr algn="ctr">
              <a:lnSpc>
                <a:spcPts val="2160"/>
              </a:lnSpc>
              <a:spcBef>
                <a:spcPct val="0"/>
              </a:spcBef>
            </a:pPr>
          </a:p>
        </p:txBody>
      </p:sp>
      <p:sp>
        <p:nvSpPr>
          <p:cNvPr name="TextBox 35" id="35"/>
          <p:cNvSpPr txBox="true"/>
          <p:nvPr/>
        </p:nvSpPr>
        <p:spPr>
          <a:xfrm rot="0">
            <a:off x="12965350" y="3766667"/>
            <a:ext cx="4161124" cy="4533900"/>
          </a:xfrm>
          <a:prstGeom prst="rect">
            <a:avLst/>
          </a:prstGeom>
        </p:spPr>
        <p:txBody>
          <a:bodyPr anchor="t" rtlCol="false" tIns="0" lIns="0" bIns="0" rIns="0">
            <a:spAutoFit/>
          </a:bodyPr>
          <a:lstStyle/>
          <a:p>
            <a:pPr algn="ctr">
              <a:lnSpc>
                <a:spcPts val="2160"/>
              </a:lnSpc>
              <a:spcBef>
                <a:spcPct val="0"/>
              </a:spcBef>
            </a:pPr>
            <a:r>
              <a:rPr lang="en-US" sz="1800">
                <a:solidFill>
                  <a:srgbClr val="000000"/>
                </a:solidFill>
                <a:latin typeface="Open Sauce"/>
                <a:ea typeface="Open Sauce"/>
                <a:cs typeface="Open Sauce"/>
                <a:sym typeface="Open Sauce"/>
              </a:rPr>
              <a:t>Establish more consistent communication by sche</a:t>
            </a:r>
            <a:r>
              <a:rPr lang="en-US" sz="1800">
                <a:solidFill>
                  <a:srgbClr val="000000"/>
                </a:solidFill>
                <a:latin typeface="Open Sauce"/>
                <a:ea typeface="Open Sauce"/>
                <a:cs typeface="Open Sauce"/>
                <a:sym typeface="Open Sauce"/>
              </a:rPr>
              <a:t>duling quick check-ins when blockers arise</a:t>
            </a:r>
          </a:p>
          <a:p>
            <a:pPr algn="ctr">
              <a:lnSpc>
                <a:spcPts val="2160"/>
              </a:lnSpc>
              <a:spcBef>
                <a:spcPct val="0"/>
              </a:spcBef>
            </a:pPr>
          </a:p>
          <a:p>
            <a:pPr algn="ctr">
              <a:lnSpc>
                <a:spcPts val="2160"/>
              </a:lnSpc>
              <a:spcBef>
                <a:spcPct val="0"/>
              </a:spcBef>
            </a:pPr>
          </a:p>
          <a:p>
            <a:pPr algn="ctr">
              <a:lnSpc>
                <a:spcPts val="2160"/>
              </a:lnSpc>
              <a:spcBef>
                <a:spcPct val="0"/>
              </a:spcBef>
            </a:pPr>
          </a:p>
          <a:p>
            <a:pPr algn="ctr">
              <a:lnSpc>
                <a:spcPts val="2160"/>
              </a:lnSpc>
              <a:spcBef>
                <a:spcPct val="0"/>
              </a:spcBef>
            </a:pPr>
          </a:p>
          <a:p>
            <a:pPr algn="ctr">
              <a:lnSpc>
                <a:spcPts val="2160"/>
              </a:lnSpc>
              <a:spcBef>
                <a:spcPct val="0"/>
              </a:spcBef>
            </a:pPr>
            <a:r>
              <a:rPr lang="en-US" sz="1800">
                <a:solidFill>
                  <a:srgbClr val="000000"/>
                </a:solidFill>
                <a:latin typeface="Open Sauce"/>
                <a:ea typeface="Open Sauce"/>
                <a:cs typeface="Open Sauce"/>
                <a:sym typeface="Open Sauce"/>
              </a:rPr>
              <a:t>Encourage team members to proactively reach out and coordinate instead of waiting for meetings</a:t>
            </a:r>
          </a:p>
          <a:p>
            <a:pPr algn="ctr">
              <a:lnSpc>
                <a:spcPts val="2160"/>
              </a:lnSpc>
              <a:spcBef>
                <a:spcPct val="0"/>
              </a:spcBef>
            </a:pPr>
          </a:p>
          <a:p>
            <a:pPr algn="ctr">
              <a:lnSpc>
                <a:spcPts val="2160"/>
              </a:lnSpc>
              <a:spcBef>
                <a:spcPct val="0"/>
              </a:spcBef>
            </a:pPr>
          </a:p>
          <a:p>
            <a:pPr algn="ctr">
              <a:lnSpc>
                <a:spcPts val="2160"/>
              </a:lnSpc>
              <a:spcBef>
                <a:spcPct val="0"/>
              </a:spcBef>
            </a:pPr>
          </a:p>
          <a:p>
            <a:pPr algn="ctr">
              <a:lnSpc>
                <a:spcPts val="2160"/>
              </a:lnSpc>
              <a:spcBef>
                <a:spcPct val="0"/>
              </a:spcBef>
            </a:pPr>
            <a:r>
              <a:rPr lang="en-US" sz="1800">
                <a:solidFill>
                  <a:srgbClr val="000000"/>
                </a:solidFill>
                <a:latin typeface="Open Sauce"/>
                <a:ea typeface="Open Sauce"/>
                <a:cs typeface="Open Sauce"/>
                <a:sym typeface="Open Sauce"/>
              </a:rPr>
              <a:t>Improve stand-up effectiveness by focusing on: what was done, what’s next, and any blockers</a:t>
            </a:r>
          </a:p>
          <a:p>
            <a:pPr algn="ctr">
              <a:lnSpc>
                <a:spcPts val="2160"/>
              </a:lnSpc>
              <a:spcBef>
                <a:spcPct val="0"/>
              </a:spcBef>
            </a:pP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045869" y="4524375"/>
            <a:ext cx="8139113" cy="1076325"/>
          </a:xfrm>
          <a:prstGeom prst="rect">
            <a:avLst/>
          </a:prstGeom>
        </p:spPr>
        <p:txBody>
          <a:bodyPr anchor="t" rtlCol="false" tIns="0" lIns="0" bIns="0" rIns="0">
            <a:spAutoFit/>
          </a:bodyPr>
          <a:lstStyle/>
          <a:p>
            <a:pPr algn="l" marL="0" indent="0" lvl="0">
              <a:lnSpc>
                <a:spcPts val="8400"/>
              </a:lnSpc>
            </a:pPr>
            <a:r>
              <a:rPr lang="en-US" b="true" sz="6000" spc="300" u="sng">
                <a:solidFill>
                  <a:srgbClr val="000000"/>
                </a:solidFill>
                <a:latin typeface="Helios Extended Bold"/>
                <a:ea typeface="Helios Extended Bold"/>
                <a:cs typeface="Helios Extended Bold"/>
                <a:sym typeface="Helios Extended Bold"/>
                <a:hlinkClick r:id="rId2" tooltip="https://github.com/htmw/2026S-Nexus/wiki"/>
              </a:rPr>
              <a:t>WIKI PAGE LINK</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045869" y="4524375"/>
            <a:ext cx="8139113" cy="1076325"/>
          </a:xfrm>
          <a:prstGeom prst="rect">
            <a:avLst/>
          </a:prstGeom>
        </p:spPr>
        <p:txBody>
          <a:bodyPr anchor="t" rtlCol="false" tIns="0" lIns="0" bIns="0" rIns="0">
            <a:spAutoFit/>
          </a:bodyPr>
          <a:lstStyle/>
          <a:p>
            <a:pPr algn="ctr" marL="0" indent="0" lvl="0">
              <a:lnSpc>
                <a:spcPts val="8400"/>
              </a:lnSpc>
            </a:pPr>
            <a:r>
              <a:rPr lang="en-US" b="true" sz="6000" spc="300" u="sng">
                <a:solidFill>
                  <a:srgbClr val="000000"/>
                </a:solidFill>
                <a:latin typeface="Helios Extended Bold"/>
                <a:ea typeface="Helios Extended Bold"/>
                <a:cs typeface="Helios Extended Bold"/>
                <a:sym typeface="Helios Extended Bold"/>
                <a:hlinkClick r:id="rId2" tooltip="https://youtu.be/KfUrnQxYIyY?si=NbWz5MAF7ZNi5ot7"/>
              </a:rPr>
              <a:t> DEMO</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78446" y="1624160"/>
            <a:ext cx="21203378" cy="7634140"/>
            <a:chOff x="0" y="0"/>
            <a:chExt cx="1128752" cy="406400"/>
          </a:xfrm>
        </p:grpSpPr>
        <p:sp>
          <p:nvSpPr>
            <p:cNvPr name="Freeform 3" id="3"/>
            <p:cNvSpPr/>
            <p:nvPr/>
          </p:nvSpPr>
          <p:spPr>
            <a:xfrm flipH="false" flipV="false" rot="0">
              <a:off x="0" y="0"/>
              <a:ext cx="1128752" cy="406400"/>
            </a:xfrm>
            <a:custGeom>
              <a:avLst/>
              <a:gdLst/>
              <a:ahLst/>
              <a:cxnLst/>
              <a:rect r="r" b="b" t="t" l="l"/>
              <a:pathLst>
                <a:path h="406400" w="1128752">
                  <a:moveTo>
                    <a:pt x="925552" y="0"/>
                  </a:moveTo>
                  <a:cubicBezTo>
                    <a:pt x="1037776" y="0"/>
                    <a:pt x="1128752" y="90976"/>
                    <a:pt x="1128752" y="203200"/>
                  </a:cubicBezTo>
                  <a:cubicBezTo>
                    <a:pt x="1128752" y="315424"/>
                    <a:pt x="1037776" y="406400"/>
                    <a:pt x="925552" y="406400"/>
                  </a:cubicBezTo>
                  <a:lnTo>
                    <a:pt x="203200" y="406400"/>
                  </a:lnTo>
                  <a:cubicBezTo>
                    <a:pt x="90976" y="406400"/>
                    <a:pt x="0" y="315424"/>
                    <a:pt x="0" y="203200"/>
                  </a:cubicBezTo>
                  <a:cubicBezTo>
                    <a:pt x="0" y="90976"/>
                    <a:pt x="90976" y="0"/>
                    <a:pt x="203200" y="0"/>
                  </a:cubicBezTo>
                  <a:close/>
                </a:path>
              </a:pathLst>
            </a:custGeom>
            <a:solidFill>
              <a:srgbClr val="F2F1F1">
                <a:alpha val="80000"/>
              </a:srgbClr>
            </a:solidFill>
          </p:spPr>
        </p:sp>
        <p:sp>
          <p:nvSpPr>
            <p:cNvPr name="TextBox 4" id="4"/>
            <p:cNvSpPr txBox="true"/>
            <p:nvPr/>
          </p:nvSpPr>
          <p:spPr>
            <a:xfrm>
              <a:off x="0" y="-47625"/>
              <a:ext cx="1128752" cy="454025"/>
            </a:xfrm>
            <a:prstGeom prst="rect">
              <a:avLst/>
            </a:prstGeom>
          </p:spPr>
          <p:txBody>
            <a:bodyPr anchor="ctr" rtlCol="false" tIns="50800" lIns="50800" bIns="50800" rIns="50800"/>
            <a:lstStyle/>
            <a:p>
              <a:pPr algn="ctr">
                <a:lnSpc>
                  <a:spcPts val="3359"/>
                </a:lnSpc>
              </a:pPr>
            </a:p>
          </p:txBody>
        </p:sp>
      </p:grpSp>
      <p:sp>
        <p:nvSpPr>
          <p:cNvPr name="TextBox 5" id="5"/>
          <p:cNvSpPr txBox="true"/>
          <p:nvPr/>
        </p:nvSpPr>
        <p:spPr>
          <a:xfrm rot="0">
            <a:off x="2958126" y="3970422"/>
            <a:ext cx="12371749" cy="2060405"/>
          </a:xfrm>
          <a:prstGeom prst="rect">
            <a:avLst/>
          </a:prstGeom>
        </p:spPr>
        <p:txBody>
          <a:bodyPr anchor="t" rtlCol="false" tIns="0" lIns="0" bIns="0" rIns="0">
            <a:spAutoFit/>
          </a:bodyPr>
          <a:lstStyle/>
          <a:p>
            <a:pPr algn="ctr" marL="0" indent="0" lvl="0">
              <a:lnSpc>
                <a:spcPts val="16238"/>
              </a:lnSpc>
            </a:pPr>
            <a:r>
              <a:rPr lang="en-US" b="true" sz="11598" spc="579">
                <a:solidFill>
                  <a:srgbClr val="000000"/>
                </a:solidFill>
                <a:latin typeface="Helios Extended Bold"/>
                <a:ea typeface="Helios Extended Bold"/>
                <a:cs typeface="Helios Extended Bold"/>
                <a:sym typeface="Helios Extended Bold"/>
              </a:rPr>
              <a:t>THANK YOU</a:t>
            </a:r>
          </a:p>
        </p:txBody>
      </p:sp>
      <p:grpSp>
        <p:nvGrpSpPr>
          <p:cNvPr name="Group 6" id="6"/>
          <p:cNvGrpSpPr/>
          <p:nvPr/>
        </p:nvGrpSpPr>
        <p:grpSpPr>
          <a:xfrm rot="0">
            <a:off x="7581900" y="6932479"/>
            <a:ext cx="3086100" cy="804358"/>
            <a:chOff x="0" y="0"/>
            <a:chExt cx="812800" cy="211847"/>
          </a:xfrm>
        </p:grpSpPr>
        <p:sp>
          <p:nvSpPr>
            <p:cNvPr name="Freeform 7" id="7"/>
            <p:cNvSpPr/>
            <p:nvPr/>
          </p:nvSpPr>
          <p:spPr>
            <a:xfrm flipH="false" flipV="false" rot="0">
              <a:off x="0" y="0"/>
              <a:ext cx="812800" cy="211847"/>
            </a:xfrm>
            <a:custGeom>
              <a:avLst/>
              <a:gdLst/>
              <a:ahLst/>
              <a:cxnLst/>
              <a:rect r="r" b="b" t="t" l="l"/>
              <a:pathLst>
                <a:path h="211847" w="812800">
                  <a:moveTo>
                    <a:pt x="50173" y="0"/>
                  </a:moveTo>
                  <a:lnTo>
                    <a:pt x="762627" y="0"/>
                  </a:lnTo>
                  <a:cubicBezTo>
                    <a:pt x="775934" y="0"/>
                    <a:pt x="788695" y="5286"/>
                    <a:pt x="798105" y="14695"/>
                  </a:cubicBezTo>
                  <a:cubicBezTo>
                    <a:pt x="807514" y="24105"/>
                    <a:pt x="812800" y="36866"/>
                    <a:pt x="812800" y="50173"/>
                  </a:cubicBezTo>
                  <a:lnTo>
                    <a:pt x="812800" y="161675"/>
                  </a:lnTo>
                  <a:cubicBezTo>
                    <a:pt x="812800" y="174981"/>
                    <a:pt x="807514" y="187743"/>
                    <a:pt x="798105" y="197152"/>
                  </a:cubicBezTo>
                  <a:cubicBezTo>
                    <a:pt x="788695" y="206561"/>
                    <a:pt x="775934" y="211847"/>
                    <a:pt x="762627" y="211847"/>
                  </a:cubicBezTo>
                  <a:lnTo>
                    <a:pt x="50173" y="211847"/>
                  </a:lnTo>
                  <a:cubicBezTo>
                    <a:pt x="36866" y="211847"/>
                    <a:pt x="24105" y="206561"/>
                    <a:pt x="14695" y="197152"/>
                  </a:cubicBezTo>
                  <a:cubicBezTo>
                    <a:pt x="5286" y="187743"/>
                    <a:pt x="0" y="174981"/>
                    <a:pt x="0" y="161675"/>
                  </a:cubicBezTo>
                  <a:lnTo>
                    <a:pt x="0" y="50173"/>
                  </a:lnTo>
                  <a:cubicBezTo>
                    <a:pt x="0" y="36866"/>
                    <a:pt x="5286" y="24105"/>
                    <a:pt x="14695" y="14695"/>
                  </a:cubicBezTo>
                  <a:cubicBezTo>
                    <a:pt x="24105" y="5286"/>
                    <a:pt x="36866" y="0"/>
                    <a:pt x="50173" y="0"/>
                  </a:cubicBezTo>
                  <a:close/>
                </a:path>
              </a:pathLst>
            </a:custGeom>
            <a:solidFill>
              <a:srgbClr val="264653"/>
            </a:solidFill>
          </p:spPr>
        </p:sp>
        <p:sp>
          <p:nvSpPr>
            <p:cNvPr name="TextBox 8" id="8"/>
            <p:cNvSpPr txBox="true"/>
            <p:nvPr/>
          </p:nvSpPr>
          <p:spPr>
            <a:xfrm>
              <a:off x="0" y="-47625"/>
              <a:ext cx="812800" cy="259472"/>
            </a:xfrm>
            <a:prstGeom prst="rect">
              <a:avLst/>
            </a:prstGeom>
          </p:spPr>
          <p:txBody>
            <a:bodyPr anchor="ctr" rtlCol="false" tIns="50800" lIns="50800" bIns="50800" rIns="50800"/>
            <a:lstStyle/>
            <a:p>
              <a:pPr algn="ctr">
                <a:lnSpc>
                  <a:spcPts val="3079"/>
                </a:lnSpc>
              </a:pPr>
              <a:r>
                <a:rPr lang="en-US" sz="2199" spc="219">
                  <a:solidFill>
                    <a:srgbClr val="FFFFFF"/>
                  </a:solidFill>
                  <a:latin typeface="Lato"/>
                  <a:ea typeface="Lato"/>
                  <a:cs typeface="Lato"/>
                  <a:sym typeface="Lato"/>
                </a:rPr>
                <a:t>26 Mar, 2026</a:t>
              </a:r>
            </a:p>
          </p:txBody>
        </p:sp>
      </p:grpSp>
      <p:sp>
        <p:nvSpPr>
          <p:cNvPr name="Freeform 9" id="9"/>
          <p:cNvSpPr/>
          <p:nvPr/>
        </p:nvSpPr>
        <p:spPr>
          <a:xfrm flipH="false" flipV="false" rot="0">
            <a:off x="7600950" y="1624160"/>
            <a:ext cx="2269907" cy="2269907"/>
          </a:xfrm>
          <a:custGeom>
            <a:avLst/>
            <a:gdLst/>
            <a:ahLst/>
            <a:cxnLst/>
            <a:rect r="r" b="b" t="t" l="l"/>
            <a:pathLst>
              <a:path h="2269907" w="2269907">
                <a:moveTo>
                  <a:pt x="0" y="0"/>
                </a:moveTo>
                <a:lnTo>
                  <a:pt x="2269907" y="0"/>
                </a:lnTo>
                <a:lnTo>
                  <a:pt x="2269907" y="2269906"/>
                </a:lnTo>
                <a:lnTo>
                  <a:pt x="0" y="2269906"/>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DAHDxebef9A</dc:identifier>
  <dcterms:modified xsi:type="dcterms:W3CDTF">2011-08-01T06:04:30Z</dcterms:modified>
  <cp:revision>1</cp:revision>
  <dc:title>Mind Mirror Sprint 1</dc:title>
</cp:coreProperties>
</file>