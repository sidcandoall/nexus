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x="18288000" cy="10287000"/>
  <p:notesSz cx="6858000" cy="9144000"/>
  <p:embeddedFontLst>
    <p:embeddedFont>
      <p:font typeface="Lato" charset="1" panose="020F0502020204030203"/>
      <p:regular r:id="rId51"/>
    </p:embeddedFont>
    <p:embeddedFont>
      <p:font typeface="Helios Extended Bold" charset="1" panose="02000805050000020004"/>
      <p:regular r:id="rId52"/>
    </p:embeddedFont>
    <p:embeddedFont>
      <p:font typeface="Heebo Bold" charset="1" panose="00000800000000000000"/>
      <p:regular r:id="rId53"/>
    </p:embeddedFont>
    <p:embeddedFont>
      <p:font typeface="Arimo" charset="1" panose="020B0604020202020204"/>
      <p:regular r:id="rId54"/>
    </p:embeddedFont>
    <p:embeddedFont>
      <p:font typeface="Canva Sans Bold" charset="1" panose="020B0803030501040103"/>
      <p:regular r:id="rId57"/>
    </p:embeddedFont>
    <p:embeddedFont>
      <p:font typeface="Canva Sans" charset="1" panose="020B0503030501040103"/>
      <p:regular r:id="rId58"/>
    </p:embeddedFont>
    <p:embeddedFont>
      <p:font typeface="Lato Bold" charset="1" panose="020F0502020204030203"/>
      <p:regular r:id="rId59"/>
    </p:embeddedFont>
    <p:embeddedFont>
      <p:font typeface="Open Sauce Bold" charset="1" panose="00000800000000000000"/>
      <p:regular r:id="rId60"/>
    </p:embeddedFont>
    <p:embeddedFont>
      <p:font typeface="Open Sauce" charset="1" panose="00000500000000000000"/>
      <p:regular r:id="rId61"/>
    </p:embeddedFont>
    <p:embeddedFont>
      <p:font typeface="Arimo Bold" charset="1" panose="020B0704020202020204"/>
      <p:regular r:id="rId6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notesMasters/notesMaster1.xml" Type="http://schemas.openxmlformats.org/officeDocument/2006/relationships/notesMaster"/><Relationship Id="rId49" Target="theme/theme2.xml" Type="http://schemas.openxmlformats.org/officeDocument/2006/relationships/theme"/><Relationship Id="rId5" Target="tableStyles.xml" Type="http://schemas.openxmlformats.org/officeDocument/2006/relationships/tableStyles"/><Relationship Id="rId50" Target="notesSlides/notesSlide1.xml" Type="http://schemas.openxmlformats.org/officeDocument/2006/relationships/notesSlide"/><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54" Target="fonts/font54.fntdata" Type="http://schemas.openxmlformats.org/officeDocument/2006/relationships/font"/><Relationship Id="rId55" Target="notesSlides/notesSlide2.xml" Type="http://schemas.openxmlformats.org/officeDocument/2006/relationships/notesSlide"/><Relationship Id="rId56" Target="notesSlides/notesSlide3.xml" Type="http://schemas.openxmlformats.org/officeDocument/2006/relationships/notesSlide"/><Relationship Id="rId57" Target="fonts/font57.fntdata" Type="http://schemas.openxmlformats.org/officeDocument/2006/relationships/font"/><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60" Target="fonts/font60.fntdata" Type="http://schemas.openxmlformats.org/officeDocument/2006/relationships/font"/><Relationship Id="rId61" Target="fonts/font61.fntdata" Type="http://schemas.openxmlformats.org/officeDocument/2006/relationships/font"/><Relationship Id="rId62" Target="fonts/font62.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still need to choose a logo and replace it with the one here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Are we including Professor Wong like he asked? I did it in case, if not, we can take it out.</a:t>
            </a:r>
          </a:p>
          <a:p>
            <a:r>
              <a:rPr lang="en-US"/>
              <a:t/>
            </a:r>
          </a:p>
          <a:p>
            <a:r>
              <a:rPr lang="en-US"/>
              <a:t>Also we need Sanket's and Sai's roles</a:t>
            </a:r>
          </a:p>
          <a:p>
            <a:r>
              <a:rPr lang="en-US"/>
              <a:t/>
            </a:r>
          </a:p>
          <a:p>
            <a:r>
              <a:rPr lang="en-US"/>
              <a:t>We also need pictures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Used a random sad man's picture to depict mental health, lmk if it works! if not, we can change 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5.png" Type="http://schemas.openxmlformats.org/officeDocument/2006/relationships/image"/><Relationship Id="rId7" Target="../media/image6.jpeg" Type="http://schemas.openxmlformats.org/officeDocument/2006/relationships/image"/><Relationship Id="rId8"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https://1drv.ms/x/c/c30f4680ccc79b8c/IQC9fztrzBx4Rrh7wy889blgAWKdZ5Khnt9L0mDcJNT6C-c" TargetMode="External" Type="http://schemas.openxmlformats.org/officeDocument/2006/relationships/hyperlink"/></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https://1drv.ms/x/c/c30f4680ccc79b8c/IQC9fztrzBx4Rrh7wy889blgAWKdZ5Khnt9L0mDcJNT6C-c" TargetMode="External" Type="http://schemas.openxmlformats.org/officeDocument/2006/relationships/hyperlink"/></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https://1drv.ms/x/c/c30f4680ccc79b8c/IQC9fztrzBx4Rrh7wy889blgAWKdZ5Khnt9L0mDcJNT6C-c" TargetMode="External" Type="http://schemas.openxmlformats.org/officeDocument/2006/relationships/hyperlink"/></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embeddings/oleObject1.bin" Type="http://schemas.openxmlformats.org/officeDocument/2006/relationships/oleObject"/><Relationship Id="rId4" Target="../media/image24.png" Type="http://schemas.openxmlformats.org/officeDocument/2006/relationships/image"/><Relationship Id="rId5" Target="../embeddings/oleObject2.bin" Type="http://schemas.openxmlformats.org/officeDocument/2006/relationships/oleObject"/><Relationship Id="rId6" Target="https://1drv.ms/x/c/c30f4680ccc79b8c/IQC9fztrzBx4Rrh7wy889blgAWKdZ5Khnt9L0mDcJNT6C-c" TargetMode="External" Type="http://schemas.openxmlformats.org/officeDocument/2006/relationships/hyperlink"/><Relationship Id="rId7" Target="../media/image9.png" Type="http://schemas.openxmlformats.org/officeDocument/2006/relationships/image"/><Relationship Id="rId8" Target="../media/image10.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https://1drv.ms/x/c/c30f4680ccc79b8c/IQC9fztrzBx4Rrh7wy889blgAWKdZ5Khnt9L0mDcJNT6C-c" TargetMode="External" Type="http://schemas.openxmlformats.org/officeDocument/2006/relationships/hyperlink"/></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https://1drv.ms/x/c/c30f4680ccc79b8c/IQC9fztrzBx4Rrh7wy889blgAWKdZ5Khnt9L0mDcJNT6C-c" TargetMode="External" Type="http://schemas.openxmlformats.org/officeDocument/2006/relationships/hyperlink"/></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https://1drv.ms/x/c/c30f4680ccc79b8c/IQC9fztrzBx4Rrh7wy889blgAWKdZ5Khnt9L0mDcJNT6C-c" TargetMode="External" Type="http://schemas.openxmlformats.org/officeDocument/2006/relationships/hyperlink"/></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https://1drv.ms/x/c/c30f4680ccc79b8c/IQC9fztrzBx4Rrh7wy889blgAWKdZ5Khnt9L0mDcJNT6C-c" TargetMode="External" Type="http://schemas.openxmlformats.org/officeDocument/2006/relationships/hyperlink"/></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https://1drv.ms/x/c/c30f4680ccc79b8c/IQC9fztrzBx4Rrh7wy889blgAWKdZ5Khnt9L0mDcJNT6C-c" TargetMode="External" Type="http://schemas.openxmlformats.org/officeDocument/2006/relationships/hyperlink"/></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https://1drv.ms/x/c/c30f4680ccc79b8c/IQC9fztrzBx4Rrh7wy889blgAWKdZ5Khnt9L0mDcJNT6C-c" TargetMode="External" Type="http://schemas.openxmlformats.org/officeDocument/2006/relationships/hyperlink"/><Relationship Id="rId4" Target="../media/image9.png" Type="http://schemas.openxmlformats.org/officeDocument/2006/relationships/image"/><Relationship Id="rId5" Target="../media/image10.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https://1drv.ms/x/c/c30f4680ccc79b8c/IQC9fztrzBx4Rrh7wy889blgAWKdZ5Khnt9L0mDcJNT6C-c" TargetMode="External" Type="http://schemas.openxmlformats.org/officeDocument/2006/relationships/hyperlink"/><Relationship Id="rId5" Target="../media/image9.png" Type="http://schemas.openxmlformats.org/officeDocument/2006/relationships/image"/><Relationship Id="rId6" Target="../media/image10.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https://github.com/htmw/2026S-Nexus/wiki" TargetMode="External" Type="http://schemas.openxmlformats.org/officeDocument/2006/relationships/hyperlink"/></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https://youtu.be/KfUrnQxYIyY?si=NbWz5MAF7ZNi5ot7" TargetMode="External" Type="http://schemas.openxmlformats.org/officeDocument/2006/relationships/hyperlink"/></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944078" y="1326430"/>
            <a:ext cx="21203378" cy="7634140"/>
            <a:chOff x="0" y="0"/>
            <a:chExt cx="1128752" cy="406400"/>
          </a:xfrm>
        </p:grpSpPr>
        <p:sp>
          <p:nvSpPr>
            <p:cNvPr name="Freeform 3" id="3"/>
            <p:cNvSpPr/>
            <p:nvPr/>
          </p:nvSpPr>
          <p:spPr>
            <a:xfrm flipH="false" flipV="false" rot="0">
              <a:off x="0" y="0"/>
              <a:ext cx="1128752" cy="406400"/>
            </a:xfrm>
            <a:custGeom>
              <a:avLst/>
              <a:gdLst/>
              <a:ahLst/>
              <a:cxnLst/>
              <a:rect r="r" b="b" t="t" l="l"/>
              <a:pathLst>
                <a:path h="406400" w="1128752">
                  <a:moveTo>
                    <a:pt x="925552" y="0"/>
                  </a:moveTo>
                  <a:cubicBezTo>
                    <a:pt x="1037776" y="0"/>
                    <a:pt x="1128752" y="90976"/>
                    <a:pt x="1128752" y="203200"/>
                  </a:cubicBezTo>
                  <a:cubicBezTo>
                    <a:pt x="1128752" y="315424"/>
                    <a:pt x="1037776" y="406400"/>
                    <a:pt x="925552" y="406400"/>
                  </a:cubicBezTo>
                  <a:lnTo>
                    <a:pt x="203200" y="406400"/>
                  </a:lnTo>
                  <a:cubicBezTo>
                    <a:pt x="90976" y="406400"/>
                    <a:pt x="0" y="315424"/>
                    <a:pt x="0" y="203200"/>
                  </a:cubicBezTo>
                  <a:cubicBezTo>
                    <a:pt x="0" y="90976"/>
                    <a:pt x="90976" y="0"/>
                    <a:pt x="203200" y="0"/>
                  </a:cubicBezTo>
                  <a:close/>
                </a:path>
              </a:pathLst>
            </a:custGeom>
            <a:solidFill>
              <a:srgbClr val="F2F1F1">
                <a:alpha val="80000"/>
              </a:srgbClr>
            </a:solidFill>
          </p:spPr>
        </p:sp>
        <p:sp>
          <p:nvSpPr>
            <p:cNvPr name="TextBox 4" id="4"/>
            <p:cNvSpPr txBox="true"/>
            <p:nvPr/>
          </p:nvSpPr>
          <p:spPr>
            <a:xfrm>
              <a:off x="0" y="-47625"/>
              <a:ext cx="1128752" cy="454025"/>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7600950" y="6932479"/>
            <a:ext cx="3086100" cy="804358"/>
            <a:chOff x="0" y="0"/>
            <a:chExt cx="812800" cy="211847"/>
          </a:xfrm>
        </p:grpSpPr>
        <p:sp>
          <p:nvSpPr>
            <p:cNvPr name="Freeform 6" id="6"/>
            <p:cNvSpPr/>
            <p:nvPr/>
          </p:nvSpPr>
          <p:spPr>
            <a:xfrm flipH="false" flipV="false" rot="0">
              <a:off x="0" y="0"/>
              <a:ext cx="812800" cy="211847"/>
            </a:xfrm>
            <a:custGeom>
              <a:avLst/>
              <a:gdLst/>
              <a:ahLst/>
              <a:cxnLst/>
              <a:rect r="r" b="b" t="t" l="l"/>
              <a:pathLst>
                <a:path h="211847" w="812800">
                  <a:moveTo>
                    <a:pt x="50173" y="0"/>
                  </a:moveTo>
                  <a:lnTo>
                    <a:pt x="762627" y="0"/>
                  </a:lnTo>
                  <a:cubicBezTo>
                    <a:pt x="775934" y="0"/>
                    <a:pt x="788695" y="5286"/>
                    <a:pt x="798105" y="14695"/>
                  </a:cubicBezTo>
                  <a:cubicBezTo>
                    <a:pt x="807514" y="24105"/>
                    <a:pt x="812800" y="36866"/>
                    <a:pt x="812800" y="50173"/>
                  </a:cubicBezTo>
                  <a:lnTo>
                    <a:pt x="812800" y="161675"/>
                  </a:lnTo>
                  <a:cubicBezTo>
                    <a:pt x="812800" y="174981"/>
                    <a:pt x="807514" y="187743"/>
                    <a:pt x="798105" y="197152"/>
                  </a:cubicBezTo>
                  <a:cubicBezTo>
                    <a:pt x="788695" y="206561"/>
                    <a:pt x="775934" y="211847"/>
                    <a:pt x="762627" y="211847"/>
                  </a:cubicBezTo>
                  <a:lnTo>
                    <a:pt x="50173" y="211847"/>
                  </a:lnTo>
                  <a:cubicBezTo>
                    <a:pt x="36866" y="211847"/>
                    <a:pt x="24105" y="206561"/>
                    <a:pt x="14695" y="197152"/>
                  </a:cubicBezTo>
                  <a:cubicBezTo>
                    <a:pt x="5286" y="187743"/>
                    <a:pt x="0" y="174981"/>
                    <a:pt x="0" y="161675"/>
                  </a:cubicBezTo>
                  <a:lnTo>
                    <a:pt x="0" y="50173"/>
                  </a:lnTo>
                  <a:cubicBezTo>
                    <a:pt x="0" y="36866"/>
                    <a:pt x="5286" y="24105"/>
                    <a:pt x="14695" y="14695"/>
                  </a:cubicBezTo>
                  <a:cubicBezTo>
                    <a:pt x="24105" y="5286"/>
                    <a:pt x="36866" y="0"/>
                    <a:pt x="50173" y="0"/>
                  </a:cubicBezTo>
                  <a:close/>
                </a:path>
              </a:pathLst>
            </a:custGeom>
            <a:solidFill>
              <a:srgbClr val="006D77"/>
            </a:solidFill>
          </p:spPr>
        </p:sp>
        <p:sp>
          <p:nvSpPr>
            <p:cNvPr name="TextBox 7" id="7"/>
            <p:cNvSpPr txBox="true"/>
            <p:nvPr/>
          </p:nvSpPr>
          <p:spPr>
            <a:xfrm>
              <a:off x="0" y="-47625"/>
              <a:ext cx="812800" cy="259472"/>
            </a:xfrm>
            <a:prstGeom prst="rect">
              <a:avLst/>
            </a:prstGeom>
          </p:spPr>
          <p:txBody>
            <a:bodyPr anchor="ctr" rtlCol="false" tIns="50800" lIns="50800" bIns="50800" rIns="50800"/>
            <a:lstStyle/>
            <a:p>
              <a:pPr algn="ctr">
                <a:lnSpc>
                  <a:spcPts val="3079"/>
                </a:lnSpc>
              </a:pPr>
              <a:r>
                <a:rPr lang="en-US" sz="2199" spc="219">
                  <a:solidFill>
                    <a:srgbClr val="FFFFFF"/>
                  </a:solidFill>
                  <a:latin typeface="Lato"/>
                  <a:ea typeface="Lato"/>
                  <a:cs typeface="Lato"/>
                  <a:sym typeface="Lato"/>
                </a:rPr>
                <a:t>17 April, 2026</a:t>
              </a:r>
            </a:p>
          </p:txBody>
        </p:sp>
      </p:grpSp>
      <p:sp>
        <p:nvSpPr>
          <p:cNvPr name="Freeform 8" id="8"/>
          <p:cNvSpPr/>
          <p:nvPr/>
        </p:nvSpPr>
        <p:spPr>
          <a:xfrm flipH="false" flipV="false" rot="0">
            <a:off x="7591425" y="1188033"/>
            <a:ext cx="2889609" cy="2889609"/>
          </a:xfrm>
          <a:custGeom>
            <a:avLst/>
            <a:gdLst/>
            <a:ahLst/>
            <a:cxnLst/>
            <a:rect r="r" b="b" t="t" l="l"/>
            <a:pathLst>
              <a:path h="2889609" w="2889609">
                <a:moveTo>
                  <a:pt x="0" y="0"/>
                </a:moveTo>
                <a:lnTo>
                  <a:pt x="2889609" y="0"/>
                </a:lnTo>
                <a:lnTo>
                  <a:pt x="2889609" y="2889609"/>
                </a:lnTo>
                <a:lnTo>
                  <a:pt x="0" y="2889609"/>
                </a:lnTo>
                <a:lnTo>
                  <a:pt x="0" y="0"/>
                </a:lnTo>
                <a:close/>
              </a:path>
            </a:pathLst>
          </a:custGeom>
          <a:blipFill>
            <a:blip r:embed="rId3"/>
            <a:stretch>
              <a:fillRect l="0" t="0" r="0" b="0"/>
            </a:stretch>
          </a:blipFill>
        </p:spPr>
      </p:sp>
      <p:sp>
        <p:nvSpPr>
          <p:cNvPr name="TextBox 9" id="9"/>
          <p:cNvSpPr txBox="true"/>
          <p:nvPr/>
        </p:nvSpPr>
        <p:spPr>
          <a:xfrm rot="0">
            <a:off x="2958126" y="3659446"/>
            <a:ext cx="12371749" cy="2143125"/>
          </a:xfrm>
          <a:prstGeom prst="rect">
            <a:avLst/>
          </a:prstGeom>
        </p:spPr>
        <p:txBody>
          <a:bodyPr anchor="t" rtlCol="false" tIns="0" lIns="0" bIns="0" rIns="0">
            <a:spAutoFit/>
          </a:bodyPr>
          <a:lstStyle/>
          <a:p>
            <a:pPr algn="ctr" marL="0" indent="0" lvl="0">
              <a:lnSpc>
                <a:spcPts val="8400"/>
              </a:lnSpc>
            </a:pPr>
            <a:r>
              <a:rPr lang="en-US" b="true" sz="6000" spc="300">
                <a:solidFill>
                  <a:srgbClr val="000000"/>
                </a:solidFill>
                <a:latin typeface="Helios Extended Bold"/>
                <a:ea typeface="Helios Extended Bold"/>
                <a:cs typeface="Helios Extended Bold"/>
                <a:sym typeface="Helios Extended Bold"/>
              </a:rPr>
              <a:t>AI JOURNAL WITH SENTIMENT ANALYSIS</a:t>
            </a:r>
          </a:p>
        </p:txBody>
      </p:sp>
      <p:sp>
        <p:nvSpPr>
          <p:cNvPr name="TextBox 10" id="10"/>
          <p:cNvSpPr txBox="true"/>
          <p:nvPr/>
        </p:nvSpPr>
        <p:spPr>
          <a:xfrm rot="0">
            <a:off x="2958126" y="6149085"/>
            <a:ext cx="12371749" cy="389255"/>
          </a:xfrm>
          <a:prstGeom prst="rect">
            <a:avLst/>
          </a:prstGeom>
        </p:spPr>
        <p:txBody>
          <a:bodyPr anchor="t" rtlCol="false" tIns="0" lIns="0" bIns="0" rIns="0">
            <a:spAutoFit/>
          </a:bodyPr>
          <a:lstStyle/>
          <a:p>
            <a:pPr algn="ctr" marL="0" indent="0" lvl="0">
              <a:lnSpc>
                <a:spcPts val="3219"/>
              </a:lnSpc>
            </a:pPr>
            <a:r>
              <a:rPr lang="en-US" b="true" sz="2299" spc="229">
                <a:solidFill>
                  <a:srgbClr val="000000"/>
                </a:solidFill>
                <a:latin typeface="Heebo Bold"/>
                <a:ea typeface="Heebo Bold"/>
                <a:cs typeface="Heebo Bold"/>
                <a:sym typeface="Heebo Bold"/>
              </a:rPr>
              <a:t>SPRINT 2</a:t>
            </a:r>
          </a:p>
        </p:txBody>
      </p:sp>
      <p:sp>
        <p:nvSpPr>
          <p:cNvPr name="TextBox 11" id="11"/>
          <p:cNvSpPr txBox="true"/>
          <p:nvPr/>
        </p:nvSpPr>
        <p:spPr>
          <a:xfrm rot="0">
            <a:off x="7591425" y="4039542"/>
            <a:ext cx="2889609" cy="603250"/>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 </a:t>
            </a:r>
          </a:p>
          <a:p>
            <a:pPr algn="ctr">
              <a:lnSpc>
                <a:spcPts val="3219"/>
              </a:lnSpc>
              <a:spcBef>
                <a:spcPct val="0"/>
              </a:spcBef>
            </a:pPr>
            <a:r>
              <a:rPr lang="en-US" b="true" sz="2299" spc="229">
                <a:solidFill>
                  <a:srgbClr val="000000"/>
                </a:solidFill>
                <a:latin typeface="Heebo Bold"/>
                <a:ea typeface="Heebo Bold"/>
                <a:cs typeface="Heebo Bold"/>
                <a:sym typeface="Heebo Bold"/>
              </a:rPr>
              <a:t> </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882226" y="2026804"/>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01</a:t>
            </a:r>
          </a:p>
        </p:txBody>
      </p:sp>
      <p:sp>
        <p:nvSpPr>
          <p:cNvPr name="TextBox 3" id="3"/>
          <p:cNvSpPr txBox="true"/>
          <p:nvPr/>
        </p:nvSpPr>
        <p:spPr>
          <a:xfrm rot="0">
            <a:off x="11630356" y="2026804"/>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06</a:t>
            </a:r>
          </a:p>
        </p:txBody>
      </p:sp>
      <p:sp>
        <p:nvSpPr>
          <p:cNvPr name="TextBox 4" id="4"/>
          <p:cNvSpPr txBox="true"/>
          <p:nvPr/>
        </p:nvSpPr>
        <p:spPr>
          <a:xfrm rot="0">
            <a:off x="1882226" y="352635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02</a:t>
            </a:r>
          </a:p>
        </p:txBody>
      </p:sp>
      <p:sp>
        <p:nvSpPr>
          <p:cNvPr name="TextBox 5" id="5"/>
          <p:cNvSpPr txBox="true"/>
          <p:nvPr/>
        </p:nvSpPr>
        <p:spPr>
          <a:xfrm rot="0">
            <a:off x="11630356" y="352635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07</a:t>
            </a:r>
          </a:p>
        </p:txBody>
      </p:sp>
      <p:sp>
        <p:nvSpPr>
          <p:cNvPr name="TextBox 6" id="6"/>
          <p:cNvSpPr txBox="true"/>
          <p:nvPr/>
        </p:nvSpPr>
        <p:spPr>
          <a:xfrm rot="0">
            <a:off x="1882226" y="502749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03</a:t>
            </a:r>
          </a:p>
        </p:txBody>
      </p:sp>
      <p:sp>
        <p:nvSpPr>
          <p:cNvPr name="TextBox 7" id="7"/>
          <p:cNvSpPr txBox="true"/>
          <p:nvPr/>
        </p:nvSpPr>
        <p:spPr>
          <a:xfrm rot="0">
            <a:off x="11630356" y="502749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08</a:t>
            </a:r>
          </a:p>
        </p:txBody>
      </p:sp>
      <p:sp>
        <p:nvSpPr>
          <p:cNvPr name="TextBox 8" id="8"/>
          <p:cNvSpPr txBox="true"/>
          <p:nvPr/>
        </p:nvSpPr>
        <p:spPr>
          <a:xfrm rot="0">
            <a:off x="1882226" y="3014228"/>
            <a:ext cx="7558757"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TEAM MEMBER ROLES AND RESPONSIBILITIES</a:t>
            </a:r>
          </a:p>
        </p:txBody>
      </p:sp>
      <p:sp>
        <p:nvSpPr>
          <p:cNvPr name="TextBox 9" id="9"/>
          <p:cNvSpPr txBox="true"/>
          <p:nvPr/>
        </p:nvSpPr>
        <p:spPr>
          <a:xfrm rot="0">
            <a:off x="11630356" y="3014228"/>
            <a:ext cx="5151545"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MVP</a:t>
            </a:r>
          </a:p>
        </p:txBody>
      </p:sp>
      <p:sp>
        <p:nvSpPr>
          <p:cNvPr name="TextBox 10" id="10"/>
          <p:cNvSpPr txBox="true"/>
          <p:nvPr/>
        </p:nvSpPr>
        <p:spPr>
          <a:xfrm rot="0">
            <a:off x="1882226" y="4513781"/>
            <a:ext cx="7558757"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IMP</a:t>
            </a:r>
            <a:r>
              <a:rPr lang="en-US" b="true" sz="1899" spc="189">
                <a:solidFill>
                  <a:srgbClr val="000000"/>
                </a:solidFill>
                <a:latin typeface="Heebo Bold"/>
                <a:ea typeface="Heebo Bold"/>
                <a:cs typeface="Heebo Bold"/>
                <a:sym typeface="Heebo Bold"/>
              </a:rPr>
              <a:t>ROVEMENTS MADE FROM FEEDBACK</a:t>
            </a:r>
          </a:p>
        </p:txBody>
      </p:sp>
      <p:sp>
        <p:nvSpPr>
          <p:cNvPr name="TextBox 11" id="11"/>
          <p:cNvSpPr txBox="true"/>
          <p:nvPr/>
        </p:nvSpPr>
        <p:spPr>
          <a:xfrm rot="0">
            <a:off x="11630356" y="451378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TECHNOLOGIES</a:t>
            </a:r>
          </a:p>
        </p:txBody>
      </p:sp>
      <p:sp>
        <p:nvSpPr>
          <p:cNvPr name="TextBox 12" id="12"/>
          <p:cNvSpPr txBox="true"/>
          <p:nvPr/>
        </p:nvSpPr>
        <p:spPr>
          <a:xfrm rot="0">
            <a:off x="1882226" y="601492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PROJECT DESCRIPTION</a:t>
            </a:r>
          </a:p>
        </p:txBody>
      </p:sp>
      <p:sp>
        <p:nvSpPr>
          <p:cNvPr name="TextBox 13" id="13"/>
          <p:cNvSpPr txBox="true"/>
          <p:nvPr/>
        </p:nvSpPr>
        <p:spPr>
          <a:xfrm rot="0">
            <a:off x="11630356" y="601492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ALGORITHMS</a:t>
            </a:r>
          </a:p>
        </p:txBody>
      </p:sp>
      <p:sp>
        <p:nvSpPr>
          <p:cNvPr name="TextBox 14" id="14"/>
          <p:cNvSpPr txBox="true"/>
          <p:nvPr/>
        </p:nvSpPr>
        <p:spPr>
          <a:xfrm rot="0">
            <a:off x="1882226" y="652863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04</a:t>
            </a:r>
          </a:p>
        </p:txBody>
      </p:sp>
      <p:sp>
        <p:nvSpPr>
          <p:cNvPr name="TextBox 15" id="15"/>
          <p:cNvSpPr txBox="true"/>
          <p:nvPr/>
        </p:nvSpPr>
        <p:spPr>
          <a:xfrm rot="0">
            <a:off x="11630356" y="652863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09</a:t>
            </a:r>
          </a:p>
        </p:txBody>
      </p:sp>
      <p:sp>
        <p:nvSpPr>
          <p:cNvPr name="TextBox 16" id="16"/>
          <p:cNvSpPr txBox="true"/>
          <p:nvPr/>
        </p:nvSpPr>
        <p:spPr>
          <a:xfrm rot="0">
            <a:off x="1882226" y="751606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TEAM WORKING AGREEMENT</a:t>
            </a:r>
          </a:p>
        </p:txBody>
      </p:sp>
      <p:sp>
        <p:nvSpPr>
          <p:cNvPr name="TextBox 17" id="17"/>
          <p:cNvSpPr txBox="true"/>
          <p:nvPr/>
        </p:nvSpPr>
        <p:spPr>
          <a:xfrm rot="0">
            <a:off x="11630356" y="7516061"/>
            <a:ext cx="6204700"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DIAGRAMS</a:t>
            </a:r>
          </a:p>
        </p:txBody>
      </p:sp>
      <p:sp>
        <p:nvSpPr>
          <p:cNvPr name="TextBox 18" id="18"/>
          <p:cNvSpPr txBox="true"/>
          <p:nvPr/>
        </p:nvSpPr>
        <p:spPr>
          <a:xfrm rot="0">
            <a:off x="1882226" y="802977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05</a:t>
            </a:r>
          </a:p>
        </p:txBody>
      </p:sp>
      <p:sp>
        <p:nvSpPr>
          <p:cNvPr name="TextBox 19" id="19"/>
          <p:cNvSpPr txBox="true"/>
          <p:nvPr/>
        </p:nvSpPr>
        <p:spPr>
          <a:xfrm rot="0">
            <a:off x="11630356" y="802977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10</a:t>
            </a:r>
          </a:p>
        </p:txBody>
      </p:sp>
      <p:sp>
        <p:nvSpPr>
          <p:cNvPr name="TextBox 20" id="20"/>
          <p:cNvSpPr txBox="true"/>
          <p:nvPr/>
        </p:nvSpPr>
        <p:spPr>
          <a:xfrm rot="0">
            <a:off x="1882226" y="901720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USER PERSONAS</a:t>
            </a:r>
          </a:p>
        </p:txBody>
      </p:sp>
      <p:sp>
        <p:nvSpPr>
          <p:cNvPr name="TextBox 21" id="21"/>
          <p:cNvSpPr txBox="true"/>
          <p:nvPr/>
        </p:nvSpPr>
        <p:spPr>
          <a:xfrm rot="0">
            <a:off x="11630356" y="901720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SPRINT 1 RECAP</a:t>
            </a:r>
          </a:p>
        </p:txBody>
      </p:sp>
      <p:sp>
        <p:nvSpPr>
          <p:cNvPr name="TextBox 22" id="22"/>
          <p:cNvSpPr txBox="true"/>
          <p:nvPr/>
        </p:nvSpPr>
        <p:spPr>
          <a:xfrm rot="0">
            <a:off x="2179210" y="923925"/>
            <a:ext cx="14523548" cy="741045"/>
          </a:xfrm>
          <a:prstGeom prst="rect">
            <a:avLst/>
          </a:prstGeom>
        </p:spPr>
        <p:txBody>
          <a:bodyPr anchor="t" rtlCol="false" tIns="0" lIns="0" bIns="0" rIns="0">
            <a:spAutoFit/>
          </a:bodyPr>
          <a:lstStyle/>
          <a:p>
            <a:pPr algn="ctr" marL="0" indent="0" lvl="0">
              <a:lnSpc>
                <a:spcPts val="5880"/>
              </a:lnSpc>
            </a:pPr>
            <a:r>
              <a:rPr lang="en-US" b="true" sz="4200" spc="210">
                <a:solidFill>
                  <a:srgbClr val="000000"/>
                </a:solidFill>
                <a:latin typeface="Helios Extended Bold"/>
                <a:ea typeface="Helios Extended Bold"/>
                <a:cs typeface="Helios Extended Bold"/>
                <a:sym typeface="Helios Extended Bold"/>
              </a:rPr>
              <a:t>AGENDA OVERVIEW</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882226" y="2026804"/>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11</a:t>
            </a:r>
          </a:p>
        </p:txBody>
      </p:sp>
      <p:sp>
        <p:nvSpPr>
          <p:cNvPr name="TextBox 3" id="3"/>
          <p:cNvSpPr txBox="true"/>
          <p:nvPr/>
        </p:nvSpPr>
        <p:spPr>
          <a:xfrm rot="0">
            <a:off x="11630356" y="2026804"/>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16</a:t>
            </a:r>
          </a:p>
        </p:txBody>
      </p:sp>
      <p:sp>
        <p:nvSpPr>
          <p:cNvPr name="TextBox 4" id="4"/>
          <p:cNvSpPr txBox="true"/>
          <p:nvPr/>
        </p:nvSpPr>
        <p:spPr>
          <a:xfrm rot="0">
            <a:off x="1882226" y="352635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12</a:t>
            </a:r>
          </a:p>
        </p:txBody>
      </p:sp>
      <p:sp>
        <p:nvSpPr>
          <p:cNvPr name="TextBox 5" id="5"/>
          <p:cNvSpPr txBox="true"/>
          <p:nvPr/>
        </p:nvSpPr>
        <p:spPr>
          <a:xfrm rot="0">
            <a:off x="11630356" y="352635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17</a:t>
            </a:r>
          </a:p>
        </p:txBody>
      </p:sp>
      <p:sp>
        <p:nvSpPr>
          <p:cNvPr name="TextBox 6" id="6"/>
          <p:cNvSpPr txBox="true"/>
          <p:nvPr/>
        </p:nvSpPr>
        <p:spPr>
          <a:xfrm rot="0">
            <a:off x="1882226" y="502749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13</a:t>
            </a:r>
          </a:p>
        </p:txBody>
      </p:sp>
      <p:sp>
        <p:nvSpPr>
          <p:cNvPr name="TextBox 7" id="7"/>
          <p:cNvSpPr txBox="true"/>
          <p:nvPr/>
        </p:nvSpPr>
        <p:spPr>
          <a:xfrm rot="0">
            <a:off x="11630356" y="502749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18</a:t>
            </a:r>
          </a:p>
        </p:txBody>
      </p:sp>
      <p:sp>
        <p:nvSpPr>
          <p:cNvPr name="TextBox 8" id="8"/>
          <p:cNvSpPr txBox="true"/>
          <p:nvPr/>
        </p:nvSpPr>
        <p:spPr>
          <a:xfrm rot="0">
            <a:off x="1882226" y="3014228"/>
            <a:ext cx="7558757"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PRODUCT BACKLOG</a:t>
            </a:r>
          </a:p>
        </p:txBody>
      </p:sp>
      <p:sp>
        <p:nvSpPr>
          <p:cNvPr name="TextBox 9" id="9"/>
          <p:cNvSpPr txBox="true"/>
          <p:nvPr/>
        </p:nvSpPr>
        <p:spPr>
          <a:xfrm rot="0">
            <a:off x="11630356" y="3014228"/>
            <a:ext cx="5151545"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PROJECT DEMO</a:t>
            </a:r>
          </a:p>
        </p:txBody>
      </p:sp>
      <p:sp>
        <p:nvSpPr>
          <p:cNvPr name="TextBox 10" id="10"/>
          <p:cNvSpPr txBox="true"/>
          <p:nvPr/>
        </p:nvSpPr>
        <p:spPr>
          <a:xfrm rot="0">
            <a:off x="1882226" y="4513781"/>
            <a:ext cx="7558757"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SPRINT 2 BACKLOG</a:t>
            </a:r>
          </a:p>
        </p:txBody>
      </p:sp>
      <p:sp>
        <p:nvSpPr>
          <p:cNvPr name="TextBox 11" id="11"/>
          <p:cNvSpPr txBox="true"/>
          <p:nvPr/>
        </p:nvSpPr>
        <p:spPr>
          <a:xfrm rot="0">
            <a:off x="11630356" y="451378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OUR GITHUB</a:t>
            </a:r>
          </a:p>
        </p:txBody>
      </p:sp>
      <p:sp>
        <p:nvSpPr>
          <p:cNvPr name="TextBox 12" id="12"/>
          <p:cNvSpPr txBox="true"/>
          <p:nvPr/>
        </p:nvSpPr>
        <p:spPr>
          <a:xfrm rot="0">
            <a:off x="1882226" y="601492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METRICS</a:t>
            </a:r>
          </a:p>
        </p:txBody>
      </p:sp>
      <p:sp>
        <p:nvSpPr>
          <p:cNvPr name="TextBox 13" id="13"/>
          <p:cNvSpPr txBox="true"/>
          <p:nvPr/>
        </p:nvSpPr>
        <p:spPr>
          <a:xfrm rot="0">
            <a:off x="11630356" y="601492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LIVE APP DEMO</a:t>
            </a:r>
          </a:p>
        </p:txBody>
      </p:sp>
      <p:sp>
        <p:nvSpPr>
          <p:cNvPr name="TextBox 14" id="14"/>
          <p:cNvSpPr txBox="true"/>
          <p:nvPr/>
        </p:nvSpPr>
        <p:spPr>
          <a:xfrm rot="0">
            <a:off x="1882226" y="652863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14</a:t>
            </a:r>
          </a:p>
        </p:txBody>
      </p:sp>
      <p:sp>
        <p:nvSpPr>
          <p:cNvPr name="TextBox 15" id="15"/>
          <p:cNvSpPr txBox="true"/>
          <p:nvPr/>
        </p:nvSpPr>
        <p:spPr>
          <a:xfrm rot="0">
            <a:off x="11630356" y="652863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19</a:t>
            </a:r>
          </a:p>
        </p:txBody>
      </p:sp>
      <p:sp>
        <p:nvSpPr>
          <p:cNvPr name="TextBox 16" id="16"/>
          <p:cNvSpPr txBox="true"/>
          <p:nvPr/>
        </p:nvSpPr>
        <p:spPr>
          <a:xfrm rot="0">
            <a:off x="1882226" y="751606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RETROSPECTIVE</a:t>
            </a:r>
          </a:p>
        </p:txBody>
      </p:sp>
      <p:sp>
        <p:nvSpPr>
          <p:cNvPr name="TextBox 17" id="17"/>
          <p:cNvSpPr txBox="true"/>
          <p:nvPr/>
        </p:nvSpPr>
        <p:spPr>
          <a:xfrm rot="0">
            <a:off x="11630356" y="7516061"/>
            <a:ext cx="6204700"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WIKI PAGE</a:t>
            </a:r>
          </a:p>
        </p:txBody>
      </p:sp>
      <p:sp>
        <p:nvSpPr>
          <p:cNvPr name="TextBox 18" id="18"/>
          <p:cNvSpPr txBox="true"/>
          <p:nvPr/>
        </p:nvSpPr>
        <p:spPr>
          <a:xfrm rot="0">
            <a:off x="1882226" y="802977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15</a:t>
            </a:r>
          </a:p>
        </p:txBody>
      </p:sp>
      <p:sp>
        <p:nvSpPr>
          <p:cNvPr name="TextBox 19" id="19"/>
          <p:cNvSpPr txBox="true"/>
          <p:nvPr/>
        </p:nvSpPr>
        <p:spPr>
          <a:xfrm rot="0">
            <a:off x="11630356" y="802977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20</a:t>
            </a:r>
          </a:p>
        </p:txBody>
      </p:sp>
      <p:sp>
        <p:nvSpPr>
          <p:cNvPr name="TextBox 20" id="20"/>
          <p:cNvSpPr txBox="true"/>
          <p:nvPr/>
        </p:nvSpPr>
        <p:spPr>
          <a:xfrm rot="0">
            <a:off x="1882226" y="901720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SPRINT 3 PLANNING</a:t>
            </a:r>
          </a:p>
        </p:txBody>
      </p:sp>
      <p:sp>
        <p:nvSpPr>
          <p:cNvPr name="TextBox 21" id="21"/>
          <p:cNvSpPr txBox="true"/>
          <p:nvPr/>
        </p:nvSpPr>
        <p:spPr>
          <a:xfrm rot="0">
            <a:off x="11630356" y="901720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TEAM NEXUS</a:t>
            </a:r>
          </a:p>
        </p:txBody>
      </p:sp>
      <p:sp>
        <p:nvSpPr>
          <p:cNvPr name="TextBox 22" id="22"/>
          <p:cNvSpPr txBox="true"/>
          <p:nvPr/>
        </p:nvSpPr>
        <p:spPr>
          <a:xfrm rot="0">
            <a:off x="1882226" y="923925"/>
            <a:ext cx="14523548" cy="741045"/>
          </a:xfrm>
          <a:prstGeom prst="rect">
            <a:avLst/>
          </a:prstGeom>
        </p:spPr>
        <p:txBody>
          <a:bodyPr anchor="t" rtlCol="false" tIns="0" lIns="0" bIns="0" rIns="0">
            <a:spAutoFit/>
          </a:bodyPr>
          <a:lstStyle/>
          <a:p>
            <a:pPr algn="ctr" marL="0" indent="0" lvl="0">
              <a:lnSpc>
                <a:spcPts val="5880"/>
              </a:lnSpc>
            </a:pPr>
            <a:r>
              <a:rPr lang="en-US" b="true" sz="4200" spc="210">
                <a:solidFill>
                  <a:srgbClr val="000000"/>
                </a:solidFill>
                <a:latin typeface="Helios Extended Bold"/>
                <a:ea typeface="Helios Extended Bold"/>
                <a:cs typeface="Helios Extended Bold"/>
                <a:sym typeface="Helios Extended Bold"/>
              </a:rPr>
              <a:t>AGENDA OVERVIEW CONTD.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937834" y="1947816"/>
            <a:ext cx="13352049" cy="7634140"/>
            <a:chOff x="0" y="0"/>
            <a:chExt cx="710790" cy="406400"/>
          </a:xfrm>
        </p:grpSpPr>
        <p:sp>
          <p:nvSpPr>
            <p:cNvPr name="Freeform 3" id="3"/>
            <p:cNvSpPr/>
            <p:nvPr/>
          </p:nvSpPr>
          <p:spPr>
            <a:xfrm flipH="false" flipV="false" rot="0">
              <a:off x="0" y="0"/>
              <a:ext cx="710790" cy="406400"/>
            </a:xfrm>
            <a:custGeom>
              <a:avLst/>
              <a:gdLst/>
              <a:ahLst/>
              <a:cxnLst/>
              <a:rect r="r" b="b" t="t" l="l"/>
              <a:pathLst>
                <a:path h="406400" w="710790">
                  <a:moveTo>
                    <a:pt x="507590" y="0"/>
                  </a:moveTo>
                  <a:cubicBezTo>
                    <a:pt x="619815" y="0"/>
                    <a:pt x="710790" y="90976"/>
                    <a:pt x="710790" y="203200"/>
                  </a:cubicBezTo>
                  <a:cubicBezTo>
                    <a:pt x="710790" y="315424"/>
                    <a:pt x="619815" y="406400"/>
                    <a:pt x="507590" y="406400"/>
                  </a:cubicBezTo>
                  <a:lnTo>
                    <a:pt x="203200" y="406400"/>
                  </a:lnTo>
                  <a:cubicBezTo>
                    <a:pt x="90976" y="406400"/>
                    <a:pt x="0" y="315424"/>
                    <a:pt x="0" y="203200"/>
                  </a:cubicBezTo>
                  <a:cubicBezTo>
                    <a:pt x="0" y="90976"/>
                    <a:pt x="90976" y="0"/>
                    <a:pt x="203200" y="0"/>
                  </a:cubicBezTo>
                  <a:close/>
                </a:path>
              </a:pathLst>
            </a:custGeom>
            <a:solidFill>
              <a:srgbClr val="F2F1F1">
                <a:alpha val="80000"/>
              </a:srgbClr>
            </a:solidFill>
          </p:spPr>
        </p:sp>
        <p:sp>
          <p:nvSpPr>
            <p:cNvPr name="TextBox 4" id="4"/>
            <p:cNvSpPr txBox="true"/>
            <p:nvPr/>
          </p:nvSpPr>
          <p:spPr>
            <a:xfrm>
              <a:off x="0" y="-47625"/>
              <a:ext cx="710790" cy="454025"/>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906309" y="2822891"/>
            <a:ext cx="2561144" cy="2263492"/>
            <a:chOff x="0" y="0"/>
            <a:chExt cx="516362" cy="456352"/>
          </a:xfrm>
        </p:grpSpPr>
        <p:sp>
          <p:nvSpPr>
            <p:cNvPr name="Freeform 6" id="6"/>
            <p:cNvSpPr/>
            <p:nvPr/>
          </p:nvSpPr>
          <p:spPr>
            <a:xfrm flipH="false" flipV="false" rot="0">
              <a:off x="0" y="0"/>
              <a:ext cx="516362" cy="456352"/>
            </a:xfrm>
            <a:custGeom>
              <a:avLst/>
              <a:gdLst/>
              <a:ahLst/>
              <a:cxnLst/>
              <a:rect r="r" b="b" t="t" l="l"/>
              <a:pathLst>
                <a:path h="456352" w="516362">
                  <a:moveTo>
                    <a:pt x="0" y="0"/>
                  </a:moveTo>
                  <a:lnTo>
                    <a:pt x="516362" y="0"/>
                  </a:lnTo>
                  <a:lnTo>
                    <a:pt x="516362" y="456352"/>
                  </a:lnTo>
                  <a:lnTo>
                    <a:pt x="0" y="456352"/>
                  </a:lnTo>
                  <a:close/>
                </a:path>
              </a:pathLst>
            </a:custGeom>
            <a:blipFill>
              <a:blip r:embed="rId3"/>
              <a:stretch>
                <a:fillRect l="0" t="-26711" r="0" b="-26711"/>
              </a:stretch>
            </a:blipFill>
          </p:spPr>
        </p:sp>
      </p:grpSp>
      <p:grpSp>
        <p:nvGrpSpPr>
          <p:cNvPr name="Group 7" id="7"/>
          <p:cNvGrpSpPr/>
          <p:nvPr/>
        </p:nvGrpSpPr>
        <p:grpSpPr>
          <a:xfrm rot="0">
            <a:off x="4482036" y="2822891"/>
            <a:ext cx="2561144" cy="2263492"/>
            <a:chOff x="0" y="0"/>
            <a:chExt cx="516362" cy="456352"/>
          </a:xfrm>
        </p:grpSpPr>
        <p:sp>
          <p:nvSpPr>
            <p:cNvPr name="Freeform 8" id="8"/>
            <p:cNvSpPr/>
            <p:nvPr/>
          </p:nvSpPr>
          <p:spPr>
            <a:xfrm flipH="false" flipV="false" rot="0">
              <a:off x="0" y="0"/>
              <a:ext cx="516362" cy="456352"/>
            </a:xfrm>
            <a:custGeom>
              <a:avLst/>
              <a:gdLst/>
              <a:ahLst/>
              <a:cxnLst/>
              <a:rect r="r" b="b" t="t" l="l"/>
              <a:pathLst>
                <a:path h="456352" w="516362">
                  <a:moveTo>
                    <a:pt x="0" y="0"/>
                  </a:moveTo>
                  <a:lnTo>
                    <a:pt x="516362" y="0"/>
                  </a:lnTo>
                  <a:lnTo>
                    <a:pt x="516362" y="456352"/>
                  </a:lnTo>
                  <a:lnTo>
                    <a:pt x="0" y="456352"/>
                  </a:lnTo>
                  <a:close/>
                </a:path>
              </a:pathLst>
            </a:custGeom>
            <a:blipFill>
              <a:blip r:embed="rId4"/>
              <a:stretch>
                <a:fillRect l="0" t="-51041" r="0" b="-8"/>
              </a:stretch>
            </a:blipFill>
          </p:spPr>
        </p:sp>
      </p:grpSp>
      <p:grpSp>
        <p:nvGrpSpPr>
          <p:cNvPr name="Group 9" id="9"/>
          <p:cNvGrpSpPr/>
          <p:nvPr/>
        </p:nvGrpSpPr>
        <p:grpSpPr>
          <a:xfrm rot="0">
            <a:off x="8062362" y="2822891"/>
            <a:ext cx="2561144" cy="2263492"/>
            <a:chOff x="0" y="0"/>
            <a:chExt cx="516362" cy="456352"/>
          </a:xfrm>
        </p:grpSpPr>
        <p:sp>
          <p:nvSpPr>
            <p:cNvPr name="Freeform 10" id="10"/>
            <p:cNvSpPr/>
            <p:nvPr/>
          </p:nvSpPr>
          <p:spPr>
            <a:xfrm flipH="false" flipV="false" rot="0">
              <a:off x="0" y="0"/>
              <a:ext cx="516362" cy="456352"/>
            </a:xfrm>
            <a:custGeom>
              <a:avLst/>
              <a:gdLst/>
              <a:ahLst/>
              <a:cxnLst/>
              <a:rect r="r" b="b" t="t" l="l"/>
              <a:pathLst>
                <a:path h="456352" w="516362">
                  <a:moveTo>
                    <a:pt x="0" y="0"/>
                  </a:moveTo>
                  <a:lnTo>
                    <a:pt x="516362" y="0"/>
                  </a:lnTo>
                  <a:lnTo>
                    <a:pt x="516362" y="456352"/>
                  </a:lnTo>
                  <a:lnTo>
                    <a:pt x="0" y="456352"/>
                  </a:lnTo>
                  <a:close/>
                </a:path>
              </a:pathLst>
            </a:custGeom>
            <a:blipFill>
              <a:blip r:embed="rId5"/>
              <a:stretch>
                <a:fillRect l="0" t="-8531" r="0" b="-46662"/>
              </a:stretch>
            </a:blipFill>
          </p:spPr>
        </p:sp>
      </p:grpSp>
      <p:grpSp>
        <p:nvGrpSpPr>
          <p:cNvPr name="Group 11" id="11"/>
          <p:cNvGrpSpPr/>
          <p:nvPr/>
        </p:nvGrpSpPr>
        <p:grpSpPr>
          <a:xfrm rot="0">
            <a:off x="906309" y="6454378"/>
            <a:ext cx="2561144" cy="2263492"/>
            <a:chOff x="0" y="0"/>
            <a:chExt cx="516362" cy="456352"/>
          </a:xfrm>
        </p:grpSpPr>
        <p:sp>
          <p:nvSpPr>
            <p:cNvPr name="Freeform 12" id="12"/>
            <p:cNvSpPr/>
            <p:nvPr/>
          </p:nvSpPr>
          <p:spPr>
            <a:xfrm flipH="false" flipV="false" rot="0">
              <a:off x="0" y="0"/>
              <a:ext cx="516362" cy="456352"/>
            </a:xfrm>
            <a:custGeom>
              <a:avLst/>
              <a:gdLst/>
              <a:ahLst/>
              <a:cxnLst/>
              <a:rect r="r" b="b" t="t" l="l"/>
              <a:pathLst>
                <a:path h="456352" w="516362">
                  <a:moveTo>
                    <a:pt x="0" y="0"/>
                  </a:moveTo>
                  <a:lnTo>
                    <a:pt x="516362" y="0"/>
                  </a:lnTo>
                  <a:lnTo>
                    <a:pt x="516362" y="456352"/>
                  </a:lnTo>
                  <a:lnTo>
                    <a:pt x="0" y="456352"/>
                  </a:lnTo>
                  <a:close/>
                </a:path>
              </a:pathLst>
            </a:custGeom>
            <a:blipFill>
              <a:blip r:embed="rId6"/>
              <a:stretch>
                <a:fillRect l="0" t="-16482" r="0" b="-53552"/>
              </a:stretch>
            </a:blipFill>
          </p:spPr>
        </p:sp>
      </p:grpSp>
      <p:grpSp>
        <p:nvGrpSpPr>
          <p:cNvPr name="Group 13" id="13"/>
          <p:cNvGrpSpPr/>
          <p:nvPr/>
        </p:nvGrpSpPr>
        <p:grpSpPr>
          <a:xfrm rot="0">
            <a:off x="4482036" y="6454378"/>
            <a:ext cx="2561144" cy="2263492"/>
            <a:chOff x="0" y="0"/>
            <a:chExt cx="516362" cy="456352"/>
          </a:xfrm>
        </p:grpSpPr>
        <p:sp>
          <p:nvSpPr>
            <p:cNvPr name="Freeform 14" id="14"/>
            <p:cNvSpPr/>
            <p:nvPr/>
          </p:nvSpPr>
          <p:spPr>
            <a:xfrm flipH="false" flipV="false" rot="0">
              <a:off x="0" y="0"/>
              <a:ext cx="516362" cy="456352"/>
            </a:xfrm>
            <a:custGeom>
              <a:avLst/>
              <a:gdLst/>
              <a:ahLst/>
              <a:cxnLst/>
              <a:rect r="r" b="b" t="t" l="l"/>
              <a:pathLst>
                <a:path h="456352" w="516362">
                  <a:moveTo>
                    <a:pt x="0" y="0"/>
                  </a:moveTo>
                  <a:lnTo>
                    <a:pt x="516362" y="0"/>
                  </a:lnTo>
                  <a:lnTo>
                    <a:pt x="516362" y="456352"/>
                  </a:lnTo>
                  <a:lnTo>
                    <a:pt x="0" y="456352"/>
                  </a:lnTo>
                  <a:close/>
                </a:path>
              </a:pathLst>
            </a:custGeom>
            <a:blipFill>
              <a:blip r:embed="rId7"/>
              <a:stretch>
                <a:fillRect l="-113171" t="-182233" r="-81142" b="-162328"/>
              </a:stretch>
            </a:blipFill>
          </p:spPr>
        </p:sp>
      </p:grpSp>
      <p:grpSp>
        <p:nvGrpSpPr>
          <p:cNvPr name="Group 15" id="15"/>
          <p:cNvGrpSpPr/>
          <p:nvPr/>
        </p:nvGrpSpPr>
        <p:grpSpPr>
          <a:xfrm rot="0">
            <a:off x="8062362" y="6454378"/>
            <a:ext cx="2561144" cy="2263492"/>
            <a:chOff x="0" y="0"/>
            <a:chExt cx="516362" cy="456352"/>
          </a:xfrm>
        </p:grpSpPr>
        <p:sp>
          <p:nvSpPr>
            <p:cNvPr name="Freeform 16" id="16"/>
            <p:cNvSpPr/>
            <p:nvPr/>
          </p:nvSpPr>
          <p:spPr>
            <a:xfrm flipH="false" flipV="false" rot="0">
              <a:off x="0" y="0"/>
              <a:ext cx="516362" cy="456352"/>
            </a:xfrm>
            <a:custGeom>
              <a:avLst/>
              <a:gdLst/>
              <a:ahLst/>
              <a:cxnLst/>
              <a:rect r="r" b="b" t="t" l="l"/>
              <a:pathLst>
                <a:path h="456352" w="516362">
                  <a:moveTo>
                    <a:pt x="0" y="0"/>
                  </a:moveTo>
                  <a:lnTo>
                    <a:pt x="516362" y="0"/>
                  </a:lnTo>
                  <a:lnTo>
                    <a:pt x="516362" y="456352"/>
                  </a:lnTo>
                  <a:lnTo>
                    <a:pt x="0" y="456352"/>
                  </a:lnTo>
                  <a:close/>
                </a:path>
              </a:pathLst>
            </a:custGeom>
            <a:blipFill>
              <a:blip r:embed="rId8"/>
              <a:stretch>
                <a:fillRect l="0" t="-5302" r="0" b="-5302"/>
              </a:stretch>
            </a:blipFill>
          </p:spPr>
        </p:sp>
      </p:grpSp>
      <p:sp>
        <p:nvSpPr>
          <p:cNvPr name="TextBox 17" id="17"/>
          <p:cNvSpPr txBox="true"/>
          <p:nvPr/>
        </p:nvSpPr>
        <p:spPr>
          <a:xfrm rot="0">
            <a:off x="591981" y="8860745"/>
            <a:ext cx="3189800" cy="356235"/>
          </a:xfrm>
          <a:prstGeom prst="rect">
            <a:avLst/>
          </a:prstGeom>
        </p:spPr>
        <p:txBody>
          <a:bodyPr anchor="t" rtlCol="false" tIns="0" lIns="0" bIns="0" rIns="0">
            <a:spAutoFit/>
          </a:bodyPr>
          <a:lstStyle/>
          <a:p>
            <a:pPr algn="ctr" marL="0" indent="0" lvl="0">
              <a:lnSpc>
                <a:spcPts val="2940"/>
              </a:lnSpc>
            </a:pPr>
            <a:r>
              <a:rPr lang="en-US" b="true" sz="2100" spc="210">
                <a:solidFill>
                  <a:srgbClr val="264653"/>
                </a:solidFill>
                <a:latin typeface="Heebo Bold"/>
                <a:ea typeface="Heebo Bold"/>
                <a:cs typeface="Heebo Bold"/>
                <a:sym typeface="Heebo Bold"/>
              </a:rPr>
              <a:t>VANESSA AGBUGBA</a:t>
            </a:r>
          </a:p>
        </p:txBody>
      </p:sp>
      <p:sp>
        <p:nvSpPr>
          <p:cNvPr name="TextBox 18" id="18"/>
          <p:cNvSpPr txBox="true"/>
          <p:nvPr/>
        </p:nvSpPr>
        <p:spPr>
          <a:xfrm rot="0">
            <a:off x="4167708" y="8860745"/>
            <a:ext cx="3189800" cy="356235"/>
          </a:xfrm>
          <a:prstGeom prst="rect">
            <a:avLst/>
          </a:prstGeom>
        </p:spPr>
        <p:txBody>
          <a:bodyPr anchor="t" rtlCol="false" tIns="0" lIns="0" bIns="0" rIns="0">
            <a:spAutoFit/>
          </a:bodyPr>
          <a:lstStyle/>
          <a:p>
            <a:pPr algn="ctr" marL="0" indent="0" lvl="0">
              <a:lnSpc>
                <a:spcPts val="2940"/>
              </a:lnSpc>
            </a:pPr>
            <a:r>
              <a:rPr lang="en-US" b="true" sz="2100" spc="210">
                <a:solidFill>
                  <a:srgbClr val="264653"/>
                </a:solidFill>
                <a:latin typeface="Heebo Bold"/>
                <a:ea typeface="Heebo Bold"/>
                <a:cs typeface="Heebo Bold"/>
                <a:sym typeface="Heebo Bold"/>
              </a:rPr>
              <a:t>SANKET MATROJA</a:t>
            </a:r>
          </a:p>
        </p:txBody>
      </p:sp>
      <p:sp>
        <p:nvSpPr>
          <p:cNvPr name="TextBox 19" id="19"/>
          <p:cNvSpPr txBox="true"/>
          <p:nvPr/>
        </p:nvSpPr>
        <p:spPr>
          <a:xfrm rot="0">
            <a:off x="591981" y="9197781"/>
            <a:ext cx="3189800" cy="384175"/>
          </a:xfrm>
          <a:prstGeom prst="rect">
            <a:avLst/>
          </a:prstGeom>
        </p:spPr>
        <p:txBody>
          <a:bodyPr anchor="t" rtlCol="false" tIns="0" lIns="0" bIns="0" rIns="0">
            <a:spAutoFit/>
          </a:bodyPr>
          <a:lstStyle/>
          <a:p>
            <a:pPr algn="ctr" marL="0" indent="0" lvl="0">
              <a:lnSpc>
                <a:spcPts val="3200"/>
              </a:lnSpc>
            </a:pPr>
            <a:r>
              <a:rPr lang="en-US" sz="2000" spc="200">
                <a:solidFill>
                  <a:srgbClr val="000000"/>
                </a:solidFill>
                <a:latin typeface="Lato"/>
                <a:ea typeface="Lato"/>
                <a:cs typeface="Lato"/>
                <a:sym typeface="Lato"/>
              </a:rPr>
              <a:t>Front End Developer</a:t>
            </a:r>
          </a:p>
        </p:txBody>
      </p:sp>
      <p:sp>
        <p:nvSpPr>
          <p:cNvPr name="TextBox 20" id="20"/>
          <p:cNvSpPr txBox="true"/>
          <p:nvPr/>
        </p:nvSpPr>
        <p:spPr>
          <a:xfrm rot="0">
            <a:off x="4167708" y="9197781"/>
            <a:ext cx="3189800" cy="384175"/>
          </a:xfrm>
          <a:prstGeom prst="rect">
            <a:avLst/>
          </a:prstGeom>
        </p:spPr>
        <p:txBody>
          <a:bodyPr anchor="t" rtlCol="false" tIns="0" lIns="0" bIns="0" rIns="0">
            <a:spAutoFit/>
          </a:bodyPr>
          <a:lstStyle/>
          <a:p>
            <a:pPr algn="ctr" marL="0" indent="0" lvl="0">
              <a:lnSpc>
                <a:spcPts val="3200"/>
              </a:lnSpc>
            </a:pPr>
            <a:r>
              <a:rPr lang="en-US" sz="2000" spc="200">
                <a:solidFill>
                  <a:srgbClr val="000000"/>
                </a:solidFill>
                <a:latin typeface="Lato"/>
                <a:ea typeface="Lato"/>
                <a:cs typeface="Lato"/>
                <a:sym typeface="Lato"/>
              </a:rPr>
              <a:t>AI Generalist</a:t>
            </a:r>
          </a:p>
        </p:txBody>
      </p:sp>
      <p:sp>
        <p:nvSpPr>
          <p:cNvPr name="TextBox 21" id="21"/>
          <p:cNvSpPr txBox="true"/>
          <p:nvPr/>
        </p:nvSpPr>
        <p:spPr>
          <a:xfrm rot="0">
            <a:off x="7748033" y="8860745"/>
            <a:ext cx="3189800" cy="356235"/>
          </a:xfrm>
          <a:prstGeom prst="rect">
            <a:avLst/>
          </a:prstGeom>
        </p:spPr>
        <p:txBody>
          <a:bodyPr anchor="t" rtlCol="false" tIns="0" lIns="0" bIns="0" rIns="0">
            <a:spAutoFit/>
          </a:bodyPr>
          <a:lstStyle/>
          <a:p>
            <a:pPr algn="ctr" marL="0" indent="0" lvl="0">
              <a:lnSpc>
                <a:spcPts val="2940"/>
              </a:lnSpc>
            </a:pPr>
            <a:r>
              <a:rPr lang="en-US" b="true" sz="2100" spc="210">
                <a:solidFill>
                  <a:srgbClr val="264653"/>
                </a:solidFill>
                <a:latin typeface="Heebo Bold"/>
                <a:ea typeface="Heebo Bold"/>
                <a:cs typeface="Heebo Bold"/>
                <a:sym typeface="Heebo Bold"/>
              </a:rPr>
              <a:t>SAI</a:t>
            </a:r>
          </a:p>
        </p:txBody>
      </p:sp>
      <p:sp>
        <p:nvSpPr>
          <p:cNvPr name="TextBox 22" id="22"/>
          <p:cNvSpPr txBox="true"/>
          <p:nvPr/>
        </p:nvSpPr>
        <p:spPr>
          <a:xfrm rot="0">
            <a:off x="7748033" y="9197781"/>
            <a:ext cx="3189800" cy="384175"/>
          </a:xfrm>
          <a:prstGeom prst="rect">
            <a:avLst/>
          </a:prstGeom>
        </p:spPr>
        <p:txBody>
          <a:bodyPr anchor="t" rtlCol="false" tIns="0" lIns="0" bIns="0" rIns="0">
            <a:spAutoFit/>
          </a:bodyPr>
          <a:lstStyle/>
          <a:p>
            <a:pPr algn="ctr" marL="0" indent="0" lvl="0">
              <a:lnSpc>
                <a:spcPts val="3200"/>
              </a:lnSpc>
            </a:pPr>
            <a:r>
              <a:rPr lang="en-US" sz="2000" spc="200">
                <a:solidFill>
                  <a:srgbClr val="000000"/>
                </a:solidFill>
                <a:latin typeface="Lato"/>
                <a:ea typeface="Lato"/>
                <a:cs typeface="Lato"/>
                <a:sym typeface="Lato"/>
              </a:rPr>
              <a:t>Developer</a:t>
            </a:r>
          </a:p>
        </p:txBody>
      </p:sp>
      <p:sp>
        <p:nvSpPr>
          <p:cNvPr name="TextBox 23" id="23"/>
          <p:cNvSpPr txBox="true"/>
          <p:nvPr/>
        </p:nvSpPr>
        <p:spPr>
          <a:xfrm rot="0">
            <a:off x="591981" y="5228578"/>
            <a:ext cx="3189800" cy="356235"/>
          </a:xfrm>
          <a:prstGeom prst="rect">
            <a:avLst/>
          </a:prstGeom>
        </p:spPr>
        <p:txBody>
          <a:bodyPr anchor="t" rtlCol="false" tIns="0" lIns="0" bIns="0" rIns="0">
            <a:spAutoFit/>
          </a:bodyPr>
          <a:lstStyle/>
          <a:p>
            <a:pPr algn="ctr" marL="0" indent="0" lvl="0">
              <a:lnSpc>
                <a:spcPts val="2940"/>
              </a:lnSpc>
            </a:pPr>
            <a:r>
              <a:rPr lang="en-US" b="true" sz="2100" spc="210">
                <a:solidFill>
                  <a:srgbClr val="264653"/>
                </a:solidFill>
                <a:latin typeface="Heebo Bold"/>
                <a:ea typeface="Heebo Bold"/>
                <a:cs typeface="Heebo Bold"/>
                <a:sym typeface="Heebo Bold"/>
              </a:rPr>
              <a:t>KRISHNA </a:t>
            </a:r>
          </a:p>
        </p:txBody>
      </p:sp>
      <p:sp>
        <p:nvSpPr>
          <p:cNvPr name="TextBox 24" id="24"/>
          <p:cNvSpPr txBox="true"/>
          <p:nvPr/>
        </p:nvSpPr>
        <p:spPr>
          <a:xfrm rot="0">
            <a:off x="4167708" y="5228578"/>
            <a:ext cx="3189800" cy="356235"/>
          </a:xfrm>
          <a:prstGeom prst="rect">
            <a:avLst/>
          </a:prstGeom>
        </p:spPr>
        <p:txBody>
          <a:bodyPr anchor="t" rtlCol="false" tIns="0" lIns="0" bIns="0" rIns="0">
            <a:spAutoFit/>
          </a:bodyPr>
          <a:lstStyle/>
          <a:p>
            <a:pPr algn="ctr" marL="0" indent="0" lvl="0">
              <a:lnSpc>
                <a:spcPts val="2940"/>
              </a:lnSpc>
            </a:pPr>
            <a:r>
              <a:rPr lang="en-US" b="true" sz="2100" spc="210">
                <a:solidFill>
                  <a:srgbClr val="264653"/>
                </a:solidFill>
                <a:latin typeface="Heebo Bold"/>
                <a:ea typeface="Heebo Bold"/>
                <a:cs typeface="Heebo Bold"/>
                <a:sym typeface="Heebo Bold"/>
              </a:rPr>
              <a:t>CHINTAN KOTADIYA </a:t>
            </a:r>
          </a:p>
        </p:txBody>
      </p:sp>
      <p:sp>
        <p:nvSpPr>
          <p:cNvPr name="TextBox 25" id="25"/>
          <p:cNvSpPr txBox="true"/>
          <p:nvPr/>
        </p:nvSpPr>
        <p:spPr>
          <a:xfrm rot="0">
            <a:off x="591981" y="5498939"/>
            <a:ext cx="3189800" cy="784225"/>
          </a:xfrm>
          <a:prstGeom prst="rect">
            <a:avLst/>
          </a:prstGeom>
        </p:spPr>
        <p:txBody>
          <a:bodyPr anchor="t" rtlCol="false" tIns="0" lIns="0" bIns="0" rIns="0">
            <a:spAutoFit/>
          </a:bodyPr>
          <a:lstStyle/>
          <a:p>
            <a:pPr algn="ctr" marL="0" indent="0" lvl="0">
              <a:lnSpc>
                <a:spcPts val="3200"/>
              </a:lnSpc>
            </a:pPr>
            <a:r>
              <a:rPr lang="en-US" sz="2000" spc="200">
                <a:solidFill>
                  <a:srgbClr val="000000"/>
                </a:solidFill>
                <a:latin typeface="Lato"/>
                <a:ea typeface="Lato"/>
                <a:cs typeface="Lato"/>
                <a:sym typeface="Lato"/>
              </a:rPr>
              <a:t>Scrum Master | Developer</a:t>
            </a:r>
          </a:p>
        </p:txBody>
      </p:sp>
      <p:sp>
        <p:nvSpPr>
          <p:cNvPr name="TextBox 26" id="26"/>
          <p:cNvSpPr txBox="true"/>
          <p:nvPr/>
        </p:nvSpPr>
        <p:spPr>
          <a:xfrm rot="0">
            <a:off x="4167708" y="5498939"/>
            <a:ext cx="3189800" cy="384175"/>
          </a:xfrm>
          <a:prstGeom prst="rect">
            <a:avLst/>
          </a:prstGeom>
        </p:spPr>
        <p:txBody>
          <a:bodyPr anchor="t" rtlCol="false" tIns="0" lIns="0" bIns="0" rIns="0">
            <a:spAutoFit/>
          </a:bodyPr>
          <a:lstStyle/>
          <a:p>
            <a:pPr algn="ctr" marL="0" indent="0" lvl="0">
              <a:lnSpc>
                <a:spcPts val="3200"/>
              </a:lnSpc>
            </a:pPr>
            <a:r>
              <a:rPr lang="en-US" sz="2000" spc="200">
                <a:solidFill>
                  <a:srgbClr val="000000"/>
                </a:solidFill>
                <a:latin typeface="Lato"/>
                <a:ea typeface="Lato"/>
                <a:cs typeface="Lato"/>
                <a:sym typeface="Lato"/>
              </a:rPr>
              <a:t>Developer  | Tester</a:t>
            </a:r>
          </a:p>
        </p:txBody>
      </p:sp>
      <p:sp>
        <p:nvSpPr>
          <p:cNvPr name="TextBox 27" id="27"/>
          <p:cNvSpPr txBox="true"/>
          <p:nvPr/>
        </p:nvSpPr>
        <p:spPr>
          <a:xfrm rot="0">
            <a:off x="7748033" y="5228578"/>
            <a:ext cx="3189800" cy="356235"/>
          </a:xfrm>
          <a:prstGeom prst="rect">
            <a:avLst/>
          </a:prstGeom>
        </p:spPr>
        <p:txBody>
          <a:bodyPr anchor="t" rtlCol="false" tIns="0" lIns="0" bIns="0" rIns="0">
            <a:spAutoFit/>
          </a:bodyPr>
          <a:lstStyle/>
          <a:p>
            <a:pPr algn="ctr" marL="0" indent="0" lvl="0">
              <a:lnSpc>
                <a:spcPts val="2940"/>
              </a:lnSpc>
            </a:pPr>
            <a:r>
              <a:rPr lang="en-US" b="true" sz="2100" spc="210">
                <a:solidFill>
                  <a:srgbClr val="264653"/>
                </a:solidFill>
                <a:latin typeface="Heebo Bold"/>
                <a:ea typeface="Heebo Bold"/>
                <a:cs typeface="Heebo Bold"/>
                <a:sym typeface="Heebo Bold"/>
              </a:rPr>
              <a:t>RAFAELA HOLLANDA</a:t>
            </a:r>
          </a:p>
        </p:txBody>
      </p:sp>
      <p:sp>
        <p:nvSpPr>
          <p:cNvPr name="TextBox 28" id="28"/>
          <p:cNvSpPr txBox="true"/>
          <p:nvPr/>
        </p:nvSpPr>
        <p:spPr>
          <a:xfrm rot="0">
            <a:off x="7748033" y="5498939"/>
            <a:ext cx="3189800" cy="784225"/>
          </a:xfrm>
          <a:prstGeom prst="rect">
            <a:avLst/>
          </a:prstGeom>
        </p:spPr>
        <p:txBody>
          <a:bodyPr anchor="t" rtlCol="false" tIns="0" lIns="0" bIns="0" rIns="0">
            <a:spAutoFit/>
          </a:bodyPr>
          <a:lstStyle/>
          <a:p>
            <a:pPr algn="ctr" marL="0" indent="0" lvl="0">
              <a:lnSpc>
                <a:spcPts val="3200"/>
              </a:lnSpc>
            </a:pPr>
            <a:r>
              <a:rPr lang="en-US" sz="2000" spc="200">
                <a:solidFill>
                  <a:srgbClr val="000000"/>
                </a:solidFill>
                <a:latin typeface="Lato"/>
                <a:ea typeface="Lato"/>
                <a:cs typeface="Lato"/>
                <a:sym typeface="Lato"/>
              </a:rPr>
              <a:t>Team Leader | Developer</a:t>
            </a:r>
          </a:p>
        </p:txBody>
      </p:sp>
      <p:sp>
        <p:nvSpPr>
          <p:cNvPr name="TextBox 29" id="29"/>
          <p:cNvSpPr txBox="true"/>
          <p:nvPr/>
        </p:nvSpPr>
        <p:spPr>
          <a:xfrm rot="0">
            <a:off x="11328359" y="4730589"/>
            <a:ext cx="6410123" cy="2143125"/>
          </a:xfrm>
          <a:prstGeom prst="rect">
            <a:avLst/>
          </a:prstGeom>
        </p:spPr>
        <p:txBody>
          <a:bodyPr anchor="t" rtlCol="false" tIns="0" lIns="0" bIns="0" rIns="0">
            <a:spAutoFit/>
          </a:bodyPr>
          <a:lstStyle/>
          <a:p>
            <a:pPr algn="l" marL="0" indent="0" lvl="0">
              <a:lnSpc>
                <a:spcPts val="8400"/>
              </a:lnSpc>
            </a:pPr>
            <a:r>
              <a:rPr lang="en-US" b="true" sz="6000" spc="300">
                <a:solidFill>
                  <a:srgbClr val="000000"/>
                </a:solidFill>
                <a:latin typeface="Helios Extended Bold"/>
                <a:ea typeface="Helios Extended Bold"/>
                <a:cs typeface="Helios Extended Bold"/>
                <a:sym typeface="Helios Extended Bold"/>
              </a:rPr>
              <a:t>TEAM MEMBERS</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923925"/>
            <a:ext cx="16230600" cy="1483995"/>
          </a:xfrm>
          <a:prstGeom prst="rect">
            <a:avLst/>
          </a:prstGeom>
        </p:spPr>
        <p:txBody>
          <a:bodyPr anchor="t" rtlCol="false" tIns="0" lIns="0" bIns="0" rIns="0">
            <a:spAutoFit/>
          </a:bodyPr>
          <a:lstStyle/>
          <a:p>
            <a:pPr algn="ctr">
              <a:lnSpc>
                <a:spcPts val="5880"/>
              </a:lnSpc>
            </a:pPr>
            <a:r>
              <a:rPr lang="en-US" b="true" sz="4200" spc="210">
                <a:solidFill>
                  <a:srgbClr val="000000"/>
                </a:solidFill>
                <a:latin typeface="Helios Extended Bold"/>
                <a:ea typeface="Helios Extended Bold"/>
                <a:cs typeface="Helios Extended Bold"/>
                <a:sym typeface="Helios Extended Bold"/>
              </a:rPr>
              <a:t>IMPROVEMENTS MADE FROM </a:t>
            </a:r>
          </a:p>
          <a:p>
            <a:pPr algn="ctr" marL="0" indent="0" lvl="0">
              <a:lnSpc>
                <a:spcPts val="5880"/>
              </a:lnSpc>
            </a:pPr>
            <a:r>
              <a:rPr lang="en-US" b="true" sz="4200" spc="210">
                <a:solidFill>
                  <a:srgbClr val="000000"/>
                </a:solidFill>
                <a:latin typeface="Helios Extended Bold"/>
                <a:ea typeface="Helios Extended Bold"/>
                <a:cs typeface="Helios Extended Bold"/>
                <a:sym typeface="Helios Extended Bold"/>
              </a:rPr>
              <a:t>PROFESSOR’S FEEDBACK</a:t>
            </a:r>
          </a:p>
        </p:txBody>
      </p:sp>
      <p:sp>
        <p:nvSpPr>
          <p:cNvPr name="TextBox 3" id="3"/>
          <p:cNvSpPr txBox="true"/>
          <p:nvPr/>
        </p:nvSpPr>
        <p:spPr>
          <a:xfrm rot="0">
            <a:off x="4192835" y="4591050"/>
            <a:ext cx="9912251" cy="1047750"/>
          </a:xfrm>
          <a:prstGeom prst="rect">
            <a:avLst/>
          </a:prstGeom>
        </p:spPr>
        <p:txBody>
          <a:bodyPr anchor="t" rtlCol="false" tIns="0" lIns="0" bIns="0" rIns="0">
            <a:spAutoFit/>
          </a:bodyPr>
          <a:lstStyle/>
          <a:p>
            <a:pPr algn="l">
              <a:lnSpc>
                <a:spcPts val="4200"/>
              </a:lnSpc>
            </a:pPr>
            <a:r>
              <a:rPr lang="en-US" sz="3000" spc="150" b="true">
                <a:solidFill>
                  <a:srgbClr val="006D77"/>
                </a:solidFill>
                <a:latin typeface="Canva Sans Bold"/>
                <a:ea typeface="Canva Sans Bold"/>
                <a:cs typeface="Canva Sans Bold"/>
                <a:sym typeface="Canva Sans Bold"/>
              </a:rPr>
              <a:t>Feedback:</a:t>
            </a:r>
            <a:r>
              <a:rPr lang="en-US" sz="3000" spc="150">
                <a:solidFill>
                  <a:srgbClr val="000000"/>
                </a:solidFill>
                <a:latin typeface="Canva Sans"/>
                <a:ea typeface="Canva Sans"/>
                <a:cs typeface="Canva Sans"/>
                <a:sym typeface="Canva Sans"/>
              </a:rPr>
              <a:t> Link on wikipage was not accurate</a:t>
            </a:r>
          </a:p>
          <a:p>
            <a:pPr algn="l">
              <a:lnSpc>
                <a:spcPts val="4200"/>
              </a:lnSpc>
            </a:pPr>
            <a:r>
              <a:rPr lang="en-US" sz="3000" spc="150" b="true">
                <a:solidFill>
                  <a:srgbClr val="006D77"/>
                </a:solidFill>
                <a:latin typeface="Canva Sans Bold"/>
                <a:ea typeface="Canva Sans Bold"/>
                <a:cs typeface="Canva Sans Bold"/>
                <a:sym typeface="Canva Sans Bold"/>
              </a:rPr>
              <a:t>Action:</a:t>
            </a:r>
            <a:r>
              <a:rPr lang="en-US" sz="3000" spc="150">
                <a:solidFill>
                  <a:srgbClr val="000000"/>
                </a:solidFill>
                <a:latin typeface="Canva Sans"/>
                <a:ea typeface="Canva Sans"/>
                <a:cs typeface="Canva Sans"/>
                <a:sym typeface="Canva Sans"/>
              </a:rPr>
              <a:t> Wikipage was updated with accurate links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001007" y="0"/>
            <a:ext cx="10286993" cy="10287000"/>
            <a:chOff x="0" y="0"/>
            <a:chExt cx="2709331" cy="2709333"/>
          </a:xfrm>
        </p:grpSpPr>
        <p:sp>
          <p:nvSpPr>
            <p:cNvPr name="Freeform 3" id="3"/>
            <p:cNvSpPr/>
            <p:nvPr/>
          </p:nvSpPr>
          <p:spPr>
            <a:xfrm flipH="false" flipV="false" rot="0">
              <a:off x="0" y="0"/>
              <a:ext cx="2709331" cy="2709333"/>
            </a:xfrm>
            <a:custGeom>
              <a:avLst/>
              <a:gdLst/>
              <a:ahLst/>
              <a:cxnLst/>
              <a:rect r="r" b="b" t="t" l="l"/>
              <a:pathLst>
                <a:path h="2709333" w="2709331">
                  <a:moveTo>
                    <a:pt x="0" y="0"/>
                  </a:moveTo>
                  <a:lnTo>
                    <a:pt x="2709331" y="0"/>
                  </a:lnTo>
                  <a:lnTo>
                    <a:pt x="2709331" y="2709333"/>
                  </a:lnTo>
                  <a:lnTo>
                    <a:pt x="0" y="2709333"/>
                  </a:lnTo>
                  <a:close/>
                </a:path>
              </a:pathLst>
            </a:custGeom>
            <a:solidFill>
              <a:srgbClr val="F2F1F1">
                <a:alpha val="80000"/>
              </a:srgbClr>
            </a:solidFill>
          </p:spPr>
        </p:sp>
        <p:sp>
          <p:nvSpPr>
            <p:cNvPr name="TextBox 4" id="4"/>
            <p:cNvSpPr txBox="true"/>
            <p:nvPr/>
          </p:nvSpPr>
          <p:spPr>
            <a:xfrm>
              <a:off x="0" y="-47625"/>
              <a:ext cx="2709331" cy="2756958"/>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8001007" y="1640982"/>
            <a:ext cx="10286993" cy="7005036"/>
          </a:xfrm>
          <a:custGeom>
            <a:avLst/>
            <a:gdLst/>
            <a:ahLst/>
            <a:cxnLst/>
            <a:rect r="r" b="b" t="t" l="l"/>
            <a:pathLst>
              <a:path h="7005036" w="10286993">
                <a:moveTo>
                  <a:pt x="0" y="0"/>
                </a:moveTo>
                <a:lnTo>
                  <a:pt x="10286993" y="0"/>
                </a:lnTo>
                <a:lnTo>
                  <a:pt x="10286993" y="7005036"/>
                </a:lnTo>
                <a:lnTo>
                  <a:pt x="0" y="7005036"/>
                </a:lnTo>
                <a:lnTo>
                  <a:pt x="0" y="0"/>
                </a:lnTo>
                <a:close/>
              </a:path>
            </a:pathLst>
          </a:custGeom>
          <a:blipFill>
            <a:blip r:embed="rId2"/>
            <a:stretch>
              <a:fillRect l="0" t="0" r="0" b="0"/>
            </a:stretch>
          </a:blipFill>
        </p:spPr>
      </p:sp>
      <p:sp>
        <p:nvSpPr>
          <p:cNvPr name="TextBox 6" id="6"/>
          <p:cNvSpPr txBox="true"/>
          <p:nvPr/>
        </p:nvSpPr>
        <p:spPr>
          <a:xfrm rot="0">
            <a:off x="758831" y="4349115"/>
            <a:ext cx="6996120" cy="1483995"/>
          </a:xfrm>
          <a:prstGeom prst="rect">
            <a:avLst/>
          </a:prstGeom>
        </p:spPr>
        <p:txBody>
          <a:bodyPr anchor="t" rtlCol="false" tIns="0" lIns="0" bIns="0" rIns="0">
            <a:spAutoFit/>
          </a:bodyPr>
          <a:lstStyle/>
          <a:p>
            <a:pPr algn="l" marL="0" indent="0" lvl="0">
              <a:lnSpc>
                <a:spcPts val="5880"/>
              </a:lnSpc>
            </a:pPr>
            <a:r>
              <a:rPr lang="en-US" b="true" sz="4200" spc="210">
                <a:solidFill>
                  <a:srgbClr val="000000"/>
                </a:solidFill>
                <a:latin typeface="Helios Extended Bold"/>
                <a:ea typeface="Helios Extended Bold"/>
                <a:cs typeface="Helios Extended Bold"/>
                <a:sym typeface="Helios Extended Bold"/>
              </a:rPr>
              <a:t>PROJECT DESCRIPTION</a:t>
            </a:r>
          </a:p>
        </p:txBody>
      </p:sp>
      <p:grpSp>
        <p:nvGrpSpPr>
          <p:cNvPr name="Group 7" id="7"/>
          <p:cNvGrpSpPr/>
          <p:nvPr/>
        </p:nvGrpSpPr>
        <p:grpSpPr>
          <a:xfrm rot="0">
            <a:off x="143691" y="9683062"/>
            <a:ext cx="2003497" cy="422688"/>
            <a:chOff x="0" y="0"/>
            <a:chExt cx="2671330" cy="563585"/>
          </a:xfrm>
        </p:grpSpPr>
        <p:sp>
          <p:nvSpPr>
            <p:cNvPr name="Freeform 8" id="8"/>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03574" y="0"/>
            <a:ext cx="10784426" cy="10287000"/>
            <a:chOff x="0" y="0"/>
            <a:chExt cx="2840343" cy="2709333"/>
          </a:xfrm>
        </p:grpSpPr>
        <p:sp>
          <p:nvSpPr>
            <p:cNvPr name="Freeform 3" id="3"/>
            <p:cNvSpPr/>
            <p:nvPr/>
          </p:nvSpPr>
          <p:spPr>
            <a:xfrm flipH="false" flipV="false" rot="0">
              <a:off x="0" y="0"/>
              <a:ext cx="2840343" cy="2709333"/>
            </a:xfrm>
            <a:custGeom>
              <a:avLst/>
              <a:gdLst/>
              <a:ahLst/>
              <a:cxnLst/>
              <a:rect r="r" b="b" t="t" l="l"/>
              <a:pathLst>
                <a:path h="2709333" w="2840343">
                  <a:moveTo>
                    <a:pt x="0" y="0"/>
                  </a:moveTo>
                  <a:lnTo>
                    <a:pt x="2840343" y="0"/>
                  </a:lnTo>
                  <a:lnTo>
                    <a:pt x="2840343" y="2709333"/>
                  </a:lnTo>
                  <a:lnTo>
                    <a:pt x="0" y="2709333"/>
                  </a:lnTo>
                  <a:close/>
                </a:path>
              </a:pathLst>
            </a:custGeom>
            <a:solidFill>
              <a:srgbClr val="F2F1F1">
                <a:alpha val="80000"/>
              </a:srgbClr>
            </a:solidFill>
          </p:spPr>
        </p:sp>
        <p:sp>
          <p:nvSpPr>
            <p:cNvPr name="TextBox 4" id="4"/>
            <p:cNvSpPr txBox="true"/>
            <p:nvPr/>
          </p:nvSpPr>
          <p:spPr>
            <a:xfrm>
              <a:off x="0" y="-47625"/>
              <a:ext cx="2840343" cy="2756958"/>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43691" y="9683062"/>
            <a:ext cx="2003497" cy="422688"/>
            <a:chOff x="0" y="0"/>
            <a:chExt cx="2671330" cy="563585"/>
          </a:xfrm>
        </p:grpSpPr>
        <p:sp>
          <p:nvSpPr>
            <p:cNvPr name="Freeform 6" id="6"/>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
        <p:nvSpPr>
          <p:cNvPr name="TextBox 8" id="8"/>
          <p:cNvSpPr txBox="true"/>
          <p:nvPr/>
        </p:nvSpPr>
        <p:spPr>
          <a:xfrm rot="0">
            <a:off x="759143" y="4349115"/>
            <a:ext cx="6235339" cy="1483995"/>
          </a:xfrm>
          <a:prstGeom prst="rect">
            <a:avLst/>
          </a:prstGeom>
        </p:spPr>
        <p:txBody>
          <a:bodyPr anchor="t" rtlCol="false" tIns="0" lIns="0" bIns="0" rIns="0">
            <a:spAutoFit/>
          </a:bodyPr>
          <a:lstStyle/>
          <a:p>
            <a:pPr algn="l" marL="0" indent="0" lvl="0">
              <a:lnSpc>
                <a:spcPts val="5880"/>
              </a:lnSpc>
            </a:pPr>
            <a:r>
              <a:rPr lang="en-US" b="true" sz="4200" spc="210">
                <a:solidFill>
                  <a:srgbClr val="000000"/>
                </a:solidFill>
                <a:latin typeface="Helios Extended Bold"/>
                <a:ea typeface="Helios Extended Bold"/>
                <a:cs typeface="Helios Extended Bold"/>
                <a:sym typeface="Helios Extended Bold"/>
              </a:rPr>
              <a:t>TEAM WORKING AGREEMENT </a:t>
            </a:r>
          </a:p>
        </p:txBody>
      </p:sp>
      <p:sp>
        <p:nvSpPr>
          <p:cNvPr name="TextBox 9" id="9"/>
          <p:cNvSpPr txBox="true"/>
          <p:nvPr/>
        </p:nvSpPr>
        <p:spPr>
          <a:xfrm rot="0">
            <a:off x="7705725" y="771525"/>
            <a:ext cx="9990545" cy="4645660"/>
          </a:xfrm>
          <a:prstGeom prst="rect">
            <a:avLst/>
          </a:prstGeom>
        </p:spPr>
        <p:txBody>
          <a:bodyPr anchor="t" rtlCol="false" tIns="0" lIns="0" bIns="0" rIns="0">
            <a:spAutoFit/>
          </a:bodyPr>
          <a:lstStyle/>
          <a:p>
            <a:pPr algn="l">
              <a:lnSpc>
                <a:spcPts val="3679"/>
              </a:lnSpc>
            </a:pPr>
            <a:r>
              <a:rPr lang="en-US" sz="2299" spc="229">
                <a:solidFill>
                  <a:srgbClr val="000000"/>
                </a:solidFill>
                <a:latin typeface="Lato"/>
                <a:ea typeface="Lato"/>
                <a:cs typeface="Lato"/>
                <a:sym typeface="Lato"/>
              </a:rPr>
              <a:t>• </a:t>
            </a:r>
            <a:r>
              <a:rPr lang="en-US" sz="2299" spc="229">
                <a:solidFill>
                  <a:srgbClr val="000000"/>
                </a:solidFill>
                <a:latin typeface="Lato"/>
                <a:ea typeface="Lato"/>
                <a:cs typeface="Lato"/>
                <a:sym typeface="Lato"/>
              </a:rPr>
              <a:t>Primary instant meeting platform: WhatsApp </a:t>
            </a:r>
          </a:p>
          <a:p>
            <a:pPr algn="l">
              <a:lnSpc>
                <a:spcPts val="3679"/>
              </a:lnSpc>
            </a:pPr>
            <a:r>
              <a:rPr lang="en-US" sz="2299" spc="229">
                <a:solidFill>
                  <a:srgbClr val="000000"/>
                </a:solidFill>
                <a:latin typeface="Lato"/>
                <a:ea typeface="Lato"/>
                <a:cs typeface="Lato"/>
                <a:sym typeface="Lato"/>
              </a:rPr>
              <a:t>• Video Meeting: Discord </a:t>
            </a:r>
          </a:p>
          <a:p>
            <a:pPr algn="l">
              <a:lnSpc>
                <a:spcPts val="3679"/>
              </a:lnSpc>
            </a:pPr>
          </a:p>
          <a:p>
            <a:pPr algn="l">
              <a:lnSpc>
                <a:spcPts val="3679"/>
              </a:lnSpc>
            </a:pPr>
            <a:r>
              <a:rPr lang="en-US" sz="2299" spc="229">
                <a:solidFill>
                  <a:srgbClr val="000000"/>
                </a:solidFill>
                <a:latin typeface="Lato"/>
                <a:ea typeface="Lato"/>
                <a:cs typeface="Lato"/>
                <a:sym typeface="Lato"/>
              </a:rPr>
              <a:t>Team members are expected to: </a:t>
            </a:r>
          </a:p>
          <a:p>
            <a:pPr algn="l">
              <a:lnSpc>
                <a:spcPts val="3679"/>
              </a:lnSpc>
            </a:pPr>
            <a:r>
              <a:rPr lang="en-US" sz="2299" spc="229">
                <a:solidFill>
                  <a:srgbClr val="000000"/>
                </a:solidFill>
                <a:latin typeface="Lato"/>
                <a:ea typeface="Lato"/>
                <a:cs typeface="Lato"/>
                <a:sym typeface="Lato"/>
              </a:rPr>
              <a:t>• Communicate respectfully and professionally </a:t>
            </a:r>
          </a:p>
          <a:p>
            <a:pPr algn="l">
              <a:lnSpc>
                <a:spcPts val="3679"/>
              </a:lnSpc>
            </a:pPr>
            <a:r>
              <a:rPr lang="en-US" sz="2299" spc="229">
                <a:solidFill>
                  <a:srgbClr val="000000"/>
                </a:solidFill>
                <a:latin typeface="Lato"/>
                <a:ea typeface="Lato"/>
                <a:cs typeface="Lato"/>
                <a:sym typeface="Lato"/>
              </a:rPr>
              <a:t>• Respond to messages within a reasonable time frame (ideally within 24 hours) </a:t>
            </a:r>
          </a:p>
          <a:p>
            <a:pPr algn="l">
              <a:lnSpc>
                <a:spcPts val="3679"/>
              </a:lnSpc>
            </a:pPr>
            <a:r>
              <a:rPr lang="en-US" sz="2299" spc="229">
                <a:solidFill>
                  <a:srgbClr val="000000"/>
                </a:solidFill>
                <a:latin typeface="Lato"/>
                <a:ea typeface="Lato"/>
                <a:cs typeface="Lato"/>
                <a:sym typeface="Lato"/>
              </a:rPr>
              <a:t>• Share progress updates, blockers, and concerns openly </a:t>
            </a:r>
          </a:p>
          <a:p>
            <a:pPr algn="l" marL="0" indent="0" lvl="0">
              <a:lnSpc>
                <a:spcPts val="3679"/>
              </a:lnSpc>
            </a:pPr>
            <a:r>
              <a:rPr lang="en-US" sz="2299" spc="229">
                <a:solidFill>
                  <a:srgbClr val="000000"/>
                </a:solidFill>
                <a:latin typeface="Lato"/>
                <a:ea typeface="Lato"/>
                <a:cs typeface="Lato"/>
                <a:sym typeface="Lato"/>
              </a:rPr>
              <a:t>• Use the agreed communication tools for all project-related discussions</a:t>
            </a:r>
          </a:p>
        </p:txBody>
      </p:sp>
      <p:sp>
        <p:nvSpPr>
          <p:cNvPr name="TextBox 10" id="10"/>
          <p:cNvSpPr txBox="true"/>
          <p:nvPr/>
        </p:nvSpPr>
        <p:spPr>
          <a:xfrm rot="0">
            <a:off x="7705725" y="176546"/>
            <a:ext cx="7100247" cy="547368"/>
          </a:xfrm>
          <a:prstGeom prst="rect">
            <a:avLst/>
          </a:prstGeom>
        </p:spPr>
        <p:txBody>
          <a:bodyPr anchor="t" rtlCol="false" tIns="0" lIns="0" bIns="0" rIns="0">
            <a:spAutoFit/>
          </a:bodyPr>
          <a:lstStyle/>
          <a:p>
            <a:pPr algn="l" marL="0" indent="0" lvl="0">
              <a:lnSpc>
                <a:spcPts val="4480"/>
              </a:lnSpc>
            </a:pPr>
            <a:r>
              <a:rPr lang="en-US" b="true" sz="3200" spc="160">
                <a:solidFill>
                  <a:srgbClr val="000000"/>
                </a:solidFill>
                <a:latin typeface="Lato Bold"/>
                <a:ea typeface="Lato Bold"/>
                <a:cs typeface="Lato Bold"/>
                <a:sym typeface="Lato Bold"/>
              </a:rPr>
              <a:t>COMMUNICATION PLAN</a:t>
            </a:r>
          </a:p>
        </p:txBody>
      </p:sp>
      <p:sp>
        <p:nvSpPr>
          <p:cNvPr name="TextBox 11" id="11"/>
          <p:cNvSpPr txBox="true"/>
          <p:nvPr/>
        </p:nvSpPr>
        <p:spPr>
          <a:xfrm rot="0">
            <a:off x="7705725" y="5660307"/>
            <a:ext cx="7854623" cy="547368"/>
          </a:xfrm>
          <a:prstGeom prst="rect">
            <a:avLst/>
          </a:prstGeom>
        </p:spPr>
        <p:txBody>
          <a:bodyPr anchor="t" rtlCol="false" tIns="0" lIns="0" bIns="0" rIns="0">
            <a:spAutoFit/>
          </a:bodyPr>
          <a:lstStyle/>
          <a:p>
            <a:pPr algn="l" marL="0" indent="0" lvl="0">
              <a:lnSpc>
                <a:spcPts val="4480"/>
              </a:lnSpc>
            </a:pPr>
            <a:r>
              <a:rPr lang="en-US" b="true" sz="3200" spc="160">
                <a:solidFill>
                  <a:srgbClr val="000000"/>
                </a:solidFill>
                <a:latin typeface="Lato Bold"/>
                <a:ea typeface="Lato Bold"/>
                <a:cs typeface="Lato Bold"/>
                <a:sym typeface="Lato Bold"/>
              </a:rPr>
              <a:t>MEETINGS &amp; AVAILABILITY</a:t>
            </a:r>
          </a:p>
        </p:txBody>
      </p:sp>
      <p:sp>
        <p:nvSpPr>
          <p:cNvPr name="TextBox 12" id="12"/>
          <p:cNvSpPr txBox="true"/>
          <p:nvPr/>
        </p:nvSpPr>
        <p:spPr>
          <a:xfrm rot="0">
            <a:off x="7708399" y="6282566"/>
            <a:ext cx="10285073" cy="3712210"/>
          </a:xfrm>
          <a:prstGeom prst="rect">
            <a:avLst/>
          </a:prstGeom>
        </p:spPr>
        <p:txBody>
          <a:bodyPr anchor="t" rtlCol="false" tIns="0" lIns="0" bIns="0" rIns="0">
            <a:spAutoFit/>
          </a:bodyPr>
          <a:lstStyle/>
          <a:p>
            <a:pPr algn="l">
              <a:lnSpc>
                <a:spcPts val="3679"/>
              </a:lnSpc>
            </a:pPr>
            <a:r>
              <a:rPr lang="en-US" sz="2299" spc="229">
                <a:solidFill>
                  <a:srgbClr val="000000"/>
                </a:solidFill>
                <a:latin typeface="Lato"/>
                <a:ea typeface="Lato"/>
                <a:cs typeface="Lato"/>
                <a:sym typeface="Lato"/>
              </a:rPr>
              <a:t>The team will hold three regular sync meetings per week: </a:t>
            </a:r>
          </a:p>
          <a:p>
            <a:pPr algn="l">
              <a:lnSpc>
                <a:spcPts val="3679"/>
              </a:lnSpc>
            </a:pPr>
            <a:r>
              <a:rPr lang="en-US" sz="2299" spc="229">
                <a:solidFill>
                  <a:srgbClr val="000000"/>
                </a:solidFill>
                <a:latin typeface="Lato"/>
                <a:ea typeface="Lato"/>
                <a:cs typeface="Lato"/>
                <a:sym typeface="Lato"/>
              </a:rPr>
              <a:t>• Sunday: 10:00 AM • Tuesday: 6:30 PM • Thursday: 9:00 PM </a:t>
            </a:r>
          </a:p>
          <a:p>
            <a:pPr algn="l">
              <a:lnSpc>
                <a:spcPts val="3679"/>
              </a:lnSpc>
            </a:pPr>
          </a:p>
          <a:p>
            <a:pPr algn="l">
              <a:lnSpc>
                <a:spcPts val="3679"/>
              </a:lnSpc>
            </a:pPr>
            <a:r>
              <a:rPr lang="en-US" sz="2299" spc="229">
                <a:solidFill>
                  <a:srgbClr val="000000"/>
                </a:solidFill>
                <a:latin typeface="Lato"/>
                <a:ea typeface="Lato"/>
                <a:cs typeface="Lato"/>
                <a:sym typeface="Lato"/>
              </a:rPr>
              <a:t>Additional meetings may be scheduled as needed based on sprint requirements. Expectations:</a:t>
            </a:r>
          </a:p>
          <a:p>
            <a:pPr algn="l">
              <a:lnSpc>
                <a:spcPts val="3679"/>
              </a:lnSpc>
            </a:pPr>
            <a:r>
              <a:rPr lang="en-US" sz="2299" spc="229">
                <a:solidFill>
                  <a:srgbClr val="000000"/>
                </a:solidFill>
                <a:latin typeface="Lato"/>
                <a:ea typeface="Lato"/>
                <a:cs typeface="Lato"/>
                <a:sym typeface="Lato"/>
              </a:rPr>
              <a:t>• All members should attend scheduled meetings </a:t>
            </a:r>
          </a:p>
          <a:p>
            <a:pPr algn="l">
              <a:lnSpc>
                <a:spcPts val="3679"/>
              </a:lnSpc>
            </a:pPr>
            <a:r>
              <a:rPr lang="en-US" sz="2299" spc="229">
                <a:solidFill>
                  <a:srgbClr val="000000"/>
                </a:solidFill>
                <a:latin typeface="Lato"/>
                <a:ea typeface="Lato"/>
                <a:cs typeface="Lato"/>
                <a:sym typeface="Lato"/>
              </a:rPr>
              <a:t>• If unable to attend, members must notify the team in advance</a:t>
            </a:r>
          </a:p>
          <a:p>
            <a:pPr algn="l" marL="0" indent="0" lvl="0">
              <a:lnSpc>
                <a:spcPts val="3679"/>
              </a:lnSpc>
            </a:pPr>
            <a:r>
              <a:rPr lang="en-US" sz="2299" spc="229">
                <a:solidFill>
                  <a:srgbClr val="000000"/>
                </a:solidFill>
                <a:latin typeface="Lato"/>
                <a:ea typeface="Lato"/>
                <a:cs typeface="Lato"/>
                <a:sym typeface="Lato"/>
              </a:rPr>
              <a:t>• Meeting notes and action items will be documented and shared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03574" y="0"/>
            <a:ext cx="10784426" cy="10287000"/>
            <a:chOff x="0" y="0"/>
            <a:chExt cx="2840343" cy="2709333"/>
          </a:xfrm>
        </p:grpSpPr>
        <p:sp>
          <p:nvSpPr>
            <p:cNvPr name="Freeform 3" id="3"/>
            <p:cNvSpPr/>
            <p:nvPr/>
          </p:nvSpPr>
          <p:spPr>
            <a:xfrm flipH="false" flipV="false" rot="0">
              <a:off x="0" y="0"/>
              <a:ext cx="2840343" cy="2709333"/>
            </a:xfrm>
            <a:custGeom>
              <a:avLst/>
              <a:gdLst/>
              <a:ahLst/>
              <a:cxnLst/>
              <a:rect r="r" b="b" t="t" l="l"/>
              <a:pathLst>
                <a:path h="2709333" w="2840343">
                  <a:moveTo>
                    <a:pt x="0" y="0"/>
                  </a:moveTo>
                  <a:lnTo>
                    <a:pt x="2840343" y="0"/>
                  </a:lnTo>
                  <a:lnTo>
                    <a:pt x="2840343" y="2709333"/>
                  </a:lnTo>
                  <a:lnTo>
                    <a:pt x="0" y="2709333"/>
                  </a:lnTo>
                  <a:close/>
                </a:path>
              </a:pathLst>
            </a:custGeom>
            <a:solidFill>
              <a:srgbClr val="F2F1F1">
                <a:alpha val="80000"/>
              </a:srgbClr>
            </a:solidFill>
          </p:spPr>
        </p:sp>
        <p:sp>
          <p:nvSpPr>
            <p:cNvPr name="TextBox 4" id="4"/>
            <p:cNvSpPr txBox="true"/>
            <p:nvPr/>
          </p:nvSpPr>
          <p:spPr>
            <a:xfrm>
              <a:off x="0" y="-47625"/>
              <a:ext cx="2840343" cy="2756958"/>
            </a:xfrm>
            <a:prstGeom prst="rect">
              <a:avLst/>
            </a:prstGeom>
          </p:spPr>
          <p:txBody>
            <a:bodyPr anchor="ctr" rtlCol="false" tIns="50800" lIns="50800" bIns="50800" rIns="50800"/>
            <a:lstStyle/>
            <a:p>
              <a:pPr algn="ctr">
                <a:lnSpc>
                  <a:spcPts val="3359"/>
                </a:lnSpc>
              </a:pPr>
            </a:p>
          </p:txBody>
        </p:sp>
      </p:grpSp>
      <p:sp>
        <p:nvSpPr>
          <p:cNvPr name="TextBox 5" id="5"/>
          <p:cNvSpPr txBox="true"/>
          <p:nvPr/>
        </p:nvSpPr>
        <p:spPr>
          <a:xfrm rot="0">
            <a:off x="7705725" y="800958"/>
            <a:ext cx="7269291" cy="3245485"/>
          </a:xfrm>
          <a:prstGeom prst="rect">
            <a:avLst/>
          </a:prstGeom>
        </p:spPr>
        <p:txBody>
          <a:bodyPr anchor="t" rtlCol="false" tIns="0" lIns="0" bIns="0" rIns="0">
            <a:spAutoFit/>
          </a:bodyPr>
          <a:lstStyle/>
          <a:p>
            <a:pPr algn="l">
              <a:lnSpc>
                <a:spcPts val="3679"/>
              </a:lnSpc>
            </a:pPr>
            <a:r>
              <a:rPr lang="en-US" sz="2299" spc="229">
                <a:solidFill>
                  <a:srgbClr val="000000"/>
                </a:solidFill>
                <a:latin typeface="Lato"/>
                <a:ea typeface="Lato"/>
                <a:cs typeface="Lato"/>
                <a:sym typeface="Lato"/>
              </a:rPr>
              <a:t>• T</a:t>
            </a:r>
            <a:r>
              <a:rPr lang="en-US" sz="2299" spc="229">
                <a:solidFill>
                  <a:srgbClr val="000000"/>
                </a:solidFill>
                <a:latin typeface="Lato"/>
                <a:ea typeface="Lato"/>
                <a:cs typeface="Lato"/>
                <a:sym typeface="Lato"/>
              </a:rPr>
              <a:t>ask tracking tool: Jira </a:t>
            </a:r>
          </a:p>
          <a:p>
            <a:pPr algn="l">
              <a:lnSpc>
                <a:spcPts val="3679"/>
              </a:lnSpc>
            </a:pPr>
          </a:p>
          <a:p>
            <a:pPr algn="l">
              <a:lnSpc>
                <a:spcPts val="3679"/>
              </a:lnSpc>
            </a:pPr>
            <a:r>
              <a:rPr lang="en-US" sz="2299" spc="229">
                <a:solidFill>
                  <a:srgbClr val="000000"/>
                </a:solidFill>
                <a:latin typeface="Lato"/>
                <a:ea typeface="Lato"/>
                <a:cs typeface="Lato"/>
                <a:sym typeface="Lato"/>
              </a:rPr>
              <a:t>All project tasks will be: </a:t>
            </a:r>
          </a:p>
          <a:p>
            <a:pPr algn="l">
              <a:lnSpc>
                <a:spcPts val="3679"/>
              </a:lnSpc>
            </a:pPr>
            <a:r>
              <a:rPr lang="en-US" sz="2299" spc="229">
                <a:solidFill>
                  <a:srgbClr val="000000"/>
                </a:solidFill>
                <a:latin typeface="Lato"/>
                <a:ea typeface="Lato"/>
                <a:cs typeface="Lato"/>
                <a:sym typeface="Lato"/>
              </a:rPr>
              <a:t>• Clearly defined and assigned </a:t>
            </a:r>
          </a:p>
          <a:p>
            <a:pPr algn="l">
              <a:lnSpc>
                <a:spcPts val="3679"/>
              </a:lnSpc>
            </a:pPr>
            <a:r>
              <a:rPr lang="en-US" sz="2299" spc="229">
                <a:solidFill>
                  <a:srgbClr val="000000"/>
                </a:solidFill>
                <a:latin typeface="Lato"/>
                <a:ea typeface="Lato"/>
                <a:cs typeface="Lato"/>
                <a:sym typeface="Lato"/>
              </a:rPr>
              <a:t>• Tracked through Jira </a:t>
            </a:r>
          </a:p>
          <a:p>
            <a:pPr algn="l">
              <a:lnSpc>
                <a:spcPts val="3679"/>
              </a:lnSpc>
            </a:pPr>
            <a:r>
              <a:rPr lang="en-US" sz="2299" spc="229">
                <a:solidFill>
                  <a:srgbClr val="000000"/>
                </a:solidFill>
                <a:latin typeface="Lato"/>
                <a:ea typeface="Lato"/>
                <a:cs typeface="Lato"/>
                <a:sym typeface="Lato"/>
              </a:rPr>
              <a:t>• Updated regularly to reflect progress </a:t>
            </a:r>
          </a:p>
          <a:p>
            <a:pPr algn="l" marL="0" indent="0" lvl="0">
              <a:lnSpc>
                <a:spcPts val="3679"/>
              </a:lnSpc>
            </a:pPr>
            <a:r>
              <a:rPr lang="en-US" sz="2299" spc="229">
                <a:solidFill>
                  <a:srgbClr val="000000"/>
                </a:solidFill>
                <a:latin typeface="Lato"/>
                <a:ea typeface="Lato"/>
                <a:cs typeface="Lato"/>
                <a:sym typeface="Lato"/>
              </a:rPr>
              <a:t>• Completed before agreed internal deadlines</a:t>
            </a:r>
          </a:p>
        </p:txBody>
      </p:sp>
      <p:sp>
        <p:nvSpPr>
          <p:cNvPr name="TextBox 6" id="6"/>
          <p:cNvSpPr txBox="true"/>
          <p:nvPr/>
        </p:nvSpPr>
        <p:spPr>
          <a:xfrm rot="0">
            <a:off x="7705725" y="176212"/>
            <a:ext cx="6105380" cy="547370"/>
          </a:xfrm>
          <a:prstGeom prst="rect">
            <a:avLst/>
          </a:prstGeom>
        </p:spPr>
        <p:txBody>
          <a:bodyPr anchor="t" rtlCol="false" tIns="0" lIns="0" bIns="0" rIns="0">
            <a:spAutoFit/>
          </a:bodyPr>
          <a:lstStyle/>
          <a:p>
            <a:pPr algn="l" marL="0" indent="0" lvl="0">
              <a:lnSpc>
                <a:spcPts val="4480"/>
              </a:lnSpc>
            </a:pPr>
            <a:r>
              <a:rPr lang="en-US" b="true" sz="3200" spc="160">
                <a:solidFill>
                  <a:srgbClr val="000000"/>
                </a:solidFill>
                <a:latin typeface="Lato Bold"/>
                <a:ea typeface="Lato Bold"/>
                <a:cs typeface="Lato Bold"/>
                <a:sym typeface="Lato Bold"/>
              </a:rPr>
              <a:t>TASK MANAGEMENT</a:t>
            </a:r>
          </a:p>
        </p:txBody>
      </p:sp>
      <p:sp>
        <p:nvSpPr>
          <p:cNvPr name="TextBox 7" id="7"/>
          <p:cNvSpPr txBox="true"/>
          <p:nvPr/>
        </p:nvSpPr>
        <p:spPr>
          <a:xfrm rot="0">
            <a:off x="7705725" y="4392612"/>
            <a:ext cx="7042540" cy="547370"/>
          </a:xfrm>
          <a:prstGeom prst="rect">
            <a:avLst/>
          </a:prstGeom>
        </p:spPr>
        <p:txBody>
          <a:bodyPr anchor="t" rtlCol="false" tIns="0" lIns="0" bIns="0" rIns="0">
            <a:spAutoFit/>
          </a:bodyPr>
          <a:lstStyle/>
          <a:p>
            <a:pPr algn="l" marL="0" indent="0" lvl="0">
              <a:lnSpc>
                <a:spcPts val="4480"/>
              </a:lnSpc>
            </a:pPr>
            <a:r>
              <a:rPr lang="en-US" b="true" sz="3200" spc="160">
                <a:solidFill>
                  <a:srgbClr val="000000"/>
                </a:solidFill>
                <a:latin typeface="Lato Bold"/>
                <a:ea typeface="Lato Bold"/>
                <a:cs typeface="Lato Bold"/>
                <a:sym typeface="Lato Bold"/>
              </a:rPr>
              <a:t>CONFLICT RESOLUTION</a:t>
            </a:r>
          </a:p>
        </p:txBody>
      </p:sp>
      <p:sp>
        <p:nvSpPr>
          <p:cNvPr name="TextBox 8" id="8"/>
          <p:cNvSpPr txBox="true"/>
          <p:nvPr/>
        </p:nvSpPr>
        <p:spPr>
          <a:xfrm rot="0">
            <a:off x="7705725" y="5191123"/>
            <a:ext cx="8525558" cy="4645660"/>
          </a:xfrm>
          <a:prstGeom prst="rect">
            <a:avLst/>
          </a:prstGeom>
        </p:spPr>
        <p:txBody>
          <a:bodyPr anchor="t" rtlCol="false" tIns="0" lIns="0" bIns="0" rIns="0">
            <a:spAutoFit/>
          </a:bodyPr>
          <a:lstStyle/>
          <a:p>
            <a:pPr algn="l">
              <a:lnSpc>
                <a:spcPts val="3679"/>
              </a:lnSpc>
            </a:pPr>
            <a:r>
              <a:rPr lang="en-US" sz="2299" spc="229">
                <a:solidFill>
                  <a:srgbClr val="000000"/>
                </a:solidFill>
                <a:latin typeface="Lato"/>
                <a:ea typeface="Lato"/>
                <a:cs typeface="Lato"/>
                <a:sym typeface="Lato"/>
              </a:rPr>
              <a:t>In the</a:t>
            </a:r>
            <a:r>
              <a:rPr lang="en-US" sz="2299" spc="229">
                <a:solidFill>
                  <a:srgbClr val="000000"/>
                </a:solidFill>
                <a:latin typeface="Lato"/>
                <a:ea typeface="Lato"/>
                <a:cs typeface="Lato"/>
                <a:sym typeface="Lato"/>
              </a:rPr>
              <a:t> event of conflict: </a:t>
            </a:r>
          </a:p>
          <a:p>
            <a:pPr algn="l">
              <a:lnSpc>
                <a:spcPts val="3679"/>
              </a:lnSpc>
            </a:pPr>
          </a:p>
          <a:p>
            <a:pPr algn="l">
              <a:lnSpc>
                <a:spcPts val="3679"/>
              </a:lnSpc>
            </a:pPr>
            <a:r>
              <a:rPr lang="en-US" sz="2299" spc="229">
                <a:solidFill>
                  <a:srgbClr val="000000"/>
                </a:solidFill>
                <a:latin typeface="Lato"/>
                <a:ea typeface="Lato"/>
                <a:cs typeface="Lato"/>
                <a:sym typeface="Lato"/>
              </a:rPr>
              <a:t>1. The concerned party should first express the issue to the team openly and respectfully</a:t>
            </a:r>
          </a:p>
          <a:p>
            <a:pPr algn="l">
              <a:lnSpc>
                <a:spcPts val="3679"/>
              </a:lnSpc>
            </a:pPr>
            <a:r>
              <a:rPr lang="en-US" sz="2299" spc="229">
                <a:solidFill>
                  <a:srgbClr val="000000"/>
                </a:solidFill>
                <a:latin typeface="Lato"/>
                <a:ea typeface="Lato"/>
                <a:cs typeface="Lato"/>
                <a:sym typeface="Lato"/>
              </a:rPr>
              <a:t>2. The team will attempt to resolve the issue collaboratively </a:t>
            </a:r>
          </a:p>
          <a:p>
            <a:pPr algn="l">
              <a:lnSpc>
                <a:spcPts val="3679"/>
              </a:lnSpc>
            </a:pPr>
            <a:r>
              <a:rPr lang="en-US" sz="2299" spc="229">
                <a:solidFill>
                  <a:srgbClr val="000000"/>
                </a:solidFill>
                <a:latin typeface="Lato"/>
                <a:ea typeface="Lato"/>
                <a:cs typeface="Lato"/>
                <a:sym typeface="Lato"/>
              </a:rPr>
              <a:t>3. If unresolved, the issue will be escalated to the Team Leader / Scrum Coordinator </a:t>
            </a:r>
          </a:p>
          <a:p>
            <a:pPr algn="l" marL="0" indent="0" lvl="0">
              <a:lnSpc>
                <a:spcPts val="3679"/>
              </a:lnSpc>
            </a:pPr>
            <a:r>
              <a:rPr lang="en-US" sz="2299" spc="229">
                <a:solidFill>
                  <a:srgbClr val="000000"/>
                </a:solidFill>
                <a:latin typeface="Lato"/>
                <a:ea typeface="Lato"/>
                <a:cs typeface="Lato"/>
                <a:sym typeface="Lato"/>
              </a:rPr>
              <a:t>4. Further escalation (e.g., to the instructor) will be considered only if necessary</a:t>
            </a:r>
          </a:p>
        </p:txBody>
      </p:sp>
      <p:grpSp>
        <p:nvGrpSpPr>
          <p:cNvPr name="Group 9" id="9"/>
          <p:cNvGrpSpPr/>
          <p:nvPr/>
        </p:nvGrpSpPr>
        <p:grpSpPr>
          <a:xfrm rot="0">
            <a:off x="143691" y="9683062"/>
            <a:ext cx="2003497" cy="422688"/>
            <a:chOff x="0" y="0"/>
            <a:chExt cx="2671330" cy="563585"/>
          </a:xfrm>
        </p:grpSpPr>
        <p:sp>
          <p:nvSpPr>
            <p:cNvPr name="Freeform 10" id="10"/>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
        <p:nvSpPr>
          <p:cNvPr name="TextBox 12" id="12"/>
          <p:cNvSpPr txBox="true"/>
          <p:nvPr/>
        </p:nvSpPr>
        <p:spPr>
          <a:xfrm rot="0">
            <a:off x="759143" y="4349115"/>
            <a:ext cx="6235339" cy="1483995"/>
          </a:xfrm>
          <a:prstGeom prst="rect">
            <a:avLst/>
          </a:prstGeom>
        </p:spPr>
        <p:txBody>
          <a:bodyPr anchor="t" rtlCol="false" tIns="0" lIns="0" bIns="0" rIns="0">
            <a:spAutoFit/>
          </a:bodyPr>
          <a:lstStyle/>
          <a:p>
            <a:pPr algn="l" marL="0" indent="0" lvl="0">
              <a:lnSpc>
                <a:spcPts val="5880"/>
              </a:lnSpc>
            </a:pPr>
            <a:r>
              <a:rPr lang="en-US" b="true" sz="4200" spc="210">
                <a:solidFill>
                  <a:srgbClr val="000000"/>
                </a:solidFill>
                <a:latin typeface="Helios Extended Bold"/>
                <a:ea typeface="Helios Extended Bold"/>
                <a:cs typeface="Helios Extended Bold"/>
                <a:sym typeface="Helios Extended Bold"/>
              </a:rPr>
              <a:t>TEAM WORKING AGREEMENT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03574" y="0"/>
            <a:ext cx="10784426" cy="10287000"/>
            <a:chOff x="0" y="0"/>
            <a:chExt cx="2840343" cy="2709333"/>
          </a:xfrm>
        </p:grpSpPr>
        <p:sp>
          <p:nvSpPr>
            <p:cNvPr name="Freeform 3" id="3"/>
            <p:cNvSpPr/>
            <p:nvPr/>
          </p:nvSpPr>
          <p:spPr>
            <a:xfrm flipH="false" flipV="false" rot="0">
              <a:off x="0" y="0"/>
              <a:ext cx="2840343" cy="2709333"/>
            </a:xfrm>
            <a:custGeom>
              <a:avLst/>
              <a:gdLst/>
              <a:ahLst/>
              <a:cxnLst/>
              <a:rect r="r" b="b" t="t" l="l"/>
              <a:pathLst>
                <a:path h="2709333" w="2840343">
                  <a:moveTo>
                    <a:pt x="0" y="0"/>
                  </a:moveTo>
                  <a:lnTo>
                    <a:pt x="2840343" y="0"/>
                  </a:lnTo>
                  <a:lnTo>
                    <a:pt x="2840343" y="2709333"/>
                  </a:lnTo>
                  <a:lnTo>
                    <a:pt x="0" y="2709333"/>
                  </a:lnTo>
                  <a:close/>
                </a:path>
              </a:pathLst>
            </a:custGeom>
            <a:solidFill>
              <a:srgbClr val="F2F1F1">
                <a:alpha val="80000"/>
              </a:srgbClr>
            </a:solidFill>
          </p:spPr>
        </p:sp>
        <p:sp>
          <p:nvSpPr>
            <p:cNvPr name="TextBox 4" id="4"/>
            <p:cNvSpPr txBox="true"/>
            <p:nvPr/>
          </p:nvSpPr>
          <p:spPr>
            <a:xfrm>
              <a:off x="0" y="-47625"/>
              <a:ext cx="2840343" cy="2756958"/>
            </a:xfrm>
            <a:prstGeom prst="rect">
              <a:avLst/>
            </a:prstGeom>
          </p:spPr>
          <p:txBody>
            <a:bodyPr anchor="ctr" rtlCol="false" tIns="50800" lIns="50800" bIns="50800" rIns="50800"/>
            <a:lstStyle/>
            <a:p>
              <a:pPr algn="ctr">
                <a:lnSpc>
                  <a:spcPts val="3359"/>
                </a:lnSpc>
              </a:pPr>
            </a:p>
          </p:txBody>
        </p:sp>
      </p:grpSp>
      <p:sp>
        <p:nvSpPr>
          <p:cNvPr name="TextBox 5" id="5"/>
          <p:cNvSpPr txBox="true"/>
          <p:nvPr/>
        </p:nvSpPr>
        <p:spPr>
          <a:xfrm rot="0">
            <a:off x="7696261" y="176212"/>
            <a:ext cx="7335148" cy="1109345"/>
          </a:xfrm>
          <a:prstGeom prst="rect">
            <a:avLst/>
          </a:prstGeom>
        </p:spPr>
        <p:txBody>
          <a:bodyPr anchor="t" rtlCol="false" tIns="0" lIns="0" bIns="0" rIns="0">
            <a:spAutoFit/>
          </a:bodyPr>
          <a:lstStyle/>
          <a:p>
            <a:pPr algn="l">
              <a:lnSpc>
                <a:spcPts val="4480"/>
              </a:lnSpc>
            </a:pPr>
            <a:r>
              <a:rPr lang="en-US" b="true" sz="3200" spc="160">
                <a:solidFill>
                  <a:srgbClr val="000000"/>
                </a:solidFill>
                <a:latin typeface="Lato Bold"/>
                <a:ea typeface="Lato Bold"/>
                <a:cs typeface="Lato Bold"/>
                <a:sym typeface="Lato Bold"/>
              </a:rPr>
              <a:t>WORK EXPECTATIONS &amp; </a:t>
            </a:r>
          </a:p>
          <a:p>
            <a:pPr algn="l" marL="0" indent="0" lvl="0">
              <a:lnSpc>
                <a:spcPts val="4480"/>
              </a:lnSpc>
            </a:pPr>
            <a:r>
              <a:rPr lang="en-US" b="true" sz="3200" spc="160">
                <a:solidFill>
                  <a:srgbClr val="000000"/>
                </a:solidFill>
                <a:latin typeface="Lato Bold"/>
                <a:ea typeface="Lato Bold"/>
                <a:cs typeface="Lato Bold"/>
                <a:sym typeface="Lato Bold"/>
              </a:rPr>
              <a:t>DEFINITION OF DONE</a:t>
            </a:r>
          </a:p>
        </p:txBody>
      </p:sp>
      <p:sp>
        <p:nvSpPr>
          <p:cNvPr name="TextBox 6" id="6"/>
          <p:cNvSpPr txBox="true"/>
          <p:nvPr/>
        </p:nvSpPr>
        <p:spPr>
          <a:xfrm rot="0">
            <a:off x="7696261" y="1566671"/>
            <a:ext cx="8729777" cy="6045835"/>
          </a:xfrm>
          <a:prstGeom prst="rect">
            <a:avLst/>
          </a:prstGeom>
        </p:spPr>
        <p:txBody>
          <a:bodyPr anchor="t" rtlCol="false" tIns="0" lIns="0" bIns="0" rIns="0">
            <a:spAutoFit/>
          </a:bodyPr>
          <a:lstStyle/>
          <a:p>
            <a:pPr algn="l">
              <a:lnSpc>
                <a:spcPts val="3679"/>
              </a:lnSpc>
            </a:pPr>
            <a:r>
              <a:rPr lang="en-US" sz="2299" spc="229">
                <a:solidFill>
                  <a:srgbClr val="000000"/>
                </a:solidFill>
                <a:latin typeface="Lato"/>
                <a:ea typeface="Lato"/>
                <a:cs typeface="Lato"/>
                <a:sym typeface="Lato"/>
              </a:rPr>
              <a:t>Each task is considered “Done” when: </a:t>
            </a:r>
          </a:p>
          <a:p>
            <a:pPr algn="l">
              <a:lnSpc>
                <a:spcPts val="3679"/>
              </a:lnSpc>
            </a:pPr>
          </a:p>
          <a:p>
            <a:pPr algn="l">
              <a:lnSpc>
                <a:spcPts val="3679"/>
              </a:lnSpc>
            </a:pPr>
            <a:r>
              <a:rPr lang="en-US" sz="2299" spc="229">
                <a:solidFill>
                  <a:srgbClr val="000000"/>
                </a:solidFill>
                <a:latin typeface="Lato"/>
                <a:ea typeface="Lato"/>
                <a:cs typeface="Lato"/>
                <a:sym typeface="Lato"/>
              </a:rPr>
              <a:t>• It meets the agreed acceptance criteria </a:t>
            </a:r>
          </a:p>
          <a:p>
            <a:pPr algn="l">
              <a:lnSpc>
                <a:spcPts val="3679"/>
              </a:lnSpc>
            </a:pPr>
            <a:r>
              <a:rPr lang="en-US" sz="2299" spc="229">
                <a:solidFill>
                  <a:srgbClr val="000000"/>
                </a:solidFill>
                <a:latin typeface="Lato"/>
                <a:ea typeface="Lato"/>
                <a:cs typeface="Lato"/>
                <a:sym typeface="Lato"/>
              </a:rPr>
              <a:t>• It is reviewed by at least one other team member (when applicable) </a:t>
            </a:r>
          </a:p>
          <a:p>
            <a:pPr algn="l">
              <a:lnSpc>
                <a:spcPts val="3679"/>
              </a:lnSpc>
            </a:pPr>
            <a:r>
              <a:rPr lang="en-US" sz="2299" spc="229">
                <a:solidFill>
                  <a:srgbClr val="000000"/>
                </a:solidFill>
                <a:latin typeface="Lato"/>
                <a:ea typeface="Lato"/>
                <a:cs typeface="Lato"/>
                <a:sym typeface="Lato"/>
              </a:rPr>
              <a:t>• Code runs without critical errors </a:t>
            </a:r>
          </a:p>
          <a:p>
            <a:pPr algn="l">
              <a:lnSpc>
                <a:spcPts val="3679"/>
              </a:lnSpc>
            </a:pPr>
            <a:r>
              <a:rPr lang="en-US" sz="2299" spc="229">
                <a:solidFill>
                  <a:srgbClr val="000000"/>
                </a:solidFill>
                <a:latin typeface="Lato"/>
                <a:ea typeface="Lato"/>
                <a:cs typeface="Lato"/>
                <a:sym typeface="Lato"/>
              </a:rPr>
              <a:t>• Relevant documentation is updated </a:t>
            </a:r>
          </a:p>
          <a:p>
            <a:pPr algn="l">
              <a:lnSpc>
                <a:spcPts val="3679"/>
              </a:lnSpc>
            </a:pPr>
            <a:r>
              <a:rPr lang="en-US" sz="2299" spc="229">
                <a:solidFill>
                  <a:srgbClr val="000000"/>
                </a:solidFill>
                <a:latin typeface="Lato"/>
                <a:ea typeface="Lato"/>
                <a:cs typeface="Lato"/>
                <a:sym typeface="Lato"/>
              </a:rPr>
              <a:t>• Changes are committed to the shared repository </a:t>
            </a:r>
          </a:p>
          <a:p>
            <a:pPr algn="l">
              <a:lnSpc>
                <a:spcPts val="3679"/>
              </a:lnSpc>
            </a:pPr>
          </a:p>
          <a:p>
            <a:pPr algn="l">
              <a:lnSpc>
                <a:spcPts val="3679"/>
              </a:lnSpc>
            </a:pPr>
            <a:r>
              <a:rPr lang="en-US" sz="2299" spc="229">
                <a:solidFill>
                  <a:srgbClr val="000000"/>
                </a:solidFill>
                <a:latin typeface="Lato"/>
                <a:ea typeface="Lato"/>
                <a:cs typeface="Lato"/>
                <a:sym typeface="Lato"/>
              </a:rPr>
              <a:t>Team members are responsible for:</a:t>
            </a:r>
          </a:p>
          <a:p>
            <a:pPr algn="l">
              <a:lnSpc>
                <a:spcPts val="3679"/>
              </a:lnSpc>
            </a:pPr>
            <a:r>
              <a:rPr lang="en-US" sz="2299" spc="229">
                <a:solidFill>
                  <a:srgbClr val="000000"/>
                </a:solidFill>
                <a:latin typeface="Lato"/>
                <a:ea typeface="Lato"/>
                <a:cs typeface="Lato"/>
                <a:sym typeface="Lato"/>
              </a:rPr>
              <a:t>• Completing assigned work on time </a:t>
            </a:r>
          </a:p>
          <a:p>
            <a:pPr algn="l">
              <a:lnSpc>
                <a:spcPts val="3679"/>
              </a:lnSpc>
            </a:pPr>
            <a:r>
              <a:rPr lang="en-US" sz="2299" spc="229">
                <a:solidFill>
                  <a:srgbClr val="000000"/>
                </a:solidFill>
                <a:latin typeface="Lato"/>
                <a:ea typeface="Lato"/>
                <a:cs typeface="Lato"/>
                <a:sym typeface="Lato"/>
              </a:rPr>
              <a:t>• Communicating blockers early </a:t>
            </a:r>
          </a:p>
          <a:p>
            <a:pPr algn="l" marL="0" indent="0" lvl="0">
              <a:lnSpc>
                <a:spcPts val="3679"/>
              </a:lnSpc>
            </a:pPr>
            <a:r>
              <a:rPr lang="en-US" sz="2299" spc="229">
                <a:solidFill>
                  <a:srgbClr val="000000"/>
                </a:solidFill>
                <a:latin typeface="Lato"/>
                <a:ea typeface="Lato"/>
                <a:cs typeface="Lato"/>
                <a:sym typeface="Lato"/>
              </a:rPr>
              <a:t>• Supporting teammates when needed</a:t>
            </a:r>
          </a:p>
        </p:txBody>
      </p:sp>
      <p:sp>
        <p:nvSpPr>
          <p:cNvPr name="TextBox 7" id="7"/>
          <p:cNvSpPr txBox="true"/>
          <p:nvPr/>
        </p:nvSpPr>
        <p:spPr>
          <a:xfrm rot="0">
            <a:off x="759143" y="4349115"/>
            <a:ext cx="6235339" cy="1483995"/>
          </a:xfrm>
          <a:prstGeom prst="rect">
            <a:avLst/>
          </a:prstGeom>
        </p:spPr>
        <p:txBody>
          <a:bodyPr anchor="t" rtlCol="false" tIns="0" lIns="0" bIns="0" rIns="0">
            <a:spAutoFit/>
          </a:bodyPr>
          <a:lstStyle/>
          <a:p>
            <a:pPr algn="l" marL="0" indent="0" lvl="0">
              <a:lnSpc>
                <a:spcPts val="5880"/>
              </a:lnSpc>
            </a:pPr>
            <a:r>
              <a:rPr lang="en-US" b="true" sz="4200" spc="210">
                <a:solidFill>
                  <a:srgbClr val="000000"/>
                </a:solidFill>
                <a:latin typeface="Helios Extended Bold"/>
                <a:ea typeface="Helios Extended Bold"/>
                <a:cs typeface="Helios Extended Bold"/>
                <a:sym typeface="Helios Extended Bold"/>
              </a:rPr>
              <a:t>TEAM WORKING AGREEMENT </a:t>
            </a:r>
          </a:p>
        </p:txBody>
      </p:sp>
      <p:grpSp>
        <p:nvGrpSpPr>
          <p:cNvPr name="Group 8" id="8"/>
          <p:cNvGrpSpPr/>
          <p:nvPr/>
        </p:nvGrpSpPr>
        <p:grpSpPr>
          <a:xfrm rot="0">
            <a:off x="143691" y="9683062"/>
            <a:ext cx="2003497" cy="422688"/>
            <a:chOff x="0" y="0"/>
            <a:chExt cx="2671330" cy="563585"/>
          </a:xfrm>
        </p:grpSpPr>
        <p:sp>
          <p:nvSpPr>
            <p:cNvPr name="Freeform 9" id="9"/>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806369" cy="10287000"/>
            <a:chOff x="0" y="0"/>
            <a:chExt cx="1792624" cy="2709333"/>
          </a:xfrm>
        </p:grpSpPr>
        <p:sp>
          <p:nvSpPr>
            <p:cNvPr name="Freeform 3" id="3"/>
            <p:cNvSpPr/>
            <p:nvPr/>
          </p:nvSpPr>
          <p:spPr>
            <a:xfrm flipH="false" flipV="false" rot="0">
              <a:off x="0" y="0"/>
              <a:ext cx="1792624" cy="2709333"/>
            </a:xfrm>
            <a:custGeom>
              <a:avLst/>
              <a:gdLst/>
              <a:ahLst/>
              <a:cxnLst/>
              <a:rect r="r" b="b" t="t" l="l"/>
              <a:pathLst>
                <a:path h="2709333" w="1792624">
                  <a:moveTo>
                    <a:pt x="0" y="0"/>
                  </a:moveTo>
                  <a:lnTo>
                    <a:pt x="1792624" y="0"/>
                  </a:lnTo>
                  <a:lnTo>
                    <a:pt x="1792624" y="2709333"/>
                  </a:lnTo>
                  <a:lnTo>
                    <a:pt x="0" y="2709333"/>
                  </a:lnTo>
                  <a:close/>
                </a:path>
              </a:pathLst>
            </a:custGeom>
            <a:solidFill>
              <a:srgbClr val="F2F1F1">
                <a:alpha val="80000"/>
              </a:srgbClr>
            </a:solidFill>
          </p:spPr>
        </p:sp>
        <p:sp>
          <p:nvSpPr>
            <p:cNvPr name="TextBox 4" id="4"/>
            <p:cNvSpPr txBox="true"/>
            <p:nvPr/>
          </p:nvSpPr>
          <p:spPr>
            <a:xfrm>
              <a:off x="0" y="-47625"/>
              <a:ext cx="1792624" cy="2756958"/>
            </a:xfrm>
            <a:prstGeom prst="rect">
              <a:avLst/>
            </a:prstGeom>
          </p:spPr>
          <p:txBody>
            <a:bodyPr anchor="ctr" rtlCol="false" tIns="50800" lIns="50800" bIns="50800" rIns="50800"/>
            <a:lstStyle/>
            <a:p>
              <a:pPr algn="ctr">
                <a:lnSpc>
                  <a:spcPts val="3359"/>
                </a:lnSpc>
              </a:pPr>
            </a:p>
          </p:txBody>
        </p:sp>
      </p:grpSp>
      <p:sp>
        <p:nvSpPr>
          <p:cNvPr name="TextBox 5" id="5"/>
          <p:cNvSpPr txBox="true"/>
          <p:nvPr/>
        </p:nvSpPr>
        <p:spPr>
          <a:xfrm rot="0">
            <a:off x="111644" y="630556"/>
            <a:ext cx="6694725" cy="691514"/>
          </a:xfrm>
          <a:prstGeom prst="rect">
            <a:avLst/>
          </a:prstGeom>
        </p:spPr>
        <p:txBody>
          <a:bodyPr anchor="t" rtlCol="false" tIns="0" lIns="0" bIns="0" rIns="0">
            <a:spAutoFit/>
          </a:bodyPr>
          <a:lstStyle/>
          <a:p>
            <a:pPr algn="l" marL="0" indent="0" lvl="0">
              <a:lnSpc>
                <a:spcPts val="5460"/>
              </a:lnSpc>
            </a:pPr>
            <a:r>
              <a:rPr lang="en-US" b="true" sz="3900" spc="195">
                <a:solidFill>
                  <a:srgbClr val="000000"/>
                </a:solidFill>
                <a:latin typeface="Helios Extended Bold"/>
                <a:ea typeface="Helios Extended Bold"/>
                <a:cs typeface="Helios Extended Bold"/>
                <a:sym typeface="Helios Extended Bold"/>
              </a:rPr>
              <a:t>STUDENT PERSONA</a:t>
            </a:r>
          </a:p>
        </p:txBody>
      </p:sp>
      <p:sp>
        <p:nvSpPr>
          <p:cNvPr name="TextBox 6" id="6"/>
          <p:cNvSpPr txBox="true"/>
          <p:nvPr/>
        </p:nvSpPr>
        <p:spPr>
          <a:xfrm rot="0">
            <a:off x="6948851" y="579435"/>
            <a:ext cx="10716310" cy="10037445"/>
          </a:xfrm>
          <a:prstGeom prst="rect">
            <a:avLst/>
          </a:prstGeom>
        </p:spPr>
        <p:txBody>
          <a:bodyPr anchor="t" rtlCol="false" tIns="0" lIns="0" bIns="0" rIns="0">
            <a:spAutoFit/>
          </a:bodyPr>
          <a:lstStyle/>
          <a:p>
            <a:pPr algn="l">
              <a:lnSpc>
                <a:spcPts val="3360"/>
              </a:lnSpc>
            </a:pPr>
            <a:r>
              <a:rPr lang="en-US" sz="2100" spc="210" b="true">
                <a:solidFill>
                  <a:srgbClr val="000000"/>
                </a:solidFill>
                <a:latin typeface="Lato Bold"/>
                <a:ea typeface="Lato Bold"/>
                <a:cs typeface="Lato Bold"/>
                <a:sym typeface="Lato Bold"/>
              </a:rPr>
              <a:t>Age</a:t>
            </a:r>
            <a:r>
              <a:rPr lang="en-US" sz="2100" spc="210">
                <a:solidFill>
                  <a:srgbClr val="000000"/>
                </a:solidFill>
                <a:latin typeface="Lato"/>
                <a:ea typeface="Lato"/>
                <a:cs typeface="Lato"/>
                <a:sym typeface="Lato"/>
              </a:rPr>
              <a:t>: 21</a:t>
            </a:r>
          </a:p>
          <a:p>
            <a:pPr algn="l">
              <a:lnSpc>
                <a:spcPts val="3360"/>
              </a:lnSpc>
            </a:pPr>
            <a:r>
              <a:rPr lang="en-US" sz="2100" spc="210" b="true">
                <a:solidFill>
                  <a:srgbClr val="000000"/>
                </a:solidFill>
                <a:latin typeface="Lato Bold"/>
                <a:ea typeface="Lato Bold"/>
                <a:cs typeface="Lato Bold"/>
                <a:sym typeface="Lato Bold"/>
              </a:rPr>
              <a:t>Gender:</a:t>
            </a:r>
            <a:r>
              <a:rPr lang="en-US" sz="2100" spc="210">
                <a:solidFill>
                  <a:srgbClr val="000000"/>
                </a:solidFill>
                <a:latin typeface="Lato"/>
                <a:ea typeface="Lato"/>
                <a:cs typeface="Lato"/>
                <a:sym typeface="Lato"/>
              </a:rPr>
              <a:t> Female</a:t>
            </a:r>
          </a:p>
          <a:p>
            <a:pPr algn="l">
              <a:lnSpc>
                <a:spcPts val="3360"/>
              </a:lnSpc>
            </a:pPr>
            <a:r>
              <a:rPr lang="en-US" sz="2100" spc="210" b="true">
                <a:solidFill>
                  <a:srgbClr val="000000"/>
                </a:solidFill>
                <a:latin typeface="Lato Bold"/>
                <a:ea typeface="Lato Bold"/>
                <a:cs typeface="Lato Bold"/>
                <a:sym typeface="Lato Bold"/>
              </a:rPr>
              <a:t>Occupation:</a:t>
            </a:r>
            <a:r>
              <a:rPr lang="en-US" sz="2100" spc="210">
                <a:solidFill>
                  <a:srgbClr val="000000"/>
                </a:solidFill>
                <a:latin typeface="Lato"/>
                <a:ea typeface="Lato"/>
                <a:cs typeface="Lato"/>
                <a:sym typeface="Lato"/>
              </a:rPr>
              <a:t> Undergraduate Computer Science Student</a:t>
            </a:r>
          </a:p>
          <a:p>
            <a:pPr algn="l">
              <a:lnSpc>
                <a:spcPts val="3360"/>
              </a:lnSpc>
            </a:pPr>
          </a:p>
          <a:p>
            <a:pPr algn="l">
              <a:lnSpc>
                <a:spcPts val="3360"/>
              </a:lnSpc>
            </a:pPr>
            <a:r>
              <a:rPr lang="en-US" sz="2100" spc="210">
                <a:solidFill>
                  <a:srgbClr val="000000"/>
                </a:solidFill>
                <a:latin typeface="Lato"/>
                <a:ea typeface="Lato"/>
                <a:cs typeface="Lato"/>
                <a:sym typeface="Lato"/>
              </a:rPr>
              <a:t>Sarah is a full-time college student balancing coursework, part-time work, and social commitments. During exam periods, her stress levels rise significantly, but she often ignores the early warning signs of burnout. She occasionally journals but finds long entries overwhelming and inconsistent. She wants a simple way to reflect daily without spending too much time.</a:t>
            </a:r>
          </a:p>
          <a:p>
            <a:pPr algn="l">
              <a:lnSpc>
                <a:spcPts val="3360"/>
              </a:lnSpc>
            </a:pPr>
          </a:p>
          <a:p>
            <a:pPr algn="l">
              <a:lnSpc>
                <a:spcPts val="3360"/>
              </a:lnSpc>
            </a:pPr>
            <a:r>
              <a:rPr lang="en-US" sz="2100" spc="210">
                <a:solidFill>
                  <a:srgbClr val="000000"/>
                </a:solidFill>
                <a:latin typeface="Lato"/>
                <a:ea typeface="Lato"/>
                <a:cs typeface="Lato"/>
                <a:sym typeface="Lato"/>
              </a:rPr>
              <a:t>Challenges:</a:t>
            </a:r>
          </a:p>
          <a:p>
            <a:pPr algn="l" marL="453390" indent="-226695" lvl="1">
              <a:lnSpc>
                <a:spcPts val="3360"/>
              </a:lnSpc>
              <a:buFont typeface="Arial"/>
              <a:buChar char="•"/>
            </a:pPr>
            <a:r>
              <a:rPr lang="en-US" sz="2100" spc="210">
                <a:solidFill>
                  <a:srgbClr val="000000"/>
                </a:solidFill>
                <a:latin typeface="Lato"/>
                <a:ea typeface="Lato"/>
                <a:cs typeface="Lato"/>
                <a:sym typeface="Lato"/>
              </a:rPr>
              <a:t>Experiences fluctuating stress levels during the semester</a:t>
            </a:r>
          </a:p>
          <a:p>
            <a:pPr algn="l" marL="453390" indent="-226695" lvl="1">
              <a:lnSpc>
                <a:spcPts val="3360"/>
              </a:lnSpc>
              <a:buFont typeface="Arial"/>
              <a:buChar char="•"/>
            </a:pPr>
            <a:r>
              <a:rPr lang="en-US" sz="2100" spc="210">
                <a:solidFill>
                  <a:srgbClr val="000000"/>
                </a:solidFill>
                <a:latin typeface="Lato"/>
                <a:ea typeface="Lato"/>
                <a:cs typeface="Lato"/>
                <a:sym typeface="Lato"/>
              </a:rPr>
              <a:t>Inconsistent journaling habits</a:t>
            </a:r>
          </a:p>
          <a:p>
            <a:pPr algn="l" marL="453390" indent="-226695" lvl="1">
              <a:lnSpc>
                <a:spcPts val="3360"/>
              </a:lnSpc>
              <a:buFont typeface="Arial"/>
              <a:buChar char="•"/>
            </a:pPr>
            <a:r>
              <a:rPr lang="en-US" sz="2100" spc="210">
                <a:solidFill>
                  <a:srgbClr val="000000"/>
                </a:solidFill>
                <a:latin typeface="Lato"/>
                <a:ea typeface="Lato"/>
                <a:cs typeface="Lato"/>
                <a:sym typeface="Lato"/>
              </a:rPr>
              <a:t>Difficulty recognizing emotional patterns over time</a:t>
            </a:r>
          </a:p>
          <a:p>
            <a:pPr algn="l" marL="453390" indent="-226695" lvl="1">
              <a:lnSpc>
                <a:spcPts val="3360"/>
              </a:lnSpc>
              <a:buFont typeface="Arial"/>
              <a:buChar char="•"/>
            </a:pPr>
            <a:r>
              <a:rPr lang="en-US" sz="2100" spc="210">
                <a:solidFill>
                  <a:srgbClr val="000000"/>
                </a:solidFill>
                <a:latin typeface="Lato"/>
                <a:ea typeface="Lato"/>
                <a:cs typeface="Lato"/>
                <a:sym typeface="Lato"/>
              </a:rPr>
              <a:t>Feels overwhelmed during midterms and finals</a:t>
            </a:r>
          </a:p>
          <a:p>
            <a:pPr algn="l">
              <a:lnSpc>
                <a:spcPts val="3360"/>
              </a:lnSpc>
            </a:pPr>
          </a:p>
          <a:p>
            <a:pPr algn="l">
              <a:lnSpc>
                <a:spcPts val="3360"/>
              </a:lnSpc>
            </a:pPr>
            <a:r>
              <a:rPr lang="en-US" sz="2100" spc="210">
                <a:solidFill>
                  <a:srgbClr val="000000"/>
                </a:solidFill>
                <a:latin typeface="Lato"/>
                <a:ea typeface="Lato"/>
                <a:cs typeface="Lato"/>
                <a:sym typeface="Lato"/>
              </a:rPr>
              <a:t>Goals:</a:t>
            </a:r>
          </a:p>
          <a:p>
            <a:pPr algn="l" marL="453390" indent="-226695" lvl="1">
              <a:lnSpc>
                <a:spcPts val="3360"/>
              </a:lnSpc>
              <a:buFont typeface="Arial"/>
              <a:buChar char="•"/>
            </a:pPr>
            <a:r>
              <a:rPr lang="en-US" sz="2100" spc="210">
                <a:solidFill>
                  <a:srgbClr val="000000"/>
                </a:solidFill>
                <a:latin typeface="Lato"/>
                <a:ea typeface="Lato"/>
                <a:cs typeface="Lato"/>
                <a:sym typeface="Lato"/>
              </a:rPr>
              <a:t>Track emotional trends throughout the semester</a:t>
            </a:r>
          </a:p>
          <a:p>
            <a:pPr algn="l" marL="453390" indent="-226695" lvl="1">
              <a:lnSpc>
                <a:spcPts val="3360"/>
              </a:lnSpc>
              <a:buFont typeface="Arial"/>
              <a:buChar char="•"/>
            </a:pPr>
            <a:r>
              <a:rPr lang="en-US" sz="2100" spc="210">
                <a:solidFill>
                  <a:srgbClr val="000000"/>
                </a:solidFill>
                <a:latin typeface="Lato"/>
                <a:ea typeface="Lato"/>
                <a:cs typeface="Lato"/>
                <a:sym typeface="Lato"/>
              </a:rPr>
              <a:t>Identify early signs of burnout</a:t>
            </a:r>
          </a:p>
          <a:p>
            <a:pPr algn="l" marL="453390" indent="-226695" lvl="1">
              <a:lnSpc>
                <a:spcPts val="3360"/>
              </a:lnSpc>
              <a:buFont typeface="Arial"/>
              <a:buChar char="•"/>
            </a:pPr>
            <a:r>
              <a:rPr lang="en-US" sz="2100" spc="210">
                <a:solidFill>
                  <a:srgbClr val="000000"/>
                </a:solidFill>
                <a:latin typeface="Lato"/>
                <a:ea typeface="Lato"/>
                <a:cs typeface="Lato"/>
                <a:sym typeface="Lato"/>
              </a:rPr>
              <a:t>Receive short, actionable suggestions</a:t>
            </a:r>
          </a:p>
          <a:p>
            <a:pPr algn="l" marL="453390" indent="-226695" lvl="1">
              <a:lnSpc>
                <a:spcPts val="3360"/>
              </a:lnSpc>
              <a:buFont typeface="Arial"/>
              <a:buChar char="•"/>
            </a:pPr>
            <a:r>
              <a:rPr lang="en-US" sz="2100" spc="210">
                <a:solidFill>
                  <a:srgbClr val="000000"/>
                </a:solidFill>
                <a:latin typeface="Lato"/>
                <a:ea typeface="Lato"/>
                <a:cs typeface="Lato"/>
                <a:sym typeface="Lato"/>
              </a:rPr>
              <a:t>Maintain better emotional balance during academic pressure</a:t>
            </a:r>
          </a:p>
          <a:p>
            <a:pPr algn="l">
              <a:lnSpc>
                <a:spcPts val="3360"/>
              </a:lnSpc>
            </a:pPr>
          </a:p>
          <a:p>
            <a:pPr algn="l" marL="0" indent="0" lvl="0">
              <a:lnSpc>
                <a:spcPts val="3360"/>
              </a:lnSpc>
            </a:pPr>
          </a:p>
        </p:txBody>
      </p:sp>
      <p:sp>
        <p:nvSpPr>
          <p:cNvPr name="TextBox 7" id="7"/>
          <p:cNvSpPr txBox="true"/>
          <p:nvPr/>
        </p:nvSpPr>
        <p:spPr>
          <a:xfrm rot="0">
            <a:off x="6948851" y="252410"/>
            <a:ext cx="8499682" cy="412750"/>
          </a:xfrm>
          <a:prstGeom prst="rect">
            <a:avLst/>
          </a:prstGeom>
        </p:spPr>
        <p:txBody>
          <a:bodyPr anchor="t" rtlCol="false" tIns="0" lIns="0" bIns="0" rIns="0">
            <a:spAutoFit/>
          </a:bodyPr>
          <a:lstStyle/>
          <a:p>
            <a:pPr algn="l" marL="0" indent="0" lvl="0">
              <a:lnSpc>
                <a:spcPts val="3499"/>
              </a:lnSpc>
            </a:pPr>
            <a:r>
              <a:rPr lang="en-US" b="true" sz="2499" spc="249">
                <a:solidFill>
                  <a:srgbClr val="264653"/>
                </a:solidFill>
                <a:latin typeface="Heebo Bold"/>
                <a:ea typeface="Heebo Bold"/>
                <a:cs typeface="Heebo Bold"/>
                <a:sym typeface="Heebo Bold"/>
              </a:rPr>
              <a:t>NAME: SARAH MARTINEZ</a:t>
            </a:r>
          </a:p>
        </p:txBody>
      </p:sp>
      <p:grpSp>
        <p:nvGrpSpPr>
          <p:cNvPr name="Group 8" id="8"/>
          <p:cNvGrpSpPr/>
          <p:nvPr/>
        </p:nvGrpSpPr>
        <p:grpSpPr>
          <a:xfrm rot="0">
            <a:off x="-36326" y="1438124"/>
            <a:ext cx="6842696" cy="8848876"/>
            <a:chOff x="0" y="0"/>
            <a:chExt cx="1076050" cy="1391532"/>
          </a:xfrm>
        </p:grpSpPr>
        <p:sp>
          <p:nvSpPr>
            <p:cNvPr name="Freeform 9" id="9"/>
            <p:cNvSpPr/>
            <p:nvPr/>
          </p:nvSpPr>
          <p:spPr>
            <a:xfrm flipH="false" flipV="false" rot="0">
              <a:off x="0" y="0"/>
              <a:ext cx="1076050" cy="1391532"/>
            </a:xfrm>
            <a:custGeom>
              <a:avLst/>
              <a:gdLst/>
              <a:ahLst/>
              <a:cxnLst/>
              <a:rect r="r" b="b" t="t" l="l"/>
              <a:pathLst>
                <a:path h="1391532" w="1076050">
                  <a:moveTo>
                    <a:pt x="0" y="0"/>
                  </a:moveTo>
                  <a:lnTo>
                    <a:pt x="1076050" y="0"/>
                  </a:lnTo>
                  <a:lnTo>
                    <a:pt x="1076050" y="1391532"/>
                  </a:lnTo>
                  <a:lnTo>
                    <a:pt x="0" y="1391532"/>
                  </a:lnTo>
                  <a:close/>
                </a:path>
              </a:pathLst>
            </a:custGeom>
            <a:blipFill>
              <a:blip r:embed="rId2"/>
              <a:stretch>
                <a:fillRect l="-14659" t="0" r="-14659"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806369" cy="10287000"/>
            <a:chOff x="0" y="0"/>
            <a:chExt cx="1792624" cy="2709333"/>
          </a:xfrm>
        </p:grpSpPr>
        <p:sp>
          <p:nvSpPr>
            <p:cNvPr name="Freeform 3" id="3"/>
            <p:cNvSpPr/>
            <p:nvPr/>
          </p:nvSpPr>
          <p:spPr>
            <a:xfrm flipH="false" flipV="false" rot="0">
              <a:off x="0" y="0"/>
              <a:ext cx="1792624" cy="2709333"/>
            </a:xfrm>
            <a:custGeom>
              <a:avLst/>
              <a:gdLst/>
              <a:ahLst/>
              <a:cxnLst/>
              <a:rect r="r" b="b" t="t" l="l"/>
              <a:pathLst>
                <a:path h="2709333" w="1792624">
                  <a:moveTo>
                    <a:pt x="0" y="0"/>
                  </a:moveTo>
                  <a:lnTo>
                    <a:pt x="1792624" y="0"/>
                  </a:lnTo>
                  <a:lnTo>
                    <a:pt x="1792624" y="2709333"/>
                  </a:lnTo>
                  <a:lnTo>
                    <a:pt x="0" y="2709333"/>
                  </a:lnTo>
                  <a:close/>
                </a:path>
              </a:pathLst>
            </a:custGeom>
            <a:solidFill>
              <a:srgbClr val="F2F1F1">
                <a:alpha val="80000"/>
              </a:srgbClr>
            </a:solidFill>
          </p:spPr>
        </p:sp>
        <p:sp>
          <p:nvSpPr>
            <p:cNvPr name="TextBox 4" id="4"/>
            <p:cNvSpPr txBox="true"/>
            <p:nvPr/>
          </p:nvSpPr>
          <p:spPr>
            <a:xfrm>
              <a:off x="0" y="-47625"/>
              <a:ext cx="1792624" cy="2756958"/>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36326" y="1958339"/>
            <a:ext cx="6842696" cy="8205345"/>
            <a:chOff x="0" y="0"/>
            <a:chExt cx="1076050" cy="1290334"/>
          </a:xfrm>
        </p:grpSpPr>
        <p:sp>
          <p:nvSpPr>
            <p:cNvPr name="Freeform 6" id="6"/>
            <p:cNvSpPr/>
            <p:nvPr/>
          </p:nvSpPr>
          <p:spPr>
            <a:xfrm flipH="false" flipV="false" rot="0">
              <a:off x="0" y="0"/>
              <a:ext cx="1076050" cy="1290334"/>
            </a:xfrm>
            <a:custGeom>
              <a:avLst/>
              <a:gdLst/>
              <a:ahLst/>
              <a:cxnLst/>
              <a:rect r="r" b="b" t="t" l="l"/>
              <a:pathLst>
                <a:path h="1290334" w="1076050">
                  <a:moveTo>
                    <a:pt x="0" y="0"/>
                  </a:moveTo>
                  <a:lnTo>
                    <a:pt x="1076050" y="0"/>
                  </a:lnTo>
                  <a:lnTo>
                    <a:pt x="1076050" y="1290334"/>
                  </a:lnTo>
                  <a:lnTo>
                    <a:pt x="0" y="1290334"/>
                  </a:lnTo>
                  <a:close/>
                </a:path>
              </a:pathLst>
            </a:custGeom>
            <a:blipFill>
              <a:blip r:embed="rId2"/>
              <a:stretch>
                <a:fillRect l="-9956" t="0" r="-9956" b="0"/>
              </a:stretch>
            </a:blipFill>
          </p:spPr>
        </p:sp>
      </p:grpSp>
      <p:sp>
        <p:nvSpPr>
          <p:cNvPr name="TextBox 7" id="7"/>
          <p:cNvSpPr txBox="true"/>
          <p:nvPr/>
        </p:nvSpPr>
        <p:spPr>
          <a:xfrm rot="0">
            <a:off x="111644" y="-9525"/>
            <a:ext cx="6694725" cy="2063114"/>
          </a:xfrm>
          <a:prstGeom prst="rect">
            <a:avLst/>
          </a:prstGeom>
        </p:spPr>
        <p:txBody>
          <a:bodyPr anchor="t" rtlCol="false" tIns="0" lIns="0" bIns="0" rIns="0">
            <a:spAutoFit/>
          </a:bodyPr>
          <a:lstStyle/>
          <a:p>
            <a:pPr algn="l" marL="0" indent="0" lvl="0">
              <a:lnSpc>
                <a:spcPts val="5460"/>
              </a:lnSpc>
            </a:pPr>
            <a:r>
              <a:rPr lang="en-US" b="true" sz="3900" spc="195">
                <a:solidFill>
                  <a:srgbClr val="000000"/>
                </a:solidFill>
                <a:latin typeface="Helios Extended Bold"/>
                <a:ea typeface="Helios Extended Bold"/>
                <a:cs typeface="Helios Extended Bold"/>
                <a:sym typeface="Helios Extended Bold"/>
              </a:rPr>
              <a:t>WORKING PROFESSIONAL PERSONA</a:t>
            </a:r>
          </a:p>
        </p:txBody>
      </p:sp>
      <p:sp>
        <p:nvSpPr>
          <p:cNvPr name="TextBox 8" id="8"/>
          <p:cNvSpPr txBox="true"/>
          <p:nvPr/>
        </p:nvSpPr>
        <p:spPr>
          <a:xfrm rot="0">
            <a:off x="6948851" y="579435"/>
            <a:ext cx="10716310" cy="9618345"/>
          </a:xfrm>
          <a:prstGeom prst="rect">
            <a:avLst/>
          </a:prstGeom>
        </p:spPr>
        <p:txBody>
          <a:bodyPr anchor="t" rtlCol="false" tIns="0" lIns="0" bIns="0" rIns="0">
            <a:spAutoFit/>
          </a:bodyPr>
          <a:lstStyle/>
          <a:p>
            <a:pPr algn="l">
              <a:lnSpc>
                <a:spcPts val="3360"/>
              </a:lnSpc>
            </a:pPr>
            <a:r>
              <a:rPr lang="en-US" sz="2100" spc="210" b="true">
                <a:solidFill>
                  <a:srgbClr val="000000"/>
                </a:solidFill>
                <a:latin typeface="Lato Bold"/>
                <a:ea typeface="Lato Bold"/>
                <a:cs typeface="Lato Bold"/>
                <a:sym typeface="Lato Bold"/>
              </a:rPr>
              <a:t>Age:</a:t>
            </a:r>
            <a:r>
              <a:rPr lang="en-US" sz="2100" spc="210">
                <a:solidFill>
                  <a:srgbClr val="000000"/>
                </a:solidFill>
                <a:latin typeface="Lato"/>
                <a:ea typeface="Lato"/>
                <a:cs typeface="Lato"/>
                <a:sym typeface="Lato"/>
              </a:rPr>
              <a:t> 32</a:t>
            </a:r>
          </a:p>
          <a:p>
            <a:pPr algn="l">
              <a:lnSpc>
                <a:spcPts val="3360"/>
              </a:lnSpc>
            </a:pPr>
            <a:r>
              <a:rPr lang="en-US" sz="2100" spc="210">
                <a:solidFill>
                  <a:srgbClr val="000000"/>
                </a:solidFill>
                <a:latin typeface="Lato"/>
                <a:ea typeface="Lato"/>
                <a:cs typeface="Lato"/>
                <a:sym typeface="Lato"/>
              </a:rPr>
              <a:t>Gender: Male</a:t>
            </a:r>
          </a:p>
          <a:p>
            <a:pPr algn="l">
              <a:lnSpc>
                <a:spcPts val="3360"/>
              </a:lnSpc>
            </a:pPr>
            <a:r>
              <a:rPr lang="en-US" sz="2100" spc="210" b="true">
                <a:solidFill>
                  <a:srgbClr val="000000"/>
                </a:solidFill>
                <a:latin typeface="Lato Bold"/>
                <a:ea typeface="Lato Bold"/>
                <a:cs typeface="Lato Bold"/>
                <a:sym typeface="Lato Bold"/>
              </a:rPr>
              <a:t>Occupation:</a:t>
            </a:r>
            <a:r>
              <a:rPr lang="en-US" sz="2100" spc="210">
                <a:solidFill>
                  <a:srgbClr val="000000"/>
                </a:solidFill>
                <a:latin typeface="Lato"/>
                <a:ea typeface="Lato"/>
                <a:cs typeface="Lato"/>
                <a:sym typeface="Lato"/>
              </a:rPr>
              <a:t> Software Engineer</a:t>
            </a:r>
          </a:p>
          <a:p>
            <a:pPr algn="l">
              <a:lnSpc>
                <a:spcPts val="3360"/>
              </a:lnSpc>
            </a:pPr>
          </a:p>
          <a:p>
            <a:pPr algn="l">
              <a:lnSpc>
                <a:spcPts val="3360"/>
              </a:lnSpc>
            </a:pPr>
            <a:r>
              <a:rPr lang="en-US" sz="2100" spc="210">
                <a:solidFill>
                  <a:srgbClr val="000000"/>
                </a:solidFill>
                <a:latin typeface="Lato"/>
                <a:ea typeface="Lato"/>
                <a:cs typeface="Lato"/>
                <a:sym typeface="Lato"/>
              </a:rPr>
              <a:t>David works remotely for a tech company and spends most of his day attending meetings and coding. While he performs well professionally, he often feels mentally drained without clearly understanding the cause. He values productivity and self-improvement but rarely pauses to reflect on his emotional state.</a:t>
            </a:r>
          </a:p>
          <a:p>
            <a:pPr algn="l">
              <a:lnSpc>
                <a:spcPts val="3360"/>
              </a:lnSpc>
            </a:pPr>
          </a:p>
          <a:p>
            <a:pPr algn="l">
              <a:lnSpc>
                <a:spcPts val="3360"/>
              </a:lnSpc>
            </a:pPr>
            <a:r>
              <a:rPr lang="en-US" sz="2100" spc="210">
                <a:solidFill>
                  <a:srgbClr val="000000"/>
                </a:solidFill>
                <a:latin typeface="Lato"/>
                <a:ea typeface="Lato"/>
                <a:cs typeface="Lato"/>
                <a:sym typeface="Lato"/>
              </a:rPr>
              <a:t>Challenges:</a:t>
            </a:r>
          </a:p>
          <a:p>
            <a:pPr algn="l" marL="453390" indent="-226695" lvl="1">
              <a:lnSpc>
                <a:spcPts val="3360"/>
              </a:lnSpc>
              <a:buFont typeface="Arial"/>
              <a:buChar char="•"/>
            </a:pPr>
            <a:r>
              <a:rPr lang="en-US" sz="2100" spc="210">
                <a:solidFill>
                  <a:srgbClr val="000000"/>
                </a:solidFill>
                <a:latin typeface="Lato"/>
                <a:ea typeface="Lato"/>
                <a:cs typeface="Lato"/>
                <a:sym typeface="Lato"/>
              </a:rPr>
              <a:t>Blurred boundaries between work and personal life</a:t>
            </a:r>
          </a:p>
          <a:p>
            <a:pPr algn="l" marL="453390" indent="-226695" lvl="1">
              <a:lnSpc>
                <a:spcPts val="3360"/>
              </a:lnSpc>
              <a:buFont typeface="Arial"/>
              <a:buChar char="•"/>
            </a:pPr>
            <a:r>
              <a:rPr lang="en-US" sz="2100" spc="210">
                <a:solidFill>
                  <a:srgbClr val="000000"/>
                </a:solidFill>
                <a:latin typeface="Lato"/>
                <a:ea typeface="Lato"/>
                <a:cs typeface="Lato"/>
                <a:sym typeface="Lato"/>
              </a:rPr>
              <a:t>Emotional fatigue during high-pressure deadlines</a:t>
            </a:r>
          </a:p>
          <a:p>
            <a:pPr algn="l" marL="453390" indent="-226695" lvl="1">
              <a:lnSpc>
                <a:spcPts val="3360"/>
              </a:lnSpc>
              <a:buFont typeface="Arial"/>
              <a:buChar char="•"/>
            </a:pPr>
            <a:r>
              <a:rPr lang="en-US" sz="2100" spc="210">
                <a:solidFill>
                  <a:srgbClr val="000000"/>
                </a:solidFill>
                <a:latin typeface="Lato"/>
                <a:ea typeface="Lato"/>
                <a:cs typeface="Lato"/>
                <a:sym typeface="Lato"/>
              </a:rPr>
              <a:t>N</a:t>
            </a:r>
            <a:r>
              <a:rPr lang="en-US" sz="2100" spc="210">
                <a:solidFill>
                  <a:srgbClr val="000000"/>
                </a:solidFill>
                <a:latin typeface="Lato"/>
                <a:ea typeface="Lato"/>
                <a:cs typeface="Lato"/>
                <a:sym typeface="Lato"/>
              </a:rPr>
              <a:t>o structured way to monitor mood patterns</a:t>
            </a:r>
          </a:p>
          <a:p>
            <a:pPr algn="l" marL="453390" indent="-226695" lvl="1">
              <a:lnSpc>
                <a:spcPts val="3360"/>
              </a:lnSpc>
              <a:buFont typeface="Arial"/>
              <a:buChar char="•"/>
            </a:pPr>
            <a:r>
              <a:rPr lang="en-US" sz="2100" spc="210">
                <a:solidFill>
                  <a:srgbClr val="000000"/>
                </a:solidFill>
                <a:latin typeface="Lato"/>
                <a:ea typeface="Lato"/>
                <a:cs typeface="Lato"/>
                <a:sym typeface="Lato"/>
              </a:rPr>
              <a:t>Limited time for long reflection exercises</a:t>
            </a:r>
          </a:p>
          <a:p>
            <a:pPr algn="l">
              <a:lnSpc>
                <a:spcPts val="3360"/>
              </a:lnSpc>
            </a:pPr>
          </a:p>
          <a:p>
            <a:pPr algn="l">
              <a:lnSpc>
                <a:spcPts val="3360"/>
              </a:lnSpc>
            </a:pPr>
            <a:r>
              <a:rPr lang="en-US" sz="2100" spc="210">
                <a:solidFill>
                  <a:srgbClr val="000000"/>
                </a:solidFill>
                <a:latin typeface="Lato"/>
                <a:ea typeface="Lato"/>
                <a:cs typeface="Lato"/>
                <a:sym typeface="Lato"/>
              </a:rPr>
              <a:t>Goals:</a:t>
            </a:r>
          </a:p>
          <a:p>
            <a:pPr algn="l" marL="453390" indent="-226695" lvl="1">
              <a:lnSpc>
                <a:spcPts val="3360"/>
              </a:lnSpc>
              <a:buFont typeface="Arial"/>
              <a:buChar char="•"/>
            </a:pPr>
            <a:r>
              <a:rPr lang="en-US" sz="2100" spc="210">
                <a:solidFill>
                  <a:srgbClr val="000000"/>
                </a:solidFill>
                <a:latin typeface="Lato"/>
                <a:ea typeface="Lato"/>
                <a:cs typeface="Lato"/>
                <a:sym typeface="Lato"/>
              </a:rPr>
              <a:t>Understand how work stress affects his mood</a:t>
            </a:r>
          </a:p>
          <a:p>
            <a:pPr algn="l" marL="453390" indent="-226695" lvl="1">
              <a:lnSpc>
                <a:spcPts val="3360"/>
              </a:lnSpc>
              <a:buFont typeface="Arial"/>
              <a:buChar char="•"/>
            </a:pPr>
            <a:r>
              <a:rPr lang="en-US" sz="2100" spc="210">
                <a:solidFill>
                  <a:srgbClr val="000000"/>
                </a:solidFill>
                <a:latin typeface="Lato"/>
                <a:ea typeface="Lato"/>
                <a:cs typeface="Lato"/>
                <a:sym typeface="Lato"/>
              </a:rPr>
              <a:t>Monitor emotional stability over time</a:t>
            </a:r>
          </a:p>
          <a:p>
            <a:pPr algn="l" marL="453390" indent="-226695" lvl="1">
              <a:lnSpc>
                <a:spcPts val="3360"/>
              </a:lnSpc>
              <a:buFont typeface="Arial"/>
              <a:buChar char="•"/>
            </a:pPr>
            <a:r>
              <a:rPr lang="en-US" sz="2100" spc="210">
                <a:solidFill>
                  <a:srgbClr val="000000"/>
                </a:solidFill>
                <a:latin typeface="Lato"/>
                <a:ea typeface="Lato"/>
                <a:cs typeface="Lato"/>
                <a:sym typeface="Lato"/>
              </a:rPr>
              <a:t>Receive quick, data-driven insights</a:t>
            </a:r>
          </a:p>
          <a:p>
            <a:pPr algn="l" marL="453390" indent="-226695" lvl="1">
              <a:lnSpc>
                <a:spcPts val="3360"/>
              </a:lnSpc>
              <a:buFont typeface="Arial"/>
              <a:buChar char="•"/>
            </a:pPr>
            <a:r>
              <a:rPr lang="en-US" sz="2100" spc="210">
                <a:solidFill>
                  <a:srgbClr val="000000"/>
                </a:solidFill>
                <a:latin typeface="Lato"/>
                <a:ea typeface="Lato"/>
                <a:cs typeface="Lato"/>
                <a:sym typeface="Lato"/>
              </a:rPr>
              <a:t>Improve work-life balance</a:t>
            </a:r>
          </a:p>
          <a:p>
            <a:pPr algn="l">
              <a:lnSpc>
                <a:spcPts val="3360"/>
              </a:lnSpc>
            </a:pPr>
          </a:p>
          <a:p>
            <a:pPr algn="l" marL="0" indent="0" lvl="0">
              <a:lnSpc>
                <a:spcPts val="3360"/>
              </a:lnSpc>
            </a:pPr>
          </a:p>
        </p:txBody>
      </p:sp>
      <p:sp>
        <p:nvSpPr>
          <p:cNvPr name="TextBox 9" id="9"/>
          <p:cNvSpPr txBox="true"/>
          <p:nvPr/>
        </p:nvSpPr>
        <p:spPr>
          <a:xfrm rot="0">
            <a:off x="6948851" y="252410"/>
            <a:ext cx="8499682" cy="412750"/>
          </a:xfrm>
          <a:prstGeom prst="rect">
            <a:avLst/>
          </a:prstGeom>
        </p:spPr>
        <p:txBody>
          <a:bodyPr anchor="t" rtlCol="false" tIns="0" lIns="0" bIns="0" rIns="0">
            <a:spAutoFit/>
          </a:bodyPr>
          <a:lstStyle/>
          <a:p>
            <a:pPr algn="l" marL="0" indent="0" lvl="0">
              <a:lnSpc>
                <a:spcPts val="3499"/>
              </a:lnSpc>
            </a:pPr>
            <a:r>
              <a:rPr lang="en-US" b="true" sz="2499" spc="249">
                <a:solidFill>
                  <a:srgbClr val="264653"/>
                </a:solidFill>
                <a:latin typeface="Heebo Bold"/>
                <a:ea typeface="Heebo Bold"/>
                <a:cs typeface="Heebo Bold"/>
                <a:sym typeface="Heebo Bold"/>
              </a:rPr>
              <a:t>NAME: DAVID CHEN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806369" cy="10287000"/>
            <a:chOff x="0" y="0"/>
            <a:chExt cx="1792624" cy="2709333"/>
          </a:xfrm>
        </p:grpSpPr>
        <p:sp>
          <p:nvSpPr>
            <p:cNvPr name="Freeform 3" id="3"/>
            <p:cNvSpPr/>
            <p:nvPr/>
          </p:nvSpPr>
          <p:spPr>
            <a:xfrm flipH="false" flipV="false" rot="0">
              <a:off x="0" y="0"/>
              <a:ext cx="1792624" cy="2709333"/>
            </a:xfrm>
            <a:custGeom>
              <a:avLst/>
              <a:gdLst/>
              <a:ahLst/>
              <a:cxnLst/>
              <a:rect r="r" b="b" t="t" l="l"/>
              <a:pathLst>
                <a:path h="2709333" w="1792624">
                  <a:moveTo>
                    <a:pt x="0" y="0"/>
                  </a:moveTo>
                  <a:lnTo>
                    <a:pt x="1792624" y="0"/>
                  </a:lnTo>
                  <a:lnTo>
                    <a:pt x="1792624" y="2709333"/>
                  </a:lnTo>
                  <a:lnTo>
                    <a:pt x="0" y="2709333"/>
                  </a:lnTo>
                  <a:close/>
                </a:path>
              </a:pathLst>
            </a:custGeom>
            <a:solidFill>
              <a:srgbClr val="F2F1F1">
                <a:alpha val="80000"/>
              </a:srgbClr>
            </a:solidFill>
          </p:spPr>
        </p:sp>
        <p:sp>
          <p:nvSpPr>
            <p:cNvPr name="TextBox 4" id="4"/>
            <p:cNvSpPr txBox="true"/>
            <p:nvPr/>
          </p:nvSpPr>
          <p:spPr>
            <a:xfrm>
              <a:off x="0" y="-47625"/>
              <a:ext cx="1792624" cy="2756958"/>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36326" y="1958339"/>
            <a:ext cx="6842696" cy="8205345"/>
            <a:chOff x="0" y="0"/>
            <a:chExt cx="1076050" cy="1290334"/>
          </a:xfrm>
        </p:grpSpPr>
        <p:sp>
          <p:nvSpPr>
            <p:cNvPr name="Freeform 6" id="6"/>
            <p:cNvSpPr/>
            <p:nvPr/>
          </p:nvSpPr>
          <p:spPr>
            <a:xfrm flipH="false" flipV="false" rot="0">
              <a:off x="0" y="0"/>
              <a:ext cx="1076050" cy="1290334"/>
            </a:xfrm>
            <a:custGeom>
              <a:avLst/>
              <a:gdLst/>
              <a:ahLst/>
              <a:cxnLst/>
              <a:rect r="r" b="b" t="t" l="l"/>
              <a:pathLst>
                <a:path h="1290334" w="1076050">
                  <a:moveTo>
                    <a:pt x="0" y="0"/>
                  </a:moveTo>
                  <a:lnTo>
                    <a:pt x="1076050" y="0"/>
                  </a:lnTo>
                  <a:lnTo>
                    <a:pt x="1076050" y="1290334"/>
                  </a:lnTo>
                  <a:lnTo>
                    <a:pt x="0" y="1290334"/>
                  </a:lnTo>
                  <a:close/>
                </a:path>
              </a:pathLst>
            </a:custGeom>
            <a:blipFill>
              <a:blip r:embed="rId2"/>
              <a:stretch>
                <a:fillRect l="-6556" t="0" r="-6556" b="0"/>
              </a:stretch>
            </a:blipFill>
          </p:spPr>
        </p:sp>
      </p:grpSp>
      <p:sp>
        <p:nvSpPr>
          <p:cNvPr name="TextBox 7" id="7"/>
          <p:cNvSpPr txBox="true"/>
          <p:nvPr/>
        </p:nvSpPr>
        <p:spPr>
          <a:xfrm rot="0">
            <a:off x="111644" y="287656"/>
            <a:ext cx="6694725" cy="1377314"/>
          </a:xfrm>
          <a:prstGeom prst="rect">
            <a:avLst/>
          </a:prstGeom>
        </p:spPr>
        <p:txBody>
          <a:bodyPr anchor="t" rtlCol="false" tIns="0" lIns="0" bIns="0" rIns="0">
            <a:spAutoFit/>
          </a:bodyPr>
          <a:lstStyle/>
          <a:p>
            <a:pPr algn="l" marL="0" indent="0" lvl="0">
              <a:lnSpc>
                <a:spcPts val="5460"/>
              </a:lnSpc>
            </a:pPr>
            <a:r>
              <a:rPr lang="en-US" b="true" sz="3900" spc="195">
                <a:solidFill>
                  <a:srgbClr val="000000"/>
                </a:solidFill>
                <a:latin typeface="Helios Extended Bold"/>
                <a:ea typeface="Helios Extended Bold"/>
                <a:cs typeface="Helios Extended Bold"/>
                <a:sym typeface="Helios Extended Bold"/>
              </a:rPr>
              <a:t>WORKING PARENT PERSONA</a:t>
            </a:r>
          </a:p>
        </p:txBody>
      </p:sp>
      <p:sp>
        <p:nvSpPr>
          <p:cNvPr name="TextBox 8" id="8"/>
          <p:cNvSpPr txBox="true"/>
          <p:nvPr/>
        </p:nvSpPr>
        <p:spPr>
          <a:xfrm rot="0">
            <a:off x="6948851" y="579435"/>
            <a:ext cx="10716310" cy="8780145"/>
          </a:xfrm>
          <a:prstGeom prst="rect">
            <a:avLst/>
          </a:prstGeom>
        </p:spPr>
        <p:txBody>
          <a:bodyPr anchor="t" rtlCol="false" tIns="0" lIns="0" bIns="0" rIns="0">
            <a:spAutoFit/>
          </a:bodyPr>
          <a:lstStyle/>
          <a:p>
            <a:pPr algn="l">
              <a:lnSpc>
                <a:spcPts val="3360"/>
              </a:lnSpc>
            </a:pPr>
            <a:r>
              <a:rPr lang="en-US" sz="2100" spc="210" b="true">
                <a:solidFill>
                  <a:srgbClr val="000000"/>
                </a:solidFill>
                <a:latin typeface="Lato Bold"/>
                <a:ea typeface="Lato Bold"/>
                <a:cs typeface="Lato Bold"/>
                <a:sym typeface="Lato Bold"/>
              </a:rPr>
              <a:t>Age:</a:t>
            </a:r>
            <a:r>
              <a:rPr lang="en-US" sz="2100" spc="210">
                <a:solidFill>
                  <a:srgbClr val="000000"/>
                </a:solidFill>
                <a:latin typeface="Lato"/>
                <a:ea typeface="Lato"/>
                <a:cs typeface="Lato"/>
                <a:sym typeface="Lato"/>
              </a:rPr>
              <a:t> 40</a:t>
            </a:r>
          </a:p>
          <a:p>
            <a:pPr algn="l">
              <a:lnSpc>
                <a:spcPts val="3360"/>
              </a:lnSpc>
            </a:pPr>
            <a:r>
              <a:rPr lang="en-US" sz="2100" spc="210" b="true">
                <a:solidFill>
                  <a:srgbClr val="000000"/>
                </a:solidFill>
                <a:latin typeface="Lato Bold"/>
                <a:ea typeface="Lato Bold"/>
                <a:cs typeface="Lato Bold"/>
                <a:sym typeface="Lato Bold"/>
              </a:rPr>
              <a:t>Gender:</a:t>
            </a:r>
            <a:r>
              <a:rPr lang="en-US" sz="2100" spc="210">
                <a:solidFill>
                  <a:srgbClr val="000000"/>
                </a:solidFill>
                <a:latin typeface="Lato"/>
                <a:ea typeface="Lato"/>
                <a:cs typeface="Lato"/>
                <a:sym typeface="Lato"/>
              </a:rPr>
              <a:t> Female</a:t>
            </a:r>
          </a:p>
          <a:p>
            <a:pPr algn="l">
              <a:lnSpc>
                <a:spcPts val="3360"/>
              </a:lnSpc>
            </a:pPr>
            <a:r>
              <a:rPr lang="en-US" sz="2100" spc="210" b="true">
                <a:solidFill>
                  <a:srgbClr val="000000"/>
                </a:solidFill>
                <a:latin typeface="Lato Bold"/>
                <a:ea typeface="Lato Bold"/>
                <a:cs typeface="Lato Bold"/>
                <a:sym typeface="Lato Bold"/>
              </a:rPr>
              <a:t>Occupation:</a:t>
            </a:r>
            <a:r>
              <a:rPr lang="en-US" sz="2100" spc="210">
                <a:solidFill>
                  <a:srgbClr val="000000"/>
                </a:solidFill>
                <a:latin typeface="Lato"/>
                <a:ea typeface="Lato"/>
                <a:cs typeface="Lato"/>
                <a:sym typeface="Lato"/>
              </a:rPr>
              <a:t> HR Manager</a:t>
            </a:r>
          </a:p>
          <a:p>
            <a:pPr algn="l">
              <a:lnSpc>
                <a:spcPts val="3360"/>
              </a:lnSpc>
            </a:pPr>
          </a:p>
          <a:p>
            <a:pPr algn="l">
              <a:lnSpc>
                <a:spcPts val="3360"/>
              </a:lnSpc>
            </a:pPr>
            <a:r>
              <a:rPr lang="en-US" sz="2100" spc="210">
                <a:solidFill>
                  <a:srgbClr val="000000"/>
                </a:solidFill>
                <a:latin typeface="Lato"/>
                <a:ea typeface="Lato"/>
                <a:cs typeface="Lato"/>
                <a:sym typeface="Lato"/>
              </a:rPr>
              <a:t>Emiliy</a:t>
            </a:r>
            <a:r>
              <a:rPr lang="en-US" sz="2100" spc="210">
                <a:solidFill>
                  <a:srgbClr val="000000"/>
                </a:solidFill>
                <a:latin typeface="Lato"/>
                <a:ea typeface="Lato"/>
                <a:cs typeface="Lato"/>
                <a:sym typeface="Lato"/>
              </a:rPr>
              <a:t> balances a demanding job with parenting responsibilities. Her schedule leaves little time for self-reflection, yet she recognizes the importance of emotional awareness. She often feels emotionally exhausted but cannot clearly identify triggers or patterns. She prefers simple, easy-to-use digital tools.</a:t>
            </a:r>
          </a:p>
          <a:p>
            <a:pPr algn="l">
              <a:lnSpc>
                <a:spcPts val="3360"/>
              </a:lnSpc>
            </a:pPr>
          </a:p>
          <a:p>
            <a:pPr algn="l">
              <a:lnSpc>
                <a:spcPts val="3360"/>
              </a:lnSpc>
            </a:pPr>
            <a:r>
              <a:rPr lang="en-US" sz="2100" spc="210">
                <a:solidFill>
                  <a:srgbClr val="000000"/>
                </a:solidFill>
                <a:latin typeface="Lato"/>
                <a:ea typeface="Lato"/>
                <a:cs typeface="Lato"/>
                <a:sym typeface="Lato"/>
              </a:rPr>
              <a:t>Challenges:</a:t>
            </a:r>
          </a:p>
          <a:p>
            <a:pPr algn="l" marL="453390" indent="-226695" lvl="1">
              <a:lnSpc>
                <a:spcPts val="3360"/>
              </a:lnSpc>
              <a:buFont typeface="Arial"/>
              <a:buChar char="•"/>
            </a:pPr>
            <a:r>
              <a:rPr lang="en-US" sz="2100" spc="210">
                <a:solidFill>
                  <a:srgbClr val="000000"/>
                </a:solidFill>
                <a:latin typeface="Lato"/>
                <a:ea typeface="Lato"/>
                <a:cs typeface="Lato"/>
                <a:sym typeface="Lato"/>
              </a:rPr>
              <a:t>Limited time for lengthy journaling</a:t>
            </a:r>
          </a:p>
          <a:p>
            <a:pPr algn="l" marL="453390" indent="-226695" lvl="1">
              <a:lnSpc>
                <a:spcPts val="3360"/>
              </a:lnSpc>
              <a:buFont typeface="Arial"/>
              <a:buChar char="•"/>
            </a:pPr>
            <a:r>
              <a:rPr lang="en-US" sz="2100" spc="210">
                <a:solidFill>
                  <a:srgbClr val="000000"/>
                </a:solidFill>
                <a:latin typeface="Lato"/>
                <a:ea typeface="Lato"/>
                <a:cs typeface="Lato"/>
                <a:sym typeface="Lato"/>
              </a:rPr>
              <a:t>Emotional fatigue from multitasking responsibilities</a:t>
            </a:r>
          </a:p>
          <a:p>
            <a:pPr algn="l" marL="453390" indent="-226695" lvl="1">
              <a:lnSpc>
                <a:spcPts val="3360"/>
              </a:lnSpc>
              <a:buFont typeface="Arial"/>
              <a:buChar char="•"/>
            </a:pPr>
            <a:r>
              <a:rPr lang="en-US" sz="2100" spc="210">
                <a:solidFill>
                  <a:srgbClr val="000000"/>
                </a:solidFill>
                <a:latin typeface="Lato"/>
                <a:ea typeface="Lato"/>
                <a:cs typeface="Lato"/>
                <a:sym typeface="Lato"/>
              </a:rPr>
              <a:t>Difficulty identifying emotional triggers</a:t>
            </a:r>
          </a:p>
          <a:p>
            <a:pPr algn="l" marL="453390" indent="-226695" lvl="1">
              <a:lnSpc>
                <a:spcPts val="3360"/>
              </a:lnSpc>
              <a:buFont typeface="Arial"/>
              <a:buChar char="•"/>
            </a:pPr>
            <a:r>
              <a:rPr lang="en-US" sz="2100" spc="210">
                <a:solidFill>
                  <a:srgbClr val="000000"/>
                </a:solidFill>
                <a:latin typeface="Lato"/>
                <a:ea typeface="Lato"/>
                <a:cs typeface="Lato"/>
                <a:sym typeface="Lato"/>
              </a:rPr>
              <a:t>Wants non-clinical, supportive guidance</a:t>
            </a:r>
          </a:p>
          <a:p>
            <a:pPr algn="l">
              <a:lnSpc>
                <a:spcPts val="3360"/>
              </a:lnSpc>
            </a:pPr>
          </a:p>
          <a:p>
            <a:pPr algn="l">
              <a:lnSpc>
                <a:spcPts val="3360"/>
              </a:lnSpc>
            </a:pPr>
            <a:r>
              <a:rPr lang="en-US" sz="2100" spc="210">
                <a:solidFill>
                  <a:srgbClr val="000000"/>
                </a:solidFill>
                <a:latin typeface="Lato"/>
                <a:ea typeface="Lato"/>
                <a:cs typeface="Lato"/>
                <a:sym typeface="Lato"/>
              </a:rPr>
              <a:t>Goals:</a:t>
            </a:r>
          </a:p>
          <a:p>
            <a:pPr algn="l" marL="453390" indent="-226695" lvl="1">
              <a:lnSpc>
                <a:spcPts val="3360"/>
              </a:lnSpc>
              <a:buFont typeface="Arial"/>
              <a:buChar char="•"/>
            </a:pPr>
            <a:r>
              <a:rPr lang="en-US" sz="2100" spc="210">
                <a:solidFill>
                  <a:srgbClr val="000000"/>
                </a:solidFill>
                <a:latin typeface="Lato"/>
                <a:ea typeface="Lato"/>
                <a:cs typeface="Lato"/>
                <a:sym typeface="Lato"/>
              </a:rPr>
              <a:t>Build daily emotional awareness</a:t>
            </a:r>
          </a:p>
          <a:p>
            <a:pPr algn="l" marL="453390" indent="-226695" lvl="1">
              <a:lnSpc>
                <a:spcPts val="3360"/>
              </a:lnSpc>
              <a:buFont typeface="Arial"/>
              <a:buChar char="•"/>
            </a:pPr>
            <a:r>
              <a:rPr lang="en-US" sz="2100" spc="210">
                <a:solidFill>
                  <a:srgbClr val="000000"/>
                </a:solidFill>
                <a:latin typeface="Lato"/>
                <a:ea typeface="Lato"/>
                <a:cs typeface="Lato"/>
                <a:sym typeface="Lato"/>
              </a:rPr>
              <a:t>Identify patterns in stress levels</a:t>
            </a:r>
          </a:p>
          <a:p>
            <a:pPr algn="l" marL="453390" indent="-226695" lvl="1">
              <a:lnSpc>
                <a:spcPts val="3360"/>
              </a:lnSpc>
              <a:buFont typeface="Arial"/>
              <a:buChar char="•"/>
            </a:pPr>
            <a:r>
              <a:rPr lang="en-US" sz="2100" spc="210">
                <a:solidFill>
                  <a:srgbClr val="000000"/>
                </a:solidFill>
                <a:latin typeface="Lato"/>
                <a:ea typeface="Lato"/>
                <a:cs typeface="Lato"/>
                <a:sym typeface="Lato"/>
              </a:rPr>
              <a:t>Receive manageable well-being suggestions</a:t>
            </a:r>
          </a:p>
          <a:p>
            <a:pPr algn="l" marL="453390" indent="-226695" lvl="1">
              <a:lnSpc>
                <a:spcPts val="3360"/>
              </a:lnSpc>
              <a:buFont typeface="Arial"/>
              <a:buChar char="•"/>
            </a:pPr>
            <a:r>
              <a:rPr lang="en-US" sz="2100" spc="210">
                <a:solidFill>
                  <a:srgbClr val="000000"/>
                </a:solidFill>
                <a:latin typeface="Lato"/>
                <a:ea typeface="Lato"/>
                <a:cs typeface="Lato"/>
                <a:sym typeface="Lato"/>
              </a:rPr>
              <a:t>Maintain emotional stability for herself and her family</a:t>
            </a:r>
          </a:p>
        </p:txBody>
      </p:sp>
      <p:sp>
        <p:nvSpPr>
          <p:cNvPr name="TextBox 9" id="9"/>
          <p:cNvSpPr txBox="true"/>
          <p:nvPr/>
        </p:nvSpPr>
        <p:spPr>
          <a:xfrm rot="0">
            <a:off x="6948851" y="252410"/>
            <a:ext cx="8499682" cy="412750"/>
          </a:xfrm>
          <a:prstGeom prst="rect">
            <a:avLst/>
          </a:prstGeom>
        </p:spPr>
        <p:txBody>
          <a:bodyPr anchor="t" rtlCol="false" tIns="0" lIns="0" bIns="0" rIns="0">
            <a:spAutoFit/>
          </a:bodyPr>
          <a:lstStyle/>
          <a:p>
            <a:pPr algn="l" marL="0" indent="0" lvl="0">
              <a:lnSpc>
                <a:spcPts val="3499"/>
              </a:lnSpc>
            </a:pPr>
            <a:r>
              <a:rPr lang="en-US" b="true" sz="2499" spc="249">
                <a:solidFill>
                  <a:srgbClr val="264653"/>
                </a:solidFill>
                <a:latin typeface="Heebo Bold"/>
                <a:ea typeface="Heebo Bold"/>
                <a:cs typeface="Heebo Bold"/>
                <a:sym typeface="Heebo Bold"/>
              </a:rPr>
              <a:t>NAME: EMILY PETERSON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806369" cy="10287000"/>
            <a:chOff x="0" y="0"/>
            <a:chExt cx="1792624" cy="2709333"/>
          </a:xfrm>
        </p:grpSpPr>
        <p:sp>
          <p:nvSpPr>
            <p:cNvPr name="Freeform 3" id="3"/>
            <p:cNvSpPr/>
            <p:nvPr/>
          </p:nvSpPr>
          <p:spPr>
            <a:xfrm flipH="false" flipV="false" rot="0">
              <a:off x="0" y="0"/>
              <a:ext cx="1792624" cy="2709333"/>
            </a:xfrm>
            <a:custGeom>
              <a:avLst/>
              <a:gdLst/>
              <a:ahLst/>
              <a:cxnLst/>
              <a:rect r="r" b="b" t="t" l="l"/>
              <a:pathLst>
                <a:path h="2709333" w="1792624">
                  <a:moveTo>
                    <a:pt x="0" y="0"/>
                  </a:moveTo>
                  <a:lnTo>
                    <a:pt x="1792624" y="0"/>
                  </a:lnTo>
                  <a:lnTo>
                    <a:pt x="1792624" y="2709333"/>
                  </a:lnTo>
                  <a:lnTo>
                    <a:pt x="0" y="2709333"/>
                  </a:lnTo>
                  <a:close/>
                </a:path>
              </a:pathLst>
            </a:custGeom>
            <a:solidFill>
              <a:srgbClr val="F2F1F1">
                <a:alpha val="80000"/>
              </a:srgbClr>
            </a:solidFill>
          </p:spPr>
        </p:sp>
        <p:sp>
          <p:nvSpPr>
            <p:cNvPr name="TextBox 4" id="4"/>
            <p:cNvSpPr txBox="true"/>
            <p:nvPr/>
          </p:nvSpPr>
          <p:spPr>
            <a:xfrm>
              <a:off x="0" y="-47625"/>
              <a:ext cx="1792624" cy="2756958"/>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36326" y="1958339"/>
            <a:ext cx="6842696" cy="8205345"/>
            <a:chOff x="0" y="0"/>
            <a:chExt cx="1076050" cy="1290334"/>
          </a:xfrm>
        </p:grpSpPr>
        <p:sp>
          <p:nvSpPr>
            <p:cNvPr name="Freeform 6" id="6"/>
            <p:cNvSpPr/>
            <p:nvPr/>
          </p:nvSpPr>
          <p:spPr>
            <a:xfrm flipH="false" flipV="false" rot="0">
              <a:off x="0" y="0"/>
              <a:ext cx="1076050" cy="1290334"/>
            </a:xfrm>
            <a:custGeom>
              <a:avLst/>
              <a:gdLst/>
              <a:ahLst/>
              <a:cxnLst/>
              <a:rect r="r" b="b" t="t" l="l"/>
              <a:pathLst>
                <a:path h="1290334" w="1076050">
                  <a:moveTo>
                    <a:pt x="0" y="0"/>
                  </a:moveTo>
                  <a:lnTo>
                    <a:pt x="1076050" y="0"/>
                  </a:lnTo>
                  <a:lnTo>
                    <a:pt x="1076050" y="1290334"/>
                  </a:lnTo>
                  <a:lnTo>
                    <a:pt x="0" y="1290334"/>
                  </a:lnTo>
                  <a:close/>
                </a:path>
              </a:pathLst>
            </a:custGeom>
            <a:blipFill>
              <a:blip r:embed="rId2"/>
              <a:stretch>
                <a:fillRect l="-6504" t="0" r="-6504" b="0"/>
              </a:stretch>
            </a:blipFill>
          </p:spPr>
        </p:sp>
      </p:grpSp>
      <p:sp>
        <p:nvSpPr>
          <p:cNvPr name="TextBox 7" id="7"/>
          <p:cNvSpPr txBox="true"/>
          <p:nvPr/>
        </p:nvSpPr>
        <p:spPr>
          <a:xfrm rot="0">
            <a:off x="111644" y="-9525"/>
            <a:ext cx="6694725" cy="2063114"/>
          </a:xfrm>
          <a:prstGeom prst="rect">
            <a:avLst/>
          </a:prstGeom>
        </p:spPr>
        <p:txBody>
          <a:bodyPr anchor="t" rtlCol="false" tIns="0" lIns="0" bIns="0" rIns="0">
            <a:spAutoFit/>
          </a:bodyPr>
          <a:lstStyle/>
          <a:p>
            <a:pPr algn="l" marL="0" indent="0" lvl="0">
              <a:lnSpc>
                <a:spcPts val="5460"/>
              </a:lnSpc>
            </a:pPr>
            <a:r>
              <a:rPr lang="en-US" b="true" sz="3900" spc="195">
                <a:solidFill>
                  <a:srgbClr val="000000"/>
                </a:solidFill>
                <a:latin typeface="Helios Extended Bold"/>
                <a:ea typeface="Helios Extended Bold"/>
                <a:cs typeface="Helios Extended Bold"/>
                <a:sym typeface="Helios Extended Bold"/>
              </a:rPr>
              <a:t>SELF-IMPROVEMENT ENTHUSIAST PERSONA</a:t>
            </a:r>
          </a:p>
        </p:txBody>
      </p:sp>
      <p:sp>
        <p:nvSpPr>
          <p:cNvPr name="TextBox 8" id="8"/>
          <p:cNvSpPr txBox="true"/>
          <p:nvPr/>
        </p:nvSpPr>
        <p:spPr>
          <a:xfrm rot="0">
            <a:off x="6939326" y="579435"/>
            <a:ext cx="10716310" cy="8361045"/>
          </a:xfrm>
          <a:prstGeom prst="rect">
            <a:avLst/>
          </a:prstGeom>
        </p:spPr>
        <p:txBody>
          <a:bodyPr anchor="t" rtlCol="false" tIns="0" lIns="0" bIns="0" rIns="0">
            <a:spAutoFit/>
          </a:bodyPr>
          <a:lstStyle/>
          <a:p>
            <a:pPr algn="l">
              <a:lnSpc>
                <a:spcPts val="3360"/>
              </a:lnSpc>
            </a:pPr>
            <a:r>
              <a:rPr lang="en-US" sz="2100" spc="210" b="true">
                <a:solidFill>
                  <a:srgbClr val="000000"/>
                </a:solidFill>
                <a:latin typeface="Lato Bold"/>
                <a:ea typeface="Lato Bold"/>
                <a:cs typeface="Lato Bold"/>
                <a:sym typeface="Lato Bold"/>
              </a:rPr>
              <a:t>Age:</a:t>
            </a:r>
            <a:r>
              <a:rPr lang="en-US" sz="2100" spc="210">
                <a:solidFill>
                  <a:srgbClr val="000000"/>
                </a:solidFill>
                <a:latin typeface="Lato"/>
                <a:ea typeface="Lato"/>
                <a:cs typeface="Lato"/>
                <a:sym typeface="Lato"/>
              </a:rPr>
              <a:t> 27</a:t>
            </a:r>
          </a:p>
          <a:p>
            <a:pPr algn="l">
              <a:lnSpc>
                <a:spcPts val="3360"/>
              </a:lnSpc>
            </a:pPr>
            <a:r>
              <a:rPr lang="en-US" sz="2100" spc="210" b="true">
                <a:solidFill>
                  <a:srgbClr val="000000"/>
                </a:solidFill>
                <a:latin typeface="Lato Bold"/>
                <a:ea typeface="Lato Bold"/>
                <a:cs typeface="Lato Bold"/>
                <a:sym typeface="Lato Bold"/>
              </a:rPr>
              <a:t>Gender:</a:t>
            </a:r>
            <a:r>
              <a:rPr lang="en-US" sz="2100" spc="210">
                <a:solidFill>
                  <a:srgbClr val="000000"/>
                </a:solidFill>
                <a:latin typeface="Lato"/>
                <a:ea typeface="Lato"/>
                <a:cs typeface="Lato"/>
                <a:sym typeface="Lato"/>
              </a:rPr>
              <a:t> Male</a:t>
            </a:r>
          </a:p>
          <a:p>
            <a:pPr algn="l">
              <a:lnSpc>
                <a:spcPts val="3360"/>
              </a:lnSpc>
            </a:pPr>
            <a:r>
              <a:rPr lang="en-US" sz="2100" spc="210" b="true">
                <a:solidFill>
                  <a:srgbClr val="000000"/>
                </a:solidFill>
                <a:latin typeface="Lato Bold"/>
                <a:ea typeface="Lato Bold"/>
                <a:cs typeface="Lato Bold"/>
                <a:sym typeface="Lato Bold"/>
              </a:rPr>
              <a:t>Occupation:</a:t>
            </a:r>
            <a:r>
              <a:rPr lang="en-US" sz="2100" spc="210">
                <a:solidFill>
                  <a:srgbClr val="000000"/>
                </a:solidFill>
                <a:latin typeface="Lato"/>
                <a:ea typeface="Lato"/>
                <a:cs typeface="Lato"/>
                <a:sym typeface="Lato"/>
              </a:rPr>
              <a:t> Fitness Coach</a:t>
            </a:r>
          </a:p>
          <a:p>
            <a:pPr algn="l">
              <a:lnSpc>
                <a:spcPts val="3360"/>
              </a:lnSpc>
            </a:pPr>
          </a:p>
          <a:p>
            <a:pPr algn="l">
              <a:lnSpc>
                <a:spcPts val="3360"/>
              </a:lnSpc>
            </a:pPr>
            <a:r>
              <a:rPr lang="en-US" sz="2100" spc="210">
                <a:solidFill>
                  <a:srgbClr val="000000"/>
                </a:solidFill>
                <a:latin typeface="Lato"/>
                <a:ea typeface="Lato"/>
                <a:cs typeface="Lato"/>
                <a:sym typeface="Lato"/>
              </a:rPr>
              <a:t>Alex actively tracks his workouts, sleep cycles, and productivity habits. He believes emotional well-being is just as important as physical health but lacks a structured system to measure it. He is interested in data-driven insights and enjoys tools that provide analytics and visualizations.</a:t>
            </a:r>
          </a:p>
          <a:p>
            <a:pPr algn="l">
              <a:lnSpc>
                <a:spcPts val="3360"/>
              </a:lnSpc>
            </a:pPr>
          </a:p>
          <a:p>
            <a:pPr algn="l">
              <a:lnSpc>
                <a:spcPts val="3360"/>
              </a:lnSpc>
            </a:pPr>
            <a:r>
              <a:rPr lang="en-US" sz="2100" spc="210">
                <a:solidFill>
                  <a:srgbClr val="000000"/>
                </a:solidFill>
                <a:latin typeface="Lato"/>
                <a:ea typeface="Lato"/>
                <a:cs typeface="Lato"/>
                <a:sym typeface="Lato"/>
              </a:rPr>
              <a:t>Challenges:</a:t>
            </a:r>
          </a:p>
          <a:p>
            <a:pPr algn="l" marL="453390" indent="-226695" lvl="1">
              <a:lnSpc>
                <a:spcPts val="3360"/>
              </a:lnSpc>
              <a:buFont typeface="Arial"/>
              <a:buChar char="•"/>
            </a:pPr>
            <a:r>
              <a:rPr lang="en-US" sz="2100" spc="210">
                <a:solidFill>
                  <a:srgbClr val="000000"/>
                </a:solidFill>
                <a:latin typeface="Lato"/>
                <a:ea typeface="Lato"/>
                <a:cs typeface="Lato"/>
                <a:sym typeface="Lato"/>
              </a:rPr>
              <a:t>Journaling apps provide no analytical insights</a:t>
            </a:r>
          </a:p>
          <a:p>
            <a:pPr algn="l" marL="453390" indent="-226695" lvl="1">
              <a:lnSpc>
                <a:spcPts val="3360"/>
              </a:lnSpc>
              <a:buFont typeface="Arial"/>
              <a:buChar char="•"/>
            </a:pPr>
            <a:r>
              <a:rPr lang="en-US" sz="2100" spc="210">
                <a:solidFill>
                  <a:srgbClr val="000000"/>
                </a:solidFill>
                <a:latin typeface="Lato"/>
                <a:ea typeface="Lato"/>
                <a:cs typeface="Lato"/>
                <a:sym typeface="Lato"/>
              </a:rPr>
              <a:t>No measurable way to track emotional consistency</a:t>
            </a:r>
          </a:p>
          <a:p>
            <a:pPr algn="l" marL="453390" indent="-226695" lvl="1">
              <a:lnSpc>
                <a:spcPts val="3360"/>
              </a:lnSpc>
              <a:buFont typeface="Arial"/>
              <a:buChar char="•"/>
            </a:pPr>
            <a:r>
              <a:rPr lang="en-US" sz="2100" spc="210">
                <a:solidFill>
                  <a:srgbClr val="000000"/>
                </a:solidFill>
                <a:latin typeface="Lato"/>
                <a:ea typeface="Lato"/>
                <a:cs typeface="Lato"/>
                <a:sym typeface="Lato"/>
              </a:rPr>
              <a:t>Wants deeper pattern recognition</a:t>
            </a:r>
          </a:p>
          <a:p>
            <a:pPr algn="l" marL="453390" indent="-226695" lvl="1">
              <a:lnSpc>
                <a:spcPts val="3360"/>
              </a:lnSpc>
              <a:buFont typeface="Arial"/>
              <a:buChar char="•"/>
            </a:pPr>
            <a:r>
              <a:rPr lang="en-US" sz="2100" spc="210">
                <a:solidFill>
                  <a:srgbClr val="000000"/>
                </a:solidFill>
                <a:latin typeface="Lato"/>
                <a:ea typeface="Lato"/>
                <a:cs typeface="Lato"/>
                <a:sym typeface="Lato"/>
              </a:rPr>
              <a:t>Prefers technology-backed recommendations</a:t>
            </a:r>
          </a:p>
          <a:p>
            <a:pPr algn="l">
              <a:lnSpc>
                <a:spcPts val="3360"/>
              </a:lnSpc>
            </a:pPr>
          </a:p>
          <a:p>
            <a:pPr algn="l">
              <a:lnSpc>
                <a:spcPts val="3360"/>
              </a:lnSpc>
            </a:pPr>
            <a:r>
              <a:rPr lang="en-US" sz="2100" spc="210">
                <a:solidFill>
                  <a:srgbClr val="000000"/>
                </a:solidFill>
                <a:latin typeface="Lato"/>
                <a:ea typeface="Lato"/>
                <a:cs typeface="Lato"/>
                <a:sym typeface="Lato"/>
              </a:rPr>
              <a:t>Goals:</a:t>
            </a:r>
          </a:p>
          <a:p>
            <a:pPr algn="l" marL="453390" indent="-226695" lvl="1">
              <a:lnSpc>
                <a:spcPts val="3360"/>
              </a:lnSpc>
              <a:buFont typeface="Arial"/>
              <a:buChar char="•"/>
            </a:pPr>
            <a:r>
              <a:rPr lang="en-US" sz="2100" spc="210">
                <a:solidFill>
                  <a:srgbClr val="000000"/>
                </a:solidFill>
                <a:latin typeface="Lato"/>
                <a:ea typeface="Lato"/>
                <a:cs typeface="Lato"/>
                <a:sym typeface="Lato"/>
              </a:rPr>
              <a:t>Quantify emotional trends</a:t>
            </a:r>
          </a:p>
          <a:p>
            <a:pPr algn="l" marL="453390" indent="-226695" lvl="1">
              <a:lnSpc>
                <a:spcPts val="3360"/>
              </a:lnSpc>
              <a:buFont typeface="Arial"/>
              <a:buChar char="•"/>
            </a:pPr>
            <a:r>
              <a:rPr lang="en-US" sz="2100" spc="210">
                <a:solidFill>
                  <a:srgbClr val="000000"/>
                </a:solidFill>
                <a:latin typeface="Lato"/>
                <a:ea typeface="Lato"/>
                <a:cs typeface="Lato"/>
                <a:sym typeface="Lato"/>
              </a:rPr>
              <a:t>Compare mood ratings with AI sentiment analysis</a:t>
            </a:r>
          </a:p>
          <a:p>
            <a:pPr algn="l" marL="453390" indent="-226695" lvl="1">
              <a:lnSpc>
                <a:spcPts val="3360"/>
              </a:lnSpc>
              <a:buFont typeface="Arial"/>
              <a:buChar char="•"/>
            </a:pPr>
            <a:r>
              <a:rPr lang="en-US" sz="2100" spc="210">
                <a:solidFill>
                  <a:srgbClr val="000000"/>
                </a:solidFill>
                <a:latin typeface="Lato"/>
                <a:ea typeface="Lato"/>
                <a:cs typeface="Lato"/>
                <a:sym typeface="Lato"/>
              </a:rPr>
              <a:t>Identify emotional volatility</a:t>
            </a:r>
          </a:p>
          <a:p>
            <a:pPr algn="l" marL="453390" indent="-226695" lvl="1">
              <a:lnSpc>
                <a:spcPts val="3360"/>
              </a:lnSpc>
              <a:buFont typeface="Arial"/>
              <a:buChar char="•"/>
            </a:pPr>
            <a:r>
              <a:rPr lang="en-US" sz="2100" spc="210">
                <a:solidFill>
                  <a:srgbClr val="000000"/>
                </a:solidFill>
                <a:latin typeface="Lato"/>
                <a:ea typeface="Lato"/>
                <a:cs typeface="Lato"/>
                <a:sym typeface="Lato"/>
              </a:rPr>
              <a:t>Optimize overall mental performance</a:t>
            </a:r>
          </a:p>
        </p:txBody>
      </p:sp>
      <p:sp>
        <p:nvSpPr>
          <p:cNvPr name="TextBox 9" id="9"/>
          <p:cNvSpPr txBox="true"/>
          <p:nvPr/>
        </p:nvSpPr>
        <p:spPr>
          <a:xfrm rot="0">
            <a:off x="6948851" y="252410"/>
            <a:ext cx="8499682" cy="412750"/>
          </a:xfrm>
          <a:prstGeom prst="rect">
            <a:avLst/>
          </a:prstGeom>
        </p:spPr>
        <p:txBody>
          <a:bodyPr anchor="t" rtlCol="false" tIns="0" lIns="0" bIns="0" rIns="0">
            <a:spAutoFit/>
          </a:bodyPr>
          <a:lstStyle/>
          <a:p>
            <a:pPr algn="l" marL="0" indent="0" lvl="0">
              <a:lnSpc>
                <a:spcPts val="3499"/>
              </a:lnSpc>
            </a:pPr>
            <a:r>
              <a:rPr lang="en-US" b="true" sz="2499" spc="249">
                <a:solidFill>
                  <a:srgbClr val="264653"/>
                </a:solidFill>
                <a:latin typeface="Heebo Bold"/>
                <a:ea typeface="Heebo Bold"/>
                <a:cs typeface="Heebo Bold"/>
                <a:sym typeface="Heebo Bold"/>
              </a:rPr>
              <a:t>NAME: ALEX RIVERA</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03718" y="216166"/>
            <a:ext cx="17480564" cy="9854668"/>
          </a:xfrm>
          <a:custGeom>
            <a:avLst/>
            <a:gdLst/>
            <a:ahLst/>
            <a:cxnLst/>
            <a:rect r="r" b="b" t="t" l="l"/>
            <a:pathLst>
              <a:path h="9854668" w="17480564">
                <a:moveTo>
                  <a:pt x="0" y="0"/>
                </a:moveTo>
                <a:lnTo>
                  <a:pt x="17480564" y="0"/>
                </a:lnTo>
                <a:lnTo>
                  <a:pt x="17480564" y="9854668"/>
                </a:lnTo>
                <a:lnTo>
                  <a:pt x="0" y="9854668"/>
                </a:lnTo>
                <a:lnTo>
                  <a:pt x="0" y="0"/>
                </a:lnTo>
                <a:close/>
              </a:path>
            </a:pathLst>
          </a:custGeom>
          <a:blipFill>
            <a:blip r:embed="rId2"/>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95691" y="2062534"/>
            <a:ext cx="3456596" cy="6356958"/>
          </a:xfrm>
          <a:custGeom>
            <a:avLst/>
            <a:gdLst/>
            <a:ahLst/>
            <a:cxnLst/>
            <a:rect r="r" b="b" t="t" l="l"/>
            <a:pathLst>
              <a:path h="6356958" w="3456596">
                <a:moveTo>
                  <a:pt x="0" y="0"/>
                </a:moveTo>
                <a:lnTo>
                  <a:pt x="3456596" y="0"/>
                </a:lnTo>
                <a:lnTo>
                  <a:pt x="3456596" y="6356958"/>
                </a:lnTo>
                <a:lnTo>
                  <a:pt x="0" y="6356958"/>
                </a:lnTo>
                <a:lnTo>
                  <a:pt x="0" y="0"/>
                </a:lnTo>
                <a:close/>
              </a:path>
            </a:pathLst>
          </a:custGeom>
          <a:blipFill>
            <a:blip r:embed="rId2"/>
            <a:stretch>
              <a:fillRect l="0" t="0" r="0" b="0"/>
            </a:stretch>
          </a:blipFill>
        </p:spPr>
      </p:sp>
      <p:sp>
        <p:nvSpPr>
          <p:cNvPr name="TextBox 3" id="3"/>
          <p:cNvSpPr txBox="true"/>
          <p:nvPr/>
        </p:nvSpPr>
        <p:spPr>
          <a:xfrm rot="0">
            <a:off x="3958307" y="2384350"/>
            <a:ext cx="13300993" cy="6381524"/>
          </a:xfrm>
          <a:prstGeom prst="rect">
            <a:avLst/>
          </a:prstGeom>
        </p:spPr>
        <p:txBody>
          <a:bodyPr anchor="t" rtlCol="false" tIns="0" lIns="0" bIns="0" rIns="0">
            <a:spAutoFit/>
          </a:bodyPr>
          <a:lstStyle/>
          <a:p>
            <a:pPr algn="ctr">
              <a:lnSpc>
                <a:spcPts val="3607"/>
              </a:lnSpc>
              <a:spcBef>
                <a:spcPct val="0"/>
              </a:spcBef>
            </a:pPr>
          </a:p>
          <a:p>
            <a:pPr algn="just">
              <a:lnSpc>
                <a:spcPts val="3607"/>
              </a:lnSpc>
              <a:spcBef>
                <a:spcPct val="0"/>
              </a:spcBef>
            </a:pPr>
            <a:r>
              <a:rPr lang="en-US" sz="2254" spc="225">
                <a:solidFill>
                  <a:srgbClr val="000000"/>
                </a:solidFill>
                <a:latin typeface="Lato"/>
                <a:ea typeface="Lato"/>
                <a:cs typeface="Lato"/>
                <a:sym typeface="Lato"/>
              </a:rPr>
              <a:t>An AI-powered journaling application with real-time emotional analysis and visual mood tracking.</a:t>
            </a:r>
          </a:p>
          <a:p>
            <a:pPr algn="l">
              <a:lnSpc>
                <a:spcPts val="3607"/>
              </a:lnSpc>
              <a:spcBef>
                <a:spcPct val="0"/>
              </a:spcBef>
            </a:pPr>
          </a:p>
          <a:p>
            <a:pPr algn="l" marL="486734" indent="-243367" lvl="1">
              <a:lnSpc>
                <a:spcPts val="3607"/>
              </a:lnSpc>
              <a:buFont typeface="Arial"/>
              <a:buChar char="•"/>
            </a:pPr>
            <a:r>
              <a:rPr lang="en-US" b="true" sz="2254" spc="225">
                <a:solidFill>
                  <a:srgbClr val="006D77"/>
                </a:solidFill>
                <a:latin typeface="Lato Bold"/>
                <a:ea typeface="Lato Bold"/>
                <a:cs typeface="Lato Bold"/>
                <a:sym typeface="Lato Bold"/>
              </a:rPr>
              <a:t>Real-Time Sentiment Analysis</a:t>
            </a:r>
            <a:r>
              <a:rPr lang="en-US" sz="2254" spc="225">
                <a:solidFill>
                  <a:srgbClr val="000000"/>
                </a:solidFill>
                <a:latin typeface="Lato"/>
                <a:ea typeface="Lato"/>
                <a:cs typeface="Lato"/>
                <a:sym typeface="Lato"/>
              </a:rPr>
              <a:t> – Journal entries are analyzed instantly using an NLP model.</a:t>
            </a:r>
          </a:p>
          <a:p>
            <a:pPr algn="l" marL="486734" indent="-243367" lvl="1">
              <a:lnSpc>
                <a:spcPts val="3607"/>
              </a:lnSpc>
              <a:buFont typeface="Arial"/>
              <a:buChar char="•"/>
            </a:pPr>
            <a:r>
              <a:rPr lang="en-US" b="true" sz="2254" spc="225">
                <a:solidFill>
                  <a:srgbClr val="006D77"/>
                </a:solidFill>
                <a:latin typeface="Lato Bold"/>
                <a:ea typeface="Lato Bold"/>
                <a:cs typeface="Lato Bold"/>
                <a:sym typeface="Lato Bold"/>
              </a:rPr>
              <a:t>Mood Classification System</a:t>
            </a:r>
            <a:r>
              <a:rPr lang="en-US" sz="2254" spc="225">
                <a:solidFill>
                  <a:srgbClr val="000000"/>
                </a:solidFill>
                <a:latin typeface="Lato"/>
                <a:ea typeface="Lato"/>
                <a:cs typeface="Lato"/>
                <a:sym typeface="Lato"/>
              </a:rPr>
              <a:t> – Each entry is labeled as Positive, Neutral, or Negative.</a:t>
            </a:r>
          </a:p>
          <a:p>
            <a:pPr algn="l" marL="486734" indent="-243367" lvl="1">
              <a:lnSpc>
                <a:spcPts val="3607"/>
              </a:lnSpc>
              <a:buFont typeface="Arial"/>
              <a:buChar char="•"/>
            </a:pPr>
            <a:r>
              <a:rPr lang="en-US" b="true" sz="2254" spc="225">
                <a:solidFill>
                  <a:srgbClr val="006D77"/>
                </a:solidFill>
                <a:latin typeface="Lato Bold"/>
                <a:ea typeface="Lato Bold"/>
                <a:cs typeface="Lato Bold"/>
                <a:sym typeface="Lato Bold"/>
              </a:rPr>
              <a:t>Confidence Score Display</a:t>
            </a:r>
            <a:r>
              <a:rPr lang="en-US" sz="2254" spc="225">
                <a:solidFill>
                  <a:srgbClr val="000000"/>
                </a:solidFill>
                <a:latin typeface="Lato"/>
                <a:ea typeface="Lato"/>
                <a:cs typeface="Lato"/>
                <a:sym typeface="Lato"/>
              </a:rPr>
              <a:t> – Shows the model’s certainty level for each classification.</a:t>
            </a:r>
          </a:p>
          <a:p>
            <a:pPr algn="l" marL="486734" indent="-243367" lvl="1">
              <a:lnSpc>
                <a:spcPts val="3607"/>
              </a:lnSpc>
              <a:buFont typeface="Arial"/>
              <a:buChar char="•"/>
            </a:pPr>
            <a:r>
              <a:rPr lang="en-US" b="true" sz="2254" spc="225">
                <a:solidFill>
                  <a:srgbClr val="006D77"/>
                </a:solidFill>
                <a:latin typeface="Lato Bold"/>
                <a:ea typeface="Lato Bold"/>
                <a:cs typeface="Lato Bold"/>
                <a:sym typeface="Lato Bold"/>
              </a:rPr>
              <a:t>Immediate Mood Feedback</a:t>
            </a:r>
            <a:r>
              <a:rPr lang="en-US" sz="2254" spc="225">
                <a:solidFill>
                  <a:srgbClr val="000000"/>
                </a:solidFill>
                <a:latin typeface="Lato"/>
                <a:ea typeface="Lato"/>
                <a:cs typeface="Lato"/>
                <a:sym typeface="Lato"/>
              </a:rPr>
              <a:t> – Provides short, supportive emotional insights after analysis</a:t>
            </a:r>
          </a:p>
          <a:p>
            <a:pPr algn="l" marL="486734" indent="-243367" lvl="1">
              <a:lnSpc>
                <a:spcPts val="3607"/>
              </a:lnSpc>
              <a:buFont typeface="Arial"/>
              <a:buChar char="•"/>
            </a:pPr>
            <a:r>
              <a:rPr lang="en-US" b="true" sz="2254" spc="225">
                <a:solidFill>
                  <a:srgbClr val="006D77"/>
                </a:solidFill>
                <a:latin typeface="Lato Bold"/>
                <a:ea typeface="Lato Bold"/>
                <a:cs typeface="Lato Bold"/>
                <a:sym typeface="Lato Bold"/>
              </a:rPr>
              <a:t>Visual Mood Distribution</a:t>
            </a:r>
            <a:r>
              <a:rPr lang="en-US" sz="2254" spc="225">
                <a:solidFill>
                  <a:srgbClr val="000000"/>
                </a:solidFill>
                <a:latin typeface="Lato"/>
                <a:ea typeface="Lato"/>
                <a:cs typeface="Lato"/>
                <a:sym typeface="Lato"/>
              </a:rPr>
              <a:t> – Displays a basic chart showing mood trends over time.</a:t>
            </a:r>
          </a:p>
          <a:p>
            <a:pPr algn="l" marL="486734" indent="-243367" lvl="1">
              <a:lnSpc>
                <a:spcPts val="3607"/>
              </a:lnSpc>
              <a:buFont typeface="Arial"/>
              <a:buChar char="•"/>
            </a:pPr>
            <a:r>
              <a:rPr lang="en-US" b="true" sz="2254" spc="225">
                <a:solidFill>
                  <a:srgbClr val="006D77"/>
                </a:solidFill>
                <a:latin typeface="Lato Bold"/>
                <a:ea typeface="Lato Bold"/>
                <a:cs typeface="Lato Bold"/>
                <a:sym typeface="Lato Bold"/>
              </a:rPr>
              <a:t>Local Entry Persistence</a:t>
            </a:r>
            <a:r>
              <a:rPr lang="en-US" sz="2254" spc="225">
                <a:solidFill>
                  <a:srgbClr val="000000"/>
                </a:solidFill>
                <a:latin typeface="Lato"/>
                <a:ea typeface="Lato"/>
                <a:cs typeface="Lato"/>
                <a:sym typeface="Lato"/>
              </a:rPr>
              <a:t> – Saves journal entries locally for later review (MVP scope).</a:t>
            </a:r>
          </a:p>
        </p:txBody>
      </p:sp>
      <p:sp>
        <p:nvSpPr>
          <p:cNvPr name="TextBox 4" id="4"/>
          <p:cNvSpPr txBox="true"/>
          <p:nvPr/>
        </p:nvSpPr>
        <p:spPr>
          <a:xfrm rot="0">
            <a:off x="3354506" y="923925"/>
            <a:ext cx="11578987" cy="741045"/>
          </a:xfrm>
          <a:prstGeom prst="rect">
            <a:avLst/>
          </a:prstGeom>
        </p:spPr>
        <p:txBody>
          <a:bodyPr anchor="t" rtlCol="false" tIns="0" lIns="0" bIns="0" rIns="0">
            <a:spAutoFit/>
          </a:bodyPr>
          <a:lstStyle/>
          <a:p>
            <a:pPr algn="l" marL="0" indent="0" lvl="0">
              <a:lnSpc>
                <a:spcPts val="5880"/>
              </a:lnSpc>
            </a:pPr>
            <a:r>
              <a:rPr lang="en-US" b="true" sz="4200" spc="210">
                <a:solidFill>
                  <a:srgbClr val="000000"/>
                </a:solidFill>
                <a:latin typeface="Helios Extended Bold"/>
                <a:ea typeface="Helios Extended Bold"/>
                <a:cs typeface="Helios Extended Bold"/>
                <a:sym typeface="Helios Extended Bold"/>
              </a:rPr>
              <a:t>MINIMAL VIABLE PRODUCT (MVP)</a:t>
            </a:r>
          </a:p>
        </p:txBody>
      </p:sp>
      <p:grpSp>
        <p:nvGrpSpPr>
          <p:cNvPr name="Group 5" id="5"/>
          <p:cNvGrpSpPr/>
          <p:nvPr/>
        </p:nvGrpSpPr>
        <p:grpSpPr>
          <a:xfrm rot="0">
            <a:off x="143691" y="9683062"/>
            <a:ext cx="2003497" cy="422688"/>
            <a:chOff x="0" y="0"/>
            <a:chExt cx="2671330" cy="563585"/>
          </a:xfrm>
        </p:grpSpPr>
        <p:sp>
          <p:nvSpPr>
            <p:cNvPr name="Freeform 6" id="6"/>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196089" y="5865078"/>
            <a:ext cx="5091911" cy="4421922"/>
          </a:xfrm>
          <a:custGeom>
            <a:avLst/>
            <a:gdLst/>
            <a:ahLst/>
            <a:cxnLst/>
            <a:rect r="r" b="b" t="t" l="l"/>
            <a:pathLst>
              <a:path h="4421922" w="5091911">
                <a:moveTo>
                  <a:pt x="0" y="0"/>
                </a:moveTo>
                <a:lnTo>
                  <a:pt x="5091911" y="0"/>
                </a:lnTo>
                <a:lnTo>
                  <a:pt x="5091911" y="4421922"/>
                </a:lnTo>
                <a:lnTo>
                  <a:pt x="0" y="4421922"/>
                </a:lnTo>
                <a:lnTo>
                  <a:pt x="0" y="0"/>
                </a:lnTo>
                <a:close/>
              </a:path>
            </a:pathLst>
          </a:custGeom>
          <a:blipFill>
            <a:blip r:embed="rId2">
              <a:alphaModFix amt="48000"/>
            </a:blip>
            <a:stretch>
              <a:fillRect l="0" t="0" r="0" b="0"/>
            </a:stretch>
          </a:blipFill>
        </p:spPr>
      </p:sp>
      <p:sp>
        <p:nvSpPr>
          <p:cNvPr name="TextBox 3" id="3"/>
          <p:cNvSpPr txBox="true"/>
          <p:nvPr/>
        </p:nvSpPr>
        <p:spPr>
          <a:xfrm rot="0">
            <a:off x="1482759" y="2049780"/>
            <a:ext cx="15322482" cy="5920740"/>
          </a:xfrm>
          <a:prstGeom prst="rect">
            <a:avLst/>
          </a:prstGeom>
        </p:spPr>
        <p:txBody>
          <a:bodyPr anchor="t" rtlCol="false" tIns="0" lIns="0" bIns="0" rIns="0">
            <a:spAutoFit/>
          </a:bodyPr>
          <a:lstStyle/>
          <a:p>
            <a:pPr algn="l">
              <a:lnSpc>
                <a:spcPts val="5250"/>
              </a:lnSpc>
            </a:pPr>
            <a:r>
              <a:rPr lang="en-US" sz="2100" spc="210">
                <a:solidFill>
                  <a:srgbClr val="000000"/>
                </a:solidFill>
                <a:latin typeface="Lato"/>
                <a:ea typeface="Lato"/>
                <a:cs typeface="Lato"/>
                <a:sym typeface="Lato"/>
              </a:rPr>
              <a:t>●</a:t>
            </a:r>
            <a:r>
              <a:rPr lang="en-US" b="true" sz="2100" spc="210">
                <a:solidFill>
                  <a:srgbClr val="006D77"/>
                </a:solidFill>
                <a:latin typeface="Lato Bold"/>
                <a:ea typeface="Lato Bold"/>
                <a:cs typeface="Lato Bold"/>
                <a:sym typeface="Lato Bold"/>
              </a:rPr>
              <a:t> Journal Input Manager :</a:t>
            </a:r>
            <a:r>
              <a:rPr lang="en-US" sz="2100" spc="210">
                <a:solidFill>
                  <a:srgbClr val="000000"/>
                </a:solidFill>
                <a:latin typeface="Lato"/>
                <a:ea typeface="Lato"/>
                <a:cs typeface="Lato"/>
                <a:sym typeface="Lato"/>
              </a:rPr>
              <a:t> Handles user journal entry input and submission through the web interface.</a:t>
            </a:r>
          </a:p>
          <a:p>
            <a:pPr algn="l">
              <a:lnSpc>
                <a:spcPts val="5250"/>
              </a:lnSpc>
            </a:pPr>
            <a:r>
              <a:rPr lang="en-US" sz="2100" spc="210">
                <a:solidFill>
                  <a:srgbClr val="000000"/>
                </a:solidFill>
                <a:latin typeface="Lato"/>
                <a:ea typeface="Lato"/>
                <a:cs typeface="Lato"/>
                <a:sym typeface="Lato"/>
              </a:rPr>
              <a:t>● </a:t>
            </a:r>
            <a:r>
              <a:rPr lang="en-US" b="true" sz="2100" spc="210">
                <a:solidFill>
                  <a:srgbClr val="006D77"/>
                </a:solidFill>
                <a:latin typeface="Lato Bold"/>
                <a:ea typeface="Lato Bold"/>
                <a:cs typeface="Lato Bold"/>
                <a:sym typeface="Lato Bold"/>
              </a:rPr>
              <a:t>Backend API Manager :</a:t>
            </a:r>
            <a:r>
              <a:rPr lang="en-US" sz="2100" spc="210">
                <a:solidFill>
                  <a:srgbClr val="000000"/>
                </a:solidFill>
                <a:latin typeface="Lato"/>
                <a:ea typeface="Lato"/>
                <a:cs typeface="Lato"/>
                <a:sym typeface="Lato"/>
              </a:rPr>
              <a:t> Manages HTTP requests and communication between frontend, sentiment model, and database.</a:t>
            </a:r>
          </a:p>
          <a:p>
            <a:pPr algn="l">
              <a:lnSpc>
                <a:spcPts val="5250"/>
              </a:lnSpc>
            </a:pPr>
            <a:r>
              <a:rPr lang="en-US" sz="2100" spc="210">
                <a:solidFill>
                  <a:srgbClr val="000000"/>
                </a:solidFill>
                <a:latin typeface="Lato"/>
                <a:ea typeface="Lato"/>
                <a:cs typeface="Lato"/>
                <a:sym typeface="Lato"/>
              </a:rPr>
              <a:t>● </a:t>
            </a:r>
            <a:r>
              <a:rPr lang="en-US" b="true" sz="2100" spc="210">
                <a:solidFill>
                  <a:srgbClr val="006D77"/>
                </a:solidFill>
                <a:latin typeface="Lato Bold"/>
                <a:ea typeface="Lato Bold"/>
                <a:cs typeface="Lato Bold"/>
                <a:sym typeface="Lato Bold"/>
              </a:rPr>
              <a:t>Sentiment Analysis Manager :</a:t>
            </a:r>
            <a:r>
              <a:rPr lang="en-US" sz="2100" spc="210">
                <a:solidFill>
                  <a:srgbClr val="000000"/>
                </a:solidFill>
                <a:latin typeface="Lato"/>
                <a:ea typeface="Lato"/>
                <a:cs typeface="Lato"/>
                <a:sym typeface="Lato"/>
              </a:rPr>
              <a:t> Processes journal text and classifies sentiment (Positive / Neutral / Negative).</a:t>
            </a:r>
          </a:p>
          <a:p>
            <a:pPr algn="l">
              <a:lnSpc>
                <a:spcPts val="5250"/>
              </a:lnSpc>
            </a:pPr>
            <a:r>
              <a:rPr lang="en-US" sz="2100" spc="210">
                <a:solidFill>
                  <a:srgbClr val="000000"/>
                </a:solidFill>
                <a:latin typeface="Lato"/>
                <a:ea typeface="Lato"/>
                <a:cs typeface="Lato"/>
                <a:sym typeface="Lato"/>
              </a:rPr>
              <a:t>● </a:t>
            </a:r>
            <a:r>
              <a:rPr lang="en-US" b="true" sz="2100" spc="210">
                <a:solidFill>
                  <a:srgbClr val="006D77"/>
                </a:solidFill>
                <a:latin typeface="Lato Bold"/>
                <a:ea typeface="Lato Bold"/>
                <a:cs typeface="Lato Bold"/>
                <a:sym typeface="Lato Bold"/>
              </a:rPr>
              <a:t>Confidence Scoring Module:</a:t>
            </a:r>
            <a:r>
              <a:rPr lang="en-US" sz="2100" spc="210">
                <a:solidFill>
                  <a:srgbClr val="000000"/>
                </a:solidFill>
                <a:latin typeface="Lato"/>
                <a:ea typeface="Lato"/>
                <a:cs typeface="Lato"/>
                <a:sym typeface="Lato"/>
              </a:rPr>
              <a:t> Extracts prediction probability scores from the DistilBERT output.</a:t>
            </a:r>
          </a:p>
          <a:p>
            <a:pPr algn="l">
              <a:lnSpc>
                <a:spcPts val="5250"/>
              </a:lnSpc>
            </a:pPr>
            <a:r>
              <a:rPr lang="en-US" sz="2100" spc="210">
                <a:solidFill>
                  <a:srgbClr val="000000"/>
                </a:solidFill>
                <a:latin typeface="Lato"/>
                <a:ea typeface="Lato"/>
                <a:cs typeface="Lato"/>
                <a:sym typeface="Lato"/>
              </a:rPr>
              <a:t>● </a:t>
            </a:r>
            <a:r>
              <a:rPr lang="en-US" b="true" sz="2100" spc="210">
                <a:solidFill>
                  <a:srgbClr val="006D77"/>
                </a:solidFill>
                <a:latin typeface="Lato Bold"/>
                <a:ea typeface="Lato Bold"/>
                <a:cs typeface="Lato Bold"/>
                <a:sym typeface="Lato Bold"/>
              </a:rPr>
              <a:t>Mood Feedback Generator:</a:t>
            </a:r>
            <a:r>
              <a:rPr lang="en-US" sz="2100" spc="210">
                <a:solidFill>
                  <a:srgbClr val="000000"/>
                </a:solidFill>
                <a:latin typeface="Lato"/>
                <a:ea typeface="Lato"/>
                <a:cs typeface="Lato"/>
                <a:sym typeface="Lato"/>
              </a:rPr>
              <a:t> Converts sentiment results into short, supportive emotional insights.</a:t>
            </a:r>
          </a:p>
          <a:p>
            <a:pPr algn="l">
              <a:lnSpc>
                <a:spcPts val="5250"/>
              </a:lnSpc>
            </a:pPr>
            <a:r>
              <a:rPr lang="en-US" sz="2100" spc="210">
                <a:solidFill>
                  <a:srgbClr val="000000"/>
                </a:solidFill>
                <a:latin typeface="Lato"/>
                <a:ea typeface="Lato"/>
                <a:cs typeface="Lato"/>
                <a:sym typeface="Lato"/>
              </a:rPr>
              <a:t>● </a:t>
            </a:r>
            <a:r>
              <a:rPr lang="en-US" b="true" sz="2100" spc="210">
                <a:solidFill>
                  <a:srgbClr val="006D77"/>
                </a:solidFill>
                <a:latin typeface="Lato Bold"/>
                <a:ea typeface="Lato Bold"/>
                <a:cs typeface="Lato Bold"/>
                <a:sym typeface="Lato Bold"/>
              </a:rPr>
              <a:t>Data Persistence Layer :</a:t>
            </a:r>
            <a:r>
              <a:rPr lang="en-US" sz="2100" spc="210">
                <a:solidFill>
                  <a:srgbClr val="000000"/>
                </a:solidFill>
                <a:latin typeface="Lato"/>
                <a:ea typeface="Lato"/>
                <a:cs typeface="Lato"/>
                <a:sym typeface="Lato"/>
              </a:rPr>
              <a:t> Stores journal entries, sentiment labels, confidence scores, and timestamps.</a:t>
            </a:r>
          </a:p>
          <a:p>
            <a:pPr algn="l">
              <a:lnSpc>
                <a:spcPts val="5250"/>
              </a:lnSpc>
            </a:pPr>
            <a:r>
              <a:rPr lang="en-US" sz="2100" spc="210">
                <a:solidFill>
                  <a:srgbClr val="000000"/>
                </a:solidFill>
                <a:latin typeface="Lato"/>
                <a:ea typeface="Lato"/>
                <a:cs typeface="Lato"/>
                <a:sym typeface="Lato"/>
              </a:rPr>
              <a:t>● </a:t>
            </a:r>
            <a:r>
              <a:rPr lang="en-US" b="true" sz="2100" spc="210">
                <a:solidFill>
                  <a:srgbClr val="006D77"/>
                </a:solidFill>
                <a:latin typeface="Lato Bold"/>
                <a:ea typeface="Lato Bold"/>
                <a:cs typeface="Lato Bold"/>
                <a:sym typeface="Lato Bold"/>
              </a:rPr>
              <a:t>Mood Visualization Manager:</a:t>
            </a:r>
            <a:r>
              <a:rPr lang="en-US" sz="2100" spc="210">
                <a:solidFill>
                  <a:srgbClr val="000000"/>
                </a:solidFill>
                <a:latin typeface="Lato"/>
                <a:ea typeface="Lato"/>
                <a:cs typeface="Lato"/>
                <a:sym typeface="Lato"/>
              </a:rPr>
              <a:t> Retrieves stored data and generates mood distribution charts over time.</a:t>
            </a:r>
          </a:p>
        </p:txBody>
      </p:sp>
      <p:sp>
        <p:nvSpPr>
          <p:cNvPr name="TextBox 4" id="4"/>
          <p:cNvSpPr txBox="true"/>
          <p:nvPr/>
        </p:nvSpPr>
        <p:spPr>
          <a:xfrm rot="0">
            <a:off x="1028700" y="923925"/>
            <a:ext cx="15430711" cy="741045"/>
          </a:xfrm>
          <a:prstGeom prst="rect">
            <a:avLst/>
          </a:prstGeom>
        </p:spPr>
        <p:txBody>
          <a:bodyPr anchor="t" rtlCol="false" tIns="0" lIns="0" bIns="0" rIns="0">
            <a:spAutoFit/>
          </a:bodyPr>
          <a:lstStyle/>
          <a:p>
            <a:pPr algn="ctr" marL="0" indent="0" lvl="0">
              <a:lnSpc>
                <a:spcPts val="5880"/>
              </a:lnSpc>
            </a:pPr>
            <a:r>
              <a:rPr lang="en-US" b="true" sz="4200" spc="210">
                <a:solidFill>
                  <a:srgbClr val="000000"/>
                </a:solidFill>
                <a:latin typeface="Helios Extended Bold"/>
                <a:ea typeface="Helios Extended Bold"/>
                <a:cs typeface="Helios Extended Bold"/>
                <a:sym typeface="Helios Extended Bold"/>
              </a:rPr>
              <a:t>COMPONENTS</a:t>
            </a:r>
          </a:p>
        </p:txBody>
      </p:sp>
      <p:grpSp>
        <p:nvGrpSpPr>
          <p:cNvPr name="Group 5" id="5"/>
          <p:cNvGrpSpPr/>
          <p:nvPr/>
        </p:nvGrpSpPr>
        <p:grpSpPr>
          <a:xfrm rot="0">
            <a:off x="143691" y="9683062"/>
            <a:ext cx="2003497" cy="422688"/>
            <a:chOff x="0" y="0"/>
            <a:chExt cx="2671330" cy="563585"/>
          </a:xfrm>
        </p:grpSpPr>
        <p:sp>
          <p:nvSpPr>
            <p:cNvPr name="Freeform 6" id="6"/>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127713" y="2222977"/>
            <a:ext cx="12253383" cy="6711705"/>
          </a:xfrm>
          <a:custGeom>
            <a:avLst/>
            <a:gdLst/>
            <a:ahLst/>
            <a:cxnLst/>
            <a:rect r="r" b="b" t="t" l="l"/>
            <a:pathLst>
              <a:path h="6711705" w="12253383">
                <a:moveTo>
                  <a:pt x="0" y="0"/>
                </a:moveTo>
                <a:lnTo>
                  <a:pt x="12253383" y="0"/>
                </a:lnTo>
                <a:lnTo>
                  <a:pt x="12253383" y="6711706"/>
                </a:lnTo>
                <a:lnTo>
                  <a:pt x="0" y="6711706"/>
                </a:lnTo>
                <a:lnTo>
                  <a:pt x="0" y="0"/>
                </a:lnTo>
                <a:close/>
              </a:path>
            </a:pathLst>
          </a:custGeom>
          <a:blipFill>
            <a:blip r:embed="rId2"/>
            <a:stretch>
              <a:fillRect l="0" t="0" r="0" b="0"/>
            </a:stretch>
          </a:blipFill>
        </p:spPr>
      </p:sp>
      <p:sp>
        <p:nvSpPr>
          <p:cNvPr name="TextBox 3" id="3"/>
          <p:cNvSpPr txBox="true"/>
          <p:nvPr/>
        </p:nvSpPr>
        <p:spPr>
          <a:xfrm rot="0">
            <a:off x="759143" y="4349115"/>
            <a:ext cx="5351711" cy="1483995"/>
          </a:xfrm>
          <a:prstGeom prst="rect">
            <a:avLst/>
          </a:prstGeom>
        </p:spPr>
        <p:txBody>
          <a:bodyPr anchor="t" rtlCol="false" tIns="0" lIns="0" bIns="0" rIns="0">
            <a:spAutoFit/>
          </a:bodyPr>
          <a:lstStyle/>
          <a:p>
            <a:pPr algn="l" marL="0" indent="0" lvl="0">
              <a:lnSpc>
                <a:spcPts val="5880"/>
              </a:lnSpc>
              <a:spcBef>
                <a:spcPct val="0"/>
              </a:spcBef>
            </a:pPr>
            <a:r>
              <a:rPr lang="en-US" b="true" sz="4200" spc="210" strike="noStrike" u="none">
                <a:solidFill>
                  <a:srgbClr val="000000"/>
                </a:solidFill>
                <a:latin typeface="Helios Extended Bold"/>
                <a:ea typeface="Helios Extended Bold"/>
                <a:cs typeface="Helios Extended Bold"/>
                <a:sym typeface="Helios Extended Bold"/>
              </a:rPr>
              <a:t>ARCHITECTURE</a:t>
            </a:r>
          </a:p>
          <a:p>
            <a:pPr algn="l" marL="0" indent="0" lvl="0">
              <a:lnSpc>
                <a:spcPts val="5880"/>
              </a:lnSpc>
              <a:spcBef>
                <a:spcPct val="0"/>
              </a:spcBef>
            </a:pPr>
            <a:r>
              <a:rPr lang="en-US" b="true" sz="4200" spc="210" strike="noStrike" u="none">
                <a:solidFill>
                  <a:srgbClr val="000000"/>
                </a:solidFill>
                <a:latin typeface="Helios Extended Bold"/>
                <a:ea typeface="Helios Extended Bold"/>
                <a:cs typeface="Helios Extended Bold"/>
                <a:sym typeface="Helios Extended Bold"/>
              </a:rPr>
              <a:t>DIAGRAM</a:t>
            </a:r>
          </a:p>
        </p:txBody>
      </p:sp>
      <p:grpSp>
        <p:nvGrpSpPr>
          <p:cNvPr name="Group 4" id="4"/>
          <p:cNvGrpSpPr/>
          <p:nvPr/>
        </p:nvGrpSpPr>
        <p:grpSpPr>
          <a:xfrm rot="0">
            <a:off x="143691" y="9683062"/>
            <a:ext cx="2003497" cy="422688"/>
            <a:chOff x="0" y="0"/>
            <a:chExt cx="2671330" cy="563585"/>
          </a:xfrm>
        </p:grpSpPr>
        <p:sp>
          <p:nvSpPr>
            <p:cNvPr name="Freeform 5" id="5"/>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570594" y="1028700"/>
            <a:ext cx="6688706" cy="8267759"/>
          </a:xfrm>
          <a:custGeom>
            <a:avLst/>
            <a:gdLst/>
            <a:ahLst/>
            <a:cxnLst/>
            <a:rect r="r" b="b" t="t" l="l"/>
            <a:pathLst>
              <a:path h="8267759" w="6688706">
                <a:moveTo>
                  <a:pt x="0" y="0"/>
                </a:moveTo>
                <a:lnTo>
                  <a:pt x="6688706" y="0"/>
                </a:lnTo>
                <a:lnTo>
                  <a:pt x="6688706" y="8267759"/>
                </a:lnTo>
                <a:lnTo>
                  <a:pt x="0" y="8267759"/>
                </a:lnTo>
                <a:lnTo>
                  <a:pt x="0" y="0"/>
                </a:lnTo>
                <a:close/>
              </a:path>
            </a:pathLst>
          </a:custGeom>
          <a:blipFill>
            <a:blip r:embed="rId2"/>
            <a:stretch>
              <a:fillRect l="0" t="0" r="0" b="0"/>
            </a:stretch>
          </a:blipFill>
        </p:spPr>
      </p:sp>
      <p:sp>
        <p:nvSpPr>
          <p:cNvPr name="TextBox 3" id="3"/>
          <p:cNvSpPr txBox="true"/>
          <p:nvPr/>
        </p:nvSpPr>
        <p:spPr>
          <a:xfrm rot="0">
            <a:off x="759143" y="4729150"/>
            <a:ext cx="4427786" cy="741045"/>
          </a:xfrm>
          <a:prstGeom prst="rect">
            <a:avLst/>
          </a:prstGeom>
        </p:spPr>
        <p:txBody>
          <a:bodyPr anchor="t" rtlCol="false" tIns="0" lIns="0" bIns="0" rIns="0">
            <a:spAutoFit/>
          </a:bodyPr>
          <a:lstStyle/>
          <a:p>
            <a:pPr algn="l" marL="0" indent="0" lvl="0">
              <a:lnSpc>
                <a:spcPts val="5880"/>
              </a:lnSpc>
              <a:spcBef>
                <a:spcPct val="0"/>
              </a:spcBef>
            </a:pPr>
            <a:r>
              <a:rPr lang="en-US" b="true" sz="4200" spc="210" strike="noStrike" u="none">
                <a:solidFill>
                  <a:srgbClr val="000000"/>
                </a:solidFill>
                <a:latin typeface="Helios Extended Bold"/>
                <a:ea typeface="Helios Extended Bold"/>
                <a:cs typeface="Helios Extended Bold"/>
                <a:sym typeface="Helios Extended Bold"/>
              </a:rPr>
              <a:t>ER DIAGRAM</a:t>
            </a:r>
          </a:p>
        </p:txBody>
      </p:sp>
      <p:grpSp>
        <p:nvGrpSpPr>
          <p:cNvPr name="Group 4" id="4"/>
          <p:cNvGrpSpPr/>
          <p:nvPr/>
        </p:nvGrpSpPr>
        <p:grpSpPr>
          <a:xfrm rot="0">
            <a:off x="143691" y="9683062"/>
            <a:ext cx="2003497" cy="422688"/>
            <a:chOff x="0" y="0"/>
            <a:chExt cx="2671330" cy="563585"/>
          </a:xfrm>
        </p:grpSpPr>
        <p:sp>
          <p:nvSpPr>
            <p:cNvPr name="Freeform 5" id="5"/>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426003" y="1741566"/>
            <a:ext cx="13391655" cy="7516734"/>
          </a:xfrm>
          <a:custGeom>
            <a:avLst/>
            <a:gdLst/>
            <a:ahLst/>
            <a:cxnLst/>
            <a:rect r="r" b="b" t="t" l="l"/>
            <a:pathLst>
              <a:path h="7516734" w="13391655">
                <a:moveTo>
                  <a:pt x="0" y="0"/>
                </a:moveTo>
                <a:lnTo>
                  <a:pt x="13391655" y="0"/>
                </a:lnTo>
                <a:lnTo>
                  <a:pt x="13391655" y="7516734"/>
                </a:lnTo>
                <a:lnTo>
                  <a:pt x="0" y="7516734"/>
                </a:lnTo>
                <a:lnTo>
                  <a:pt x="0" y="0"/>
                </a:lnTo>
                <a:close/>
              </a:path>
            </a:pathLst>
          </a:custGeom>
          <a:blipFill>
            <a:blip r:embed="rId2"/>
            <a:stretch>
              <a:fillRect l="0" t="0" r="0" b="0"/>
            </a:stretch>
          </a:blipFill>
        </p:spPr>
      </p:sp>
      <p:sp>
        <p:nvSpPr>
          <p:cNvPr name="TextBox 3" id="3"/>
          <p:cNvSpPr txBox="true"/>
          <p:nvPr/>
        </p:nvSpPr>
        <p:spPr>
          <a:xfrm rot="0">
            <a:off x="759143" y="4522856"/>
            <a:ext cx="3276749" cy="1483995"/>
          </a:xfrm>
          <a:prstGeom prst="rect">
            <a:avLst/>
          </a:prstGeom>
        </p:spPr>
        <p:txBody>
          <a:bodyPr anchor="t" rtlCol="false" tIns="0" lIns="0" bIns="0" rIns="0">
            <a:spAutoFit/>
          </a:bodyPr>
          <a:lstStyle/>
          <a:p>
            <a:pPr algn="l" marL="0" indent="0" lvl="0">
              <a:lnSpc>
                <a:spcPts val="5880"/>
              </a:lnSpc>
              <a:spcBef>
                <a:spcPct val="0"/>
              </a:spcBef>
            </a:pPr>
            <a:r>
              <a:rPr lang="en-US" b="true" sz="4200" spc="210" strike="noStrike" u="none">
                <a:solidFill>
                  <a:srgbClr val="000000"/>
                </a:solidFill>
                <a:latin typeface="Helios Extended Bold"/>
                <a:ea typeface="Helios Extended Bold"/>
                <a:cs typeface="Helios Extended Bold"/>
                <a:sym typeface="Helios Extended Bold"/>
              </a:rPr>
              <a:t>CONTEXT</a:t>
            </a:r>
          </a:p>
          <a:p>
            <a:pPr algn="l" marL="0" indent="0" lvl="0">
              <a:lnSpc>
                <a:spcPts val="5880"/>
              </a:lnSpc>
              <a:spcBef>
                <a:spcPct val="0"/>
              </a:spcBef>
            </a:pPr>
            <a:r>
              <a:rPr lang="en-US" b="true" sz="4200" spc="210" strike="noStrike" u="none">
                <a:solidFill>
                  <a:srgbClr val="000000"/>
                </a:solidFill>
                <a:latin typeface="Helios Extended Bold"/>
                <a:ea typeface="Helios Extended Bold"/>
                <a:cs typeface="Helios Extended Bold"/>
                <a:sym typeface="Helios Extended Bold"/>
              </a:rPr>
              <a:t>DIAGRAM</a:t>
            </a:r>
          </a:p>
        </p:txBody>
      </p:sp>
      <p:grpSp>
        <p:nvGrpSpPr>
          <p:cNvPr name="Group 4" id="4"/>
          <p:cNvGrpSpPr/>
          <p:nvPr/>
        </p:nvGrpSpPr>
        <p:grpSpPr>
          <a:xfrm rot="0">
            <a:off x="143691" y="9683062"/>
            <a:ext cx="2003497" cy="422688"/>
            <a:chOff x="0" y="0"/>
            <a:chExt cx="2671330" cy="563585"/>
          </a:xfrm>
        </p:grpSpPr>
        <p:sp>
          <p:nvSpPr>
            <p:cNvPr name="Freeform 5" id="5"/>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102080" y="1744749"/>
            <a:ext cx="9469521" cy="7454959"/>
          </a:xfrm>
          <a:custGeom>
            <a:avLst/>
            <a:gdLst/>
            <a:ahLst/>
            <a:cxnLst/>
            <a:rect r="r" b="b" t="t" l="l"/>
            <a:pathLst>
              <a:path h="7454959" w="9469521">
                <a:moveTo>
                  <a:pt x="0" y="0"/>
                </a:moveTo>
                <a:lnTo>
                  <a:pt x="9469522" y="0"/>
                </a:lnTo>
                <a:lnTo>
                  <a:pt x="9469522" y="7454959"/>
                </a:lnTo>
                <a:lnTo>
                  <a:pt x="0" y="7454959"/>
                </a:lnTo>
                <a:lnTo>
                  <a:pt x="0" y="0"/>
                </a:lnTo>
                <a:close/>
              </a:path>
            </a:pathLst>
          </a:custGeom>
          <a:blipFill>
            <a:blip r:embed="rId2"/>
            <a:stretch>
              <a:fillRect l="0" t="0" r="0" b="0"/>
            </a:stretch>
          </a:blipFill>
        </p:spPr>
      </p:sp>
      <p:sp>
        <p:nvSpPr>
          <p:cNvPr name="TextBox 3" id="3"/>
          <p:cNvSpPr txBox="true"/>
          <p:nvPr/>
        </p:nvSpPr>
        <p:spPr>
          <a:xfrm rot="0">
            <a:off x="759142" y="4357856"/>
            <a:ext cx="7600721" cy="1483995"/>
          </a:xfrm>
          <a:prstGeom prst="rect">
            <a:avLst/>
          </a:prstGeom>
        </p:spPr>
        <p:txBody>
          <a:bodyPr anchor="t" rtlCol="false" tIns="0" lIns="0" bIns="0" rIns="0">
            <a:spAutoFit/>
          </a:bodyPr>
          <a:lstStyle/>
          <a:p>
            <a:pPr algn="l" marL="0" indent="0" lvl="0">
              <a:lnSpc>
                <a:spcPts val="5880"/>
              </a:lnSpc>
              <a:spcBef>
                <a:spcPct val="0"/>
              </a:spcBef>
            </a:pPr>
            <a:r>
              <a:rPr lang="en-US" b="true" sz="4200" spc="210" strike="noStrike" u="none">
                <a:solidFill>
                  <a:srgbClr val="000000"/>
                </a:solidFill>
                <a:latin typeface="Helios Extended Bold"/>
                <a:ea typeface="Helios Extended Bold"/>
                <a:cs typeface="Helios Extended Bold"/>
                <a:sym typeface="Helios Extended Bold"/>
              </a:rPr>
              <a:t>SEQUENCE DIAGRAM</a:t>
            </a:r>
          </a:p>
          <a:p>
            <a:pPr algn="l" marL="0" indent="0" lvl="0">
              <a:lnSpc>
                <a:spcPts val="5880"/>
              </a:lnSpc>
              <a:spcBef>
                <a:spcPct val="0"/>
              </a:spcBef>
            </a:pPr>
            <a:r>
              <a:rPr lang="en-US" b="true" sz="4200" spc="210" strike="noStrike" u="none">
                <a:solidFill>
                  <a:srgbClr val="000000"/>
                </a:solidFill>
                <a:latin typeface="Helios Extended Bold"/>
                <a:ea typeface="Helios Extended Bold"/>
                <a:cs typeface="Helios Extended Bold"/>
                <a:sym typeface="Helios Extended Bold"/>
              </a:rPr>
              <a:t>-</a:t>
            </a:r>
            <a:r>
              <a:rPr lang="en-US" b="true" sz="4200" spc="210" strike="noStrike" u="none">
                <a:solidFill>
                  <a:srgbClr val="000000"/>
                </a:solidFill>
                <a:latin typeface="Helios Extended Bold"/>
                <a:ea typeface="Helios Extended Bold"/>
                <a:cs typeface="Helios Extended Bold"/>
                <a:sym typeface="Helios Extended Bold"/>
              </a:rPr>
              <a:t>JOURNAL ENTRY</a:t>
            </a:r>
          </a:p>
        </p:txBody>
      </p:sp>
      <p:grpSp>
        <p:nvGrpSpPr>
          <p:cNvPr name="Group 4" id="4"/>
          <p:cNvGrpSpPr/>
          <p:nvPr/>
        </p:nvGrpSpPr>
        <p:grpSpPr>
          <a:xfrm rot="0">
            <a:off x="143691" y="9683062"/>
            <a:ext cx="2003497" cy="422688"/>
            <a:chOff x="0" y="0"/>
            <a:chExt cx="2671330" cy="563585"/>
          </a:xfrm>
        </p:grpSpPr>
        <p:sp>
          <p:nvSpPr>
            <p:cNvPr name="Freeform 5" id="5"/>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512879" y="1939154"/>
            <a:ext cx="9116867" cy="7154284"/>
          </a:xfrm>
          <a:custGeom>
            <a:avLst/>
            <a:gdLst/>
            <a:ahLst/>
            <a:cxnLst/>
            <a:rect r="r" b="b" t="t" l="l"/>
            <a:pathLst>
              <a:path h="7154284" w="9116867">
                <a:moveTo>
                  <a:pt x="0" y="0"/>
                </a:moveTo>
                <a:lnTo>
                  <a:pt x="9116867" y="0"/>
                </a:lnTo>
                <a:lnTo>
                  <a:pt x="9116867" y="7154284"/>
                </a:lnTo>
                <a:lnTo>
                  <a:pt x="0" y="7154284"/>
                </a:lnTo>
                <a:lnTo>
                  <a:pt x="0" y="0"/>
                </a:lnTo>
                <a:close/>
              </a:path>
            </a:pathLst>
          </a:custGeom>
          <a:blipFill>
            <a:blip r:embed="rId2"/>
            <a:stretch>
              <a:fillRect l="-398" t="0" r="-398" b="-3506"/>
            </a:stretch>
          </a:blipFill>
        </p:spPr>
      </p:sp>
      <p:sp>
        <p:nvSpPr>
          <p:cNvPr name="TextBox 3" id="3"/>
          <p:cNvSpPr txBox="true"/>
          <p:nvPr/>
        </p:nvSpPr>
        <p:spPr>
          <a:xfrm rot="0">
            <a:off x="759143" y="4295775"/>
            <a:ext cx="7406283" cy="1483995"/>
          </a:xfrm>
          <a:prstGeom prst="rect">
            <a:avLst/>
          </a:prstGeom>
        </p:spPr>
        <p:txBody>
          <a:bodyPr anchor="t" rtlCol="false" tIns="0" lIns="0" bIns="0" rIns="0">
            <a:spAutoFit/>
          </a:bodyPr>
          <a:lstStyle/>
          <a:p>
            <a:pPr algn="l" marL="0" indent="0" lvl="0">
              <a:lnSpc>
                <a:spcPts val="5880"/>
              </a:lnSpc>
              <a:spcBef>
                <a:spcPct val="0"/>
              </a:spcBef>
            </a:pPr>
            <a:r>
              <a:rPr lang="en-US" b="true" sz="4200" spc="210" strike="noStrike" u="none">
                <a:solidFill>
                  <a:srgbClr val="000000"/>
                </a:solidFill>
                <a:latin typeface="Helios Extended Bold"/>
                <a:ea typeface="Helios Extended Bold"/>
                <a:cs typeface="Helios Extended Bold"/>
                <a:sym typeface="Helios Extended Bold"/>
              </a:rPr>
              <a:t>SEQUENCE DIAGRAM</a:t>
            </a:r>
          </a:p>
          <a:p>
            <a:pPr algn="l" marL="0" indent="0" lvl="0">
              <a:lnSpc>
                <a:spcPts val="5880"/>
              </a:lnSpc>
              <a:spcBef>
                <a:spcPct val="0"/>
              </a:spcBef>
            </a:pPr>
            <a:r>
              <a:rPr lang="en-US" b="true" sz="4200" spc="210" strike="noStrike" u="none">
                <a:solidFill>
                  <a:srgbClr val="000000"/>
                </a:solidFill>
                <a:latin typeface="Helios Extended Bold"/>
                <a:ea typeface="Helios Extended Bold"/>
                <a:cs typeface="Helios Extended Bold"/>
                <a:sym typeface="Helios Extended Bold"/>
              </a:rPr>
              <a:t>-</a:t>
            </a:r>
            <a:r>
              <a:rPr lang="en-US" b="true" sz="4200" spc="210" strike="noStrike" u="none">
                <a:solidFill>
                  <a:srgbClr val="000000"/>
                </a:solidFill>
                <a:latin typeface="Helios Extended Bold"/>
                <a:ea typeface="Helios Extended Bold"/>
                <a:cs typeface="Helios Extended Bold"/>
                <a:sym typeface="Helios Extended Bold"/>
              </a:rPr>
              <a:t>DASHBOARD</a:t>
            </a:r>
          </a:p>
        </p:txBody>
      </p:sp>
      <p:grpSp>
        <p:nvGrpSpPr>
          <p:cNvPr name="Group 4" id="4"/>
          <p:cNvGrpSpPr/>
          <p:nvPr/>
        </p:nvGrpSpPr>
        <p:grpSpPr>
          <a:xfrm rot="0">
            <a:off x="143691" y="9683062"/>
            <a:ext cx="2003497" cy="422688"/>
            <a:chOff x="0" y="0"/>
            <a:chExt cx="2671330" cy="563585"/>
          </a:xfrm>
        </p:grpSpPr>
        <p:sp>
          <p:nvSpPr>
            <p:cNvPr name="Freeform 5" id="5"/>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938567" y="923925"/>
            <a:ext cx="5722888" cy="741045"/>
          </a:xfrm>
          <a:prstGeom prst="rect">
            <a:avLst/>
          </a:prstGeom>
        </p:spPr>
        <p:txBody>
          <a:bodyPr anchor="t" rtlCol="false" tIns="0" lIns="0" bIns="0" rIns="0">
            <a:spAutoFit/>
          </a:bodyPr>
          <a:lstStyle/>
          <a:p>
            <a:pPr algn="l" marL="0" indent="0" lvl="0">
              <a:lnSpc>
                <a:spcPts val="5880"/>
              </a:lnSpc>
              <a:spcBef>
                <a:spcPct val="0"/>
              </a:spcBef>
            </a:pPr>
            <a:r>
              <a:rPr lang="en-US" b="true" sz="4200" spc="210">
                <a:solidFill>
                  <a:srgbClr val="000000"/>
                </a:solidFill>
                <a:latin typeface="Helios Extended Bold"/>
                <a:ea typeface="Helios Extended Bold"/>
                <a:cs typeface="Helios Extended Bold"/>
                <a:sym typeface="Helios Extended Bold"/>
              </a:rPr>
              <a:t>SPRINT 1 RECAP</a:t>
            </a:r>
          </a:p>
        </p:txBody>
      </p:sp>
      <p:sp>
        <p:nvSpPr>
          <p:cNvPr name="TextBox 3" id="3"/>
          <p:cNvSpPr txBox="true"/>
          <p:nvPr/>
        </p:nvSpPr>
        <p:spPr>
          <a:xfrm rot="0">
            <a:off x="1483771" y="2251762"/>
            <a:ext cx="5511195" cy="499110"/>
          </a:xfrm>
          <a:prstGeom prst="rect">
            <a:avLst/>
          </a:prstGeom>
        </p:spPr>
        <p:txBody>
          <a:bodyPr anchor="t" rtlCol="false" tIns="0" lIns="0" bIns="0" rIns="0">
            <a:spAutoFit/>
          </a:bodyPr>
          <a:lstStyle/>
          <a:p>
            <a:pPr algn="ctr">
              <a:lnSpc>
                <a:spcPts val="4020"/>
              </a:lnSpc>
            </a:pPr>
            <a:r>
              <a:rPr lang="en-US" b="true" sz="3000" spc="171">
                <a:solidFill>
                  <a:srgbClr val="006D77"/>
                </a:solidFill>
                <a:latin typeface="Lato Bold"/>
                <a:ea typeface="Lato Bold"/>
                <a:cs typeface="Lato Bold"/>
                <a:sym typeface="Lato Bold"/>
              </a:rPr>
              <a:t>What We Set Out To Do</a:t>
            </a:r>
          </a:p>
        </p:txBody>
      </p:sp>
      <p:sp>
        <p:nvSpPr>
          <p:cNvPr name="TextBox 4" id="4"/>
          <p:cNvSpPr txBox="true"/>
          <p:nvPr/>
        </p:nvSpPr>
        <p:spPr>
          <a:xfrm rot="0">
            <a:off x="8834985" y="2251762"/>
            <a:ext cx="5511195" cy="499110"/>
          </a:xfrm>
          <a:prstGeom prst="rect">
            <a:avLst/>
          </a:prstGeom>
        </p:spPr>
        <p:txBody>
          <a:bodyPr anchor="t" rtlCol="false" tIns="0" lIns="0" bIns="0" rIns="0">
            <a:spAutoFit/>
          </a:bodyPr>
          <a:lstStyle/>
          <a:p>
            <a:pPr algn="ctr" marL="0" indent="0" lvl="0">
              <a:lnSpc>
                <a:spcPts val="4020"/>
              </a:lnSpc>
              <a:spcBef>
                <a:spcPct val="0"/>
              </a:spcBef>
            </a:pPr>
            <a:r>
              <a:rPr lang="en-US" b="true" sz="3000" spc="171" strike="noStrike" u="none">
                <a:solidFill>
                  <a:srgbClr val="006D77"/>
                </a:solidFill>
                <a:latin typeface="Lato Bold"/>
                <a:ea typeface="Lato Bold"/>
                <a:cs typeface="Lato Bold"/>
                <a:sym typeface="Lato Bold"/>
              </a:rPr>
              <a:t>What We Delivered</a:t>
            </a:r>
          </a:p>
        </p:txBody>
      </p:sp>
      <p:sp>
        <p:nvSpPr>
          <p:cNvPr name="TextBox 5" id="5"/>
          <p:cNvSpPr txBox="true"/>
          <p:nvPr/>
        </p:nvSpPr>
        <p:spPr>
          <a:xfrm rot="0">
            <a:off x="1145440" y="3287892"/>
            <a:ext cx="6898528" cy="4451985"/>
          </a:xfrm>
          <a:prstGeom prst="rect">
            <a:avLst/>
          </a:prstGeom>
        </p:spPr>
        <p:txBody>
          <a:bodyPr anchor="t" rtlCol="false" tIns="0" lIns="0" bIns="0" rIns="0">
            <a:spAutoFit/>
          </a:bodyPr>
          <a:lstStyle/>
          <a:p>
            <a:pPr algn="just">
              <a:lnSpc>
                <a:spcPts val="2940"/>
              </a:lnSpc>
            </a:pPr>
            <a:r>
              <a:rPr lang="en-US" sz="2100" spc="210">
                <a:solidFill>
                  <a:srgbClr val="000000"/>
                </a:solidFill>
                <a:latin typeface="Lato"/>
                <a:ea typeface="Lato"/>
                <a:cs typeface="Lato"/>
                <a:sym typeface="Lato"/>
              </a:rPr>
              <a:t>We aimed to build a complete journaling experience where users can submit entries and have them processed through AI sentiment analysis. This included displaying sentiment results along with confidence scores, while ensuring a smooth user experience through proper input validation, submission confirmation, error handling, and automatic input reset. Additionally, we planned to allow users to view their previous journal entries (US13).</a:t>
            </a:r>
          </a:p>
          <a:p>
            <a:pPr algn="just">
              <a:lnSpc>
                <a:spcPts val="2940"/>
              </a:lnSpc>
            </a:pPr>
          </a:p>
        </p:txBody>
      </p:sp>
      <p:sp>
        <p:nvSpPr>
          <p:cNvPr name="TextBox 6" id="6"/>
          <p:cNvSpPr txBox="true"/>
          <p:nvPr/>
        </p:nvSpPr>
        <p:spPr>
          <a:xfrm rot="0">
            <a:off x="9731542" y="3288914"/>
            <a:ext cx="6898528" cy="1480185"/>
          </a:xfrm>
          <a:prstGeom prst="rect">
            <a:avLst/>
          </a:prstGeom>
        </p:spPr>
        <p:txBody>
          <a:bodyPr anchor="t" rtlCol="false" tIns="0" lIns="0" bIns="0" rIns="0">
            <a:spAutoFit/>
          </a:bodyPr>
          <a:lstStyle/>
          <a:p>
            <a:pPr algn="just" marL="453390" indent="-226695" lvl="1">
              <a:lnSpc>
                <a:spcPts val="2940"/>
              </a:lnSpc>
              <a:spcBef>
                <a:spcPct val="0"/>
              </a:spcBef>
              <a:buFont typeface="Arial"/>
              <a:buChar char="•"/>
            </a:pPr>
            <a:r>
              <a:rPr lang="en-US" b="true" sz="2100" spc="210" strike="noStrike" u="none">
                <a:solidFill>
                  <a:srgbClr val="000000"/>
                </a:solidFill>
                <a:latin typeface="Lato Bold"/>
                <a:ea typeface="Lato Bold"/>
                <a:cs typeface="Lato Bold"/>
                <a:sym typeface="Lato Bold"/>
              </a:rPr>
              <a:t>US1, US7, US10:</a:t>
            </a:r>
            <a:r>
              <a:rPr lang="en-US" sz="2100" spc="210" strike="noStrike" u="none">
                <a:solidFill>
                  <a:srgbClr val="000000"/>
                </a:solidFill>
                <a:latin typeface="Lato"/>
                <a:ea typeface="Lato"/>
                <a:cs typeface="Lato"/>
                <a:sym typeface="Lato"/>
              </a:rPr>
              <a:t> </a:t>
            </a:r>
            <a:r>
              <a:rPr lang="en-US" b="true" sz="2100" spc="210" strike="noStrike" u="none">
                <a:solidFill>
                  <a:srgbClr val="000000"/>
                </a:solidFill>
                <a:latin typeface="Lato Bold"/>
                <a:ea typeface="Lato Bold"/>
                <a:cs typeface="Lato Bold"/>
                <a:sym typeface="Lato Bold"/>
              </a:rPr>
              <a:t>Core Journal Functionality:</a:t>
            </a:r>
            <a:r>
              <a:rPr lang="en-US" sz="2100" spc="210" strike="noStrike" u="none">
                <a:solidFill>
                  <a:srgbClr val="000000"/>
                </a:solidFill>
                <a:latin typeface="Lato"/>
                <a:ea typeface="Lato"/>
                <a:cs typeface="Lato"/>
                <a:sym typeface="Lato"/>
              </a:rPr>
              <a:t> Essential features that allow users to create, access, and manage their journal entries.  </a:t>
            </a:r>
          </a:p>
          <a:p>
            <a:pPr algn="just">
              <a:lnSpc>
                <a:spcPts val="2940"/>
              </a:lnSpc>
              <a:spcBef>
                <a:spcPct val="0"/>
              </a:spcBef>
            </a:pPr>
          </a:p>
        </p:txBody>
      </p:sp>
      <p:sp>
        <p:nvSpPr>
          <p:cNvPr name="TextBox 7" id="7"/>
          <p:cNvSpPr txBox="true"/>
          <p:nvPr/>
        </p:nvSpPr>
        <p:spPr>
          <a:xfrm rot="0">
            <a:off x="9731542" y="4911974"/>
            <a:ext cx="6898528" cy="2966085"/>
          </a:xfrm>
          <a:prstGeom prst="rect">
            <a:avLst/>
          </a:prstGeom>
        </p:spPr>
        <p:txBody>
          <a:bodyPr anchor="t" rtlCol="false" tIns="0" lIns="0" bIns="0" rIns="0">
            <a:spAutoFit/>
          </a:bodyPr>
          <a:lstStyle/>
          <a:p>
            <a:pPr algn="just" marL="453390" indent="-226695" lvl="1">
              <a:lnSpc>
                <a:spcPts val="2940"/>
              </a:lnSpc>
              <a:spcBef>
                <a:spcPct val="0"/>
              </a:spcBef>
              <a:buFont typeface="Arial"/>
              <a:buChar char="•"/>
            </a:pPr>
            <a:r>
              <a:rPr lang="en-US" b="true" sz="2100" spc="210" strike="noStrike" u="none">
                <a:solidFill>
                  <a:srgbClr val="000000"/>
                </a:solidFill>
                <a:latin typeface="Lato Bold"/>
                <a:ea typeface="Lato Bold"/>
                <a:cs typeface="Lato Bold"/>
                <a:sym typeface="Lato Bold"/>
              </a:rPr>
              <a:t>US2, US3, US4:</a:t>
            </a:r>
            <a:r>
              <a:rPr lang="en-US" sz="2100" spc="210" strike="noStrike" u="none">
                <a:solidFill>
                  <a:srgbClr val="000000"/>
                </a:solidFill>
                <a:latin typeface="Lato"/>
                <a:ea typeface="Lato"/>
                <a:cs typeface="Lato"/>
                <a:sym typeface="Lato"/>
              </a:rPr>
              <a:t> Processing and AI Analysis: Journal Entry Processing, AI Sentiment Analysis and confidence score.</a:t>
            </a:r>
          </a:p>
          <a:p>
            <a:pPr algn="just">
              <a:lnSpc>
                <a:spcPts val="2940"/>
              </a:lnSpc>
              <a:spcBef>
                <a:spcPct val="0"/>
              </a:spcBef>
            </a:pPr>
          </a:p>
          <a:p>
            <a:pPr algn="just" marL="453390" indent="-226695" lvl="1">
              <a:lnSpc>
                <a:spcPts val="2940"/>
              </a:lnSpc>
              <a:spcBef>
                <a:spcPct val="0"/>
              </a:spcBef>
              <a:buFont typeface="Arial"/>
              <a:buChar char="•"/>
            </a:pPr>
            <a:r>
              <a:rPr lang="en-US" b="true" sz="2100" spc="210" strike="noStrike" u="none">
                <a:solidFill>
                  <a:srgbClr val="000000"/>
                </a:solidFill>
                <a:latin typeface="Lato Bold"/>
                <a:ea typeface="Lato Bold"/>
                <a:cs typeface="Lato Bold"/>
                <a:sym typeface="Lato Bold"/>
              </a:rPr>
              <a:t>US5, US6, US8:</a:t>
            </a:r>
            <a:r>
              <a:rPr lang="en-US" sz="2100" spc="210" strike="noStrike" u="none">
                <a:solidFill>
                  <a:srgbClr val="000000"/>
                </a:solidFill>
                <a:latin typeface="Lato"/>
                <a:ea typeface="Lato"/>
                <a:cs typeface="Lato"/>
                <a:sym typeface="Lato"/>
              </a:rPr>
              <a:t> Results and User Feedback: </a:t>
            </a:r>
            <a:r>
              <a:rPr lang="en-US" sz="2100" spc="210" strike="noStrike" u="none">
                <a:solidFill>
                  <a:srgbClr val="000000"/>
                </a:solidFill>
                <a:latin typeface="Lato"/>
                <a:ea typeface="Lato"/>
                <a:cs typeface="Lato"/>
                <a:sym typeface="Lato"/>
              </a:rPr>
              <a:t>Sentiment Result Display, mood visualization  and submission confirmation.</a:t>
            </a:r>
          </a:p>
          <a:p>
            <a:pPr algn="just">
              <a:lnSpc>
                <a:spcPts val="2940"/>
              </a:lnSpc>
              <a:spcBef>
                <a:spcPct val="0"/>
              </a:spcBef>
            </a:pPr>
          </a:p>
        </p:txBody>
      </p:sp>
      <p:sp>
        <p:nvSpPr>
          <p:cNvPr name="AutoShape 8" id="8"/>
          <p:cNvSpPr/>
          <p:nvPr/>
        </p:nvSpPr>
        <p:spPr>
          <a:xfrm>
            <a:off x="1231844" y="2971662"/>
            <a:ext cx="6492240" cy="0"/>
          </a:xfrm>
          <a:prstGeom prst="line">
            <a:avLst/>
          </a:prstGeom>
          <a:ln cap="flat" w="19050">
            <a:solidFill>
              <a:srgbClr val="000000"/>
            </a:solidFill>
            <a:prstDash val="solid"/>
            <a:headEnd type="none" len="sm" w="sm"/>
            <a:tailEnd type="none" len="sm" w="sm"/>
          </a:ln>
        </p:spPr>
      </p:sp>
      <p:sp>
        <p:nvSpPr>
          <p:cNvPr name="AutoShape 9" id="9"/>
          <p:cNvSpPr/>
          <p:nvPr/>
        </p:nvSpPr>
        <p:spPr>
          <a:xfrm>
            <a:off x="9731542" y="2952612"/>
            <a:ext cx="6492240" cy="0"/>
          </a:xfrm>
          <a:prstGeom prst="line">
            <a:avLst/>
          </a:prstGeom>
          <a:ln cap="flat" w="19050">
            <a:solidFill>
              <a:srgbClr val="000000"/>
            </a:solidFill>
            <a:prstDash val="solid"/>
            <a:headEnd type="none" len="sm" w="sm"/>
            <a:tailEnd type="none" len="sm" w="sm"/>
          </a:ln>
        </p:spPr>
      </p:sp>
      <p:grpSp>
        <p:nvGrpSpPr>
          <p:cNvPr name="Group 10" id="10"/>
          <p:cNvGrpSpPr/>
          <p:nvPr/>
        </p:nvGrpSpPr>
        <p:grpSpPr>
          <a:xfrm rot="0">
            <a:off x="143691" y="9683062"/>
            <a:ext cx="2003497" cy="422688"/>
            <a:chOff x="0" y="0"/>
            <a:chExt cx="2671330" cy="563585"/>
          </a:xfrm>
        </p:grpSpPr>
        <p:sp>
          <p:nvSpPr>
            <p:cNvPr name="Freeform 11" id="11"/>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934075" y="679774"/>
            <a:ext cx="7242444" cy="741045"/>
          </a:xfrm>
          <a:prstGeom prst="rect">
            <a:avLst/>
          </a:prstGeom>
        </p:spPr>
        <p:txBody>
          <a:bodyPr anchor="t" rtlCol="false" tIns="0" lIns="0" bIns="0" rIns="0">
            <a:spAutoFit/>
          </a:bodyPr>
          <a:lstStyle/>
          <a:p>
            <a:pPr algn="l" marL="0" indent="0" lvl="0">
              <a:lnSpc>
                <a:spcPts val="5880"/>
              </a:lnSpc>
            </a:pPr>
            <a:r>
              <a:rPr lang="en-US" b="true" sz="4200" spc="210">
                <a:solidFill>
                  <a:srgbClr val="000000"/>
                </a:solidFill>
                <a:latin typeface="Helios Extended Bold"/>
                <a:ea typeface="Helios Extended Bold"/>
                <a:cs typeface="Helios Extended Bold"/>
                <a:sym typeface="Helios Extended Bold"/>
              </a:rPr>
              <a:t>PRODUCT BACKLOG</a:t>
            </a:r>
          </a:p>
        </p:txBody>
      </p:sp>
      <p:sp>
        <p:nvSpPr>
          <p:cNvPr name="TextBox 3" id="3"/>
          <p:cNvSpPr txBox="true"/>
          <p:nvPr/>
        </p:nvSpPr>
        <p:spPr>
          <a:xfrm rot="0">
            <a:off x="4582032" y="1773244"/>
            <a:ext cx="3927767" cy="2057400"/>
          </a:xfrm>
          <a:prstGeom prst="rect">
            <a:avLst/>
          </a:prstGeom>
        </p:spPr>
        <p:txBody>
          <a:bodyPr anchor="t" rtlCol="false" tIns="0" lIns="0" bIns="0" rIns="0">
            <a:spAutoFit/>
          </a:bodyPr>
          <a:lstStyle/>
          <a:p>
            <a:pPr algn="l">
              <a:lnSpc>
                <a:spcPts val="1800"/>
              </a:lnSpc>
            </a:pPr>
            <a:r>
              <a:rPr lang="en-US" sz="1500" b="true">
                <a:solidFill>
                  <a:srgbClr val="000000"/>
                </a:solidFill>
                <a:latin typeface="Open Sauce Bold"/>
                <a:ea typeface="Open Sauce Bold"/>
                <a:cs typeface="Open Sauce Bold"/>
                <a:sym typeface="Open Sauce Bold"/>
              </a:rPr>
              <a:t>US11 – User Registration</a:t>
            </a:r>
          </a:p>
          <a:p>
            <a:pPr algn="l">
              <a:lnSpc>
                <a:spcPts val="1800"/>
              </a:lnSpc>
            </a:pPr>
            <a:r>
              <a:rPr lang="en-US" sz="1500">
                <a:solidFill>
                  <a:srgbClr val="000000"/>
                </a:solidFill>
                <a:latin typeface="Open Sauce"/>
                <a:ea typeface="Open Sauce"/>
                <a:cs typeface="Open Sauce"/>
                <a:sym typeface="Open Sauce"/>
              </a:rPr>
              <a:t>As a user, I want to register an account so that my journal entries are securely stored.</a:t>
            </a:r>
          </a:p>
          <a:p>
            <a:pPr algn="l">
              <a:lnSpc>
                <a:spcPts val="1800"/>
              </a:lnSpc>
            </a:pPr>
            <a:r>
              <a:rPr lang="en-US" sz="1500" u="sng">
                <a:solidFill>
                  <a:srgbClr val="000000"/>
                </a:solidFill>
                <a:latin typeface="Open Sauce"/>
                <a:ea typeface="Open Sauce"/>
                <a:cs typeface="Open Sauce"/>
                <a:sym typeface="Open Sauce"/>
              </a:rPr>
              <a:t>Acceptance Criteria</a:t>
            </a:r>
          </a:p>
          <a:p>
            <a:pPr algn="l" marL="323850" indent="-161925" lvl="1">
              <a:lnSpc>
                <a:spcPts val="1800"/>
              </a:lnSpc>
              <a:buFont typeface="Arial"/>
              <a:buChar char="•"/>
            </a:pPr>
            <a:r>
              <a:rPr lang="en-US" sz="1500">
                <a:solidFill>
                  <a:srgbClr val="000000"/>
                </a:solidFill>
                <a:latin typeface="Open Sauce"/>
                <a:ea typeface="Open Sauce"/>
                <a:cs typeface="Open Sauce"/>
                <a:sym typeface="Open Sauce"/>
              </a:rPr>
              <a:t>Em</a:t>
            </a:r>
            <a:r>
              <a:rPr lang="en-US" sz="1500">
                <a:solidFill>
                  <a:srgbClr val="000000"/>
                </a:solidFill>
                <a:latin typeface="Open Sauce"/>
                <a:ea typeface="Open Sauce"/>
                <a:cs typeface="Open Sauce"/>
                <a:sym typeface="Open Sauce"/>
              </a:rPr>
              <a:t>ail &amp; password required</a:t>
            </a:r>
          </a:p>
          <a:p>
            <a:pPr algn="l" marL="323850" indent="-161925" lvl="1">
              <a:lnSpc>
                <a:spcPts val="1800"/>
              </a:lnSpc>
              <a:buFont typeface="Arial"/>
              <a:buChar char="•"/>
            </a:pPr>
            <a:r>
              <a:rPr lang="en-US" sz="1500">
                <a:solidFill>
                  <a:srgbClr val="000000"/>
                </a:solidFill>
                <a:latin typeface="Open Sauce"/>
                <a:ea typeface="Open Sauce"/>
                <a:cs typeface="Open Sauce"/>
                <a:sym typeface="Open Sauce"/>
              </a:rPr>
              <a:t>Password hashed</a:t>
            </a:r>
          </a:p>
          <a:p>
            <a:pPr algn="l" marL="323850" indent="-161925" lvl="1">
              <a:lnSpc>
                <a:spcPts val="1800"/>
              </a:lnSpc>
              <a:buFont typeface="Arial"/>
              <a:buChar char="•"/>
            </a:pPr>
            <a:r>
              <a:rPr lang="en-US" sz="1500">
                <a:solidFill>
                  <a:srgbClr val="000000"/>
                </a:solidFill>
                <a:latin typeface="Open Sauce"/>
                <a:ea typeface="Open Sauce"/>
                <a:cs typeface="Open Sauce"/>
                <a:sym typeface="Open Sauce"/>
              </a:rPr>
              <a:t>Us</a:t>
            </a:r>
            <a:r>
              <a:rPr lang="en-US" sz="1500">
                <a:solidFill>
                  <a:srgbClr val="000000"/>
                </a:solidFill>
                <a:latin typeface="Open Sauce"/>
                <a:ea typeface="Open Sauce"/>
                <a:cs typeface="Open Sauce"/>
                <a:sym typeface="Open Sauce"/>
              </a:rPr>
              <a:t>er saved in database</a:t>
            </a:r>
          </a:p>
          <a:p>
            <a:pPr algn="l" marL="323850" indent="-161925" lvl="1">
              <a:lnSpc>
                <a:spcPts val="1800"/>
              </a:lnSpc>
              <a:spcBef>
                <a:spcPct val="0"/>
              </a:spcBef>
              <a:buFont typeface="Arial"/>
              <a:buChar char="•"/>
            </a:pPr>
            <a:r>
              <a:rPr lang="en-US" sz="1500">
                <a:solidFill>
                  <a:srgbClr val="000000"/>
                </a:solidFill>
                <a:latin typeface="Open Sauce"/>
                <a:ea typeface="Open Sauce"/>
                <a:cs typeface="Open Sauce"/>
                <a:sym typeface="Open Sauce"/>
              </a:rPr>
              <a:t>Duplicate email prevented</a:t>
            </a:r>
          </a:p>
        </p:txBody>
      </p:sp>
      <p:sp>
        <p:nvSpPr>
          <p:cNvPr name="TextBox 4" id="4"/>
          <p:cNvSpPr txBox="true"/>
          <p:nvPr/>
        </p:nvSpPr>
        <p:spPr>
          <a:xfrm rot="0">
            <a:off x="1028700" y="2288864"/>
            <a:ext cx="2872090" cy="921385"/>
          </a:xfrm>
          <a:prstGeom prst="rect">
            <a:avLst/>
          </a:prstGeom>
        </p:spPr>
        <p:txBody>
          <a:bodyPr anchor="t" rtlCol="false" tIns="0" lIns="0" bIns="0" rIns="0">
            <a:spAutoFit/>
          </a:bodyPr>
          <a:lstStyle/>
          <a:p>
            <a:pPr algn="l">
              <a:lnSpc>
                <a:spcPts val="3680"/>
              </a:lnSpc>
            </a:pPr>
            <a:r>
              <a:rPr lang="en-US" b="true" sz="2300" spc="230">
                <a:solidFill>
                  <a:srgbClr val="006D77"/>
                </a:solidFill>
                <a:latin typeface="Arimo Bold"/>
                <a:ea typeface="Arimo Bold"/>
                <a:cs typeface="Arimo Bold"/>
                <a:sym typeface="Arimo Bold"/>
              </a:rPr>
              <a:t>CORE JOURNAL </a:t>
            </a:r>
          </a:p>
          <a:p>
            <a:pPr algn="l">
              <a:lnSpc>
                <a:spcPts val="3680"/>
              </a:lnSpc>
            </a:pPr>
            <a:r>
              <a:rPr lang="en-US" b="true" sz="2300" spc="230">
                <a:solidFill>
                  <a:srgbClr val="006D77"/>
                </a:solidFill>
                <a:latin typeface="Arimo Bold"/>
                <a:ea typeface="Arimo Bold"/>
                <a:cs typeface="Arimo Bold"/>
                <a:sym typeface="Arimo Bold"/>
              </a:rPr>
              <a:t>FUNCTIONALITY</a:t>
            </a:r>
          </a:p>
        </p:txBody>
      </p:sp>
      <p:sp>
        <p:nvSpPr>
          <p:cNvPr name="TextBox 5" id="5"/>
          <p:cNvSpPr txBox="true"/>
          <p:nvPr/>
        </p:nvSpPr>
        <p:spPr>
          <a:xfrm rot="0">
            <a:off x="1028700" y="5279714"/>
            <a:ext cx="2966125" cy="921385"/>
          </a:xfrm>
          <a:prstGeom prst="rect">
            <a:avLst/>
          </a:prstGeom>
        </p:spPr>
        <p:txBody>
          <a:bodyPr anchor="t" rtlCol="false" tIns="0" lIns="0" bIns="0" rIns="0">
            <a:spAutoFit/>
          </a:bodyPr>
          <a:lstStyle/>
          <a:p>
            <a:pPr algn="l">
              <a:lnSpc>
                <a:spcPts val="3680"/>
              </a:lnSpc>
            </a:pPr>
            <a:r>
              <a:rPr lang="en-US" b="true" sz="2300" spc="230">
                <a:solidFill>
                  <a:srgbClr val="006D77"/>
                </a:solidFill>
                <a:latin typeface="Arimo Bold"/>
                <a:ea typeface="Arimo Bold"/>
                <a:cs typeface="Arimo Bold"/>
                <a:sym typeface="Arimo Bold"/>
              </a:rPr>
              <a:t>RESULTS &amp;</a:t>
            </a:r>
          </a:p>
          <a:p>
            <a:pPr algn="l">
              <a:lnSpc>
                <a:spcPts val="3680"/>
              </a:lnSpc>
            </a:pPr>
            <a:r>
              <a:rPr lang="en-US" b="true" sz="2300" spc="230">
                <a:solidFill>
                  <a:srgbClr val="006D77"/>
                </a:solidFill>
                <a:latin typeface="Arimo Bold"/>
                <a:ea typeface="Arimo Bold"/>
                <a:cs typeface="Arimo Bold"/>
                <a:sym typeface="Arimo Bold"/>
              </a:rPr>
              <a:t>USER FEEDBACK</a:t>
            </a:r>
          </a:p>
        </p:txBody>
      </p:sp>
      <p:sp>
        <p:nvSpPr>
          <p:cNvPr name="TextBox 6" id="6"/>
          <p:cNvSpPr txBox="true"/>
          <p:nvPr/>
        </p:nvSpPr>
        <p:spPr>
          <a:xfrm rot="0">
            <a:off x="1028700" y="8270564"/>
            <a:ext cx="2966125" cy="921385"/>
          </a:xfrm>
          <a:prstGeom prst="rect">
            <a:avLst/>
          </a:prstGeom>
        </p:spPr>
        <p:txBody>
          <a:bodyPr anchor="t" rtlCol="false" tIns="0" lIns="0" bIns="0" rIns="0">
            <a:spAutoFit/>
          </a:bodyPr>
          <a:lstStyle/>
          <a:p>
            <a:pPr algn="l">
              <a:lnSpc>
                <a:spcPts val="3680"/>
              </a:lnSpc>
            </a:pPr>
            <a:r>
              <a:rPr lang="en-US" b="true" sz="2300" spc="230">
                <a:solidFill>
                  <a:srgbClr val="006D77"/>
                </a:solidFill>
                <a:latin typeface="Arimo Bold"/>
                <a:ea typeface="Arimo Bold"/>
                <a:cs typeface="Arimo Bold"/>
                <a:sym typeface="Arimo Bold"/>
              </a:rPr>
              <a:t>PROC</a:t>
            </a:r>
            <a:r>
              <a:rPr lang="en-US" b="true" sz="2300" spc="230">
                <a:solidFill>
                  <a:srgbClr val="006D77"/>
                </a:solidFill>
                <a:latin typeface="Arimo Bold"/>
                <a:ea typeface="Arimo Bold"/>
                <a:cs typeface="Arimo Bold"/>
                <a:sym typeface="Arimo Bold"/>
              </a:rPr>
              <a:t>ESSING &amp;</a:t>
            </a:r>
          </a:p>
          <a:p>
            <a:pPr algn="l">
              <a:lnSpc>
                <a:spcPts val="3680"/>
              </a:lnSpc>
            </a:pPr>
            <a:r>
              <a:rPr lang="en-US" b="true" sz="2300" spc="230">
                <a:solidFill>
                  <a:srgbClr val="006D77"/>
                </a:solidFill>
                <a:latin typeface="Arimo Bold"/>
                <a:ea typeface="Arimo Bold"/>
                <a:cs typeface="Arimo Bold"/>
                <a:sym typeface="Arimo Bold"/>
              </a:rPr>
              <a:t> AI ANALYSIS</a:t>
            </a:r>
          </a:p>
        </p:txBody>
      </p:sp>
      <p:sp>
        <p:nvSpPr>
          <p:cNvPr name="TextBox 7" id="7"/>
          <p:cNvSpPr txBox="true"/>
          <p:nvPr/>
        </p:nvSpPr>
        <p:spPr>
          <a:xfrm rot="0">
            <a:off x="8821994" y="1773289"/>
            <a:ext cx="3924300" cy="1600200"/>
          </a:xfrm>
          <a:prstGeom prst="rect">
            <a:avLst/>
          </a:prstGeom>
        </p:spPr>
        <p:txBody>
          <a:bodyPr anchor="t" rtlCol="false" tIns="0" lIns="0" bIns="0" rIns="0">
            <a:spAutoFit/>
          </a:bodyPr>
          <a:lstStyle/>
          <a:p>
            <a:pPr algn="l">
              <a:lnSpc>
                <a:spcPts val="1800"/>
              </a:lnSpc>
            </a:pPr>
            <a:r>
              <a:rPr lang="en-US" sz="1500" b="true">
                <a:solidFill>
                  <a:srgbClr val="000000"/>
                </a:solidFill>
                <a:latin typeface="Open Sauce Bold"/>
                <a:ea typeface="Open Sauce Bold"/>
                <a:cs typeface="Open Sauce Bold"/>
                <a:sym typeface="Open Sauce Bold"/>
              </a:rPr>
              <a:t>US12 – User Login</a:t>
            </a:r>
          </a:p>
          <a:p>
            <a:pPr algn="l">
              <a:lnSpc>
                <a:spcPts val="1800"/>
              </a:lnSpc>
            </a:pPr>
            <a:r>
              <a:rPr lang="en-US" sz="1500">
                <a:solidFill>
                  <a:srgbClr val="000000"/>
                </a:solidFill>
                <a:latin typeface="Open Sauce"/>
                <a:ea typeface="Open Sauce"/>
                <a:cs typeface="Open Sauce"/>
                <a:sym typeface="Open Sauce"/>
              </a:rPr>
              <a:t>As a user, I want to log in so that I can access my journal dashboard.</a:t>
            </a:r>
          </a:p>
          <a:p>
            <a:pPr algn="l">
              <a:lnSpc>
                <a:spcPts val="1800"/>
              </a:lnSpc>
            </a:pPr>
            <a:r>
              <a:rPr lang="en-US" sz="1500" u="sng">
                <a:solidFill>
                  <a:srgbClr val="000000"/>
                </a:solidFill>
                <a:latin typeface="Open Sauce"/>
                <a:ea typeface="Open Sauce"/>
                <a:cs typeface="Open Sauce"/>
                <a:sym typeface="Open Sauce"/>
              </a:rPr>
              <a:t>Acceptance Criteria</a:t>
            </a:r>
          </a:p>
          <a:p>
            <a:pPr algn="l" marL="323850" indent="-161925" lvl="1">
              <a:lnSpc>
                <a:spcPts val="1800"/>
              </a:lnSpc>
              <a:buFont typeface="Arial"/>
              <a:buChar char="•"/>
            </a:pPr>
            <a:r>
              <a:rPr lang="en-US" sz="1500">
                <a:solidFill>
                  <a:srgbClr val="000000"/>
                </a:solidFill>
                <a:latin typeface="Open Sauce"/>
                <a:ea typeface="Open Sauce"/>
                <a:cs typeface="Open Sauce"/>
                <a:sym typeface="Open Sauce"/>
              </a:rPr>
              <a:t>JWT</a:t>
            </a:r>
            <a:r>
              <a:rPr lang="en-US" sz="1500">
                <a:solidFill>
                  <a:srgbClr val="000000"/>
                </a:solidFill>
                <a:latin typeface="Open Sauce"/>
                <a:ea typeface="Open Sauce"/>
                <a:cs typeface="Open Sauce"/>
                <a:sym typeface="Open Sauce"/>
              </a:rPr>
              <a:t> token generated</a:t>
            </a:r>
          </a:p>
          <a:p>
            <a:pPr algn="l" marL="323850" indent="-161925" lvl="1">
              <a:lnSpc>
                <a:spcPts val="1800"/>
              </a:lnSpc>
              <a:buFont typeface="Arial"/>
              <a:buChar char="•"/>
            </a:pPr>
            <a:r>
              <a:rPr lang="en-US" sz="1500">
                <a:solidFill>
                  <a:srgbClr val="000000"/>
                </a:solidFill>
                <a:latin typeface="Open Sauce"/>
                <a:ea typeface="Open Sauce"/>
                <a:cs typeface="Open Sauce"/>
                <a:sym typeface="Open Sauce"/>
              </a:rPr>
              <a:t>Pr</a:t>
            </a:r>
            <a:r>
              <a:rPr lang="en-US" sz="1500">
                <a:solidFill>
                  <a:srgbClr val="000000"/>
                </a:solidFill>
                <a:latin typeface="Open Sauce"/>
                <a:ea typeface="Open Sauce"/>
                <a:cs typeface="Open Sauce"/>
                <a:sym typeface="Open Sauce"/>
              </a:rPr>
              <a:t>otected routes enforced</a:t>
            </a:r>
          </a:p>
          <a:p>
            <a:pPr algn="l" marL="323850" indent="-161925" lvl="1">
              <a:lnSpc>
                <a:spcPts val="1800"/>
              </a:lnSpc>
              <a:spcBef>
                <a:spcPct val="0"/>
              </a:spcBef>
              <a:buFont typeface="Arial"/>
              <a:buChar char="•"/>
            </a:pPr>
            <a:r>
              <a:rPr lang="en-US" sz="1500">
                <a:solidFill>
                  <a:srgbClr val="000000"/>
                </a:solidFill>
                <a:latin typeface="Open Sauce"/>
                <a:ea typeface="Open Sauce"/>
                <a:cs typeface="Open Sauce"/>
                <a:sym typeface="Open Sauce"/>
              </a:rPr>
              <a:t>Log</a:t>
            </a:r>
            <a:r>
              <a:rPr lang="en-US" sz="1500">
                <a:solidFill>
                  <a:srgbClr val="000000"/>
                </a:solidFill>
                <a:latin typeface="Open Sauce"/>
                <a:ea typeface="Open Sauce"/>
                <a:cs typeface="Open Sauce"/>
                <a:sym typeface="Open Sauce"/>
              </a:rPr>
              <a:t>in error handling</a:t>
            </a:r>
          </a:p>
        </p:txBody>
      </p:sp>
      <p:sp>
        <p:nvSpPr>
          <p:cNvPr name="TextBox 8" id="8"/>
          <p:cNvSpPr txBox="true"/>
          <p:nvPr/>
        </p:nvSpPr>
        <p:spPr>
          <a:xfrm rot="0">
            <a:off x="4585499" y="4183069"/>
            <a:ext cx="3924300" cy="228600"/>
          </a:xfrm>
          <a:prstGeom prst="rect">
            <a:avLst/>
          </a:prstGeom>
        </p:spPr>
        <p:txBody>
          <a:bodyPr anchor="t" rtlCol="false" tIns="0" lIns="0" bIns="0" rIns="0">
            <a:spAutoFit/>
          </a:bodyPr>
          <a:lstStyle/>
          <a:p>
            <a:pPr algn="l">
              <a:lnSpc>
                <a:spcPts val="1800"/>
              </a:lnSpc>
              <a:spcBef>
                <a:spcPct val="0"/>
              </a:spcBef>
            </a:pPr>
            <a:r>
              <a:rPr lang="en-US" b="true" sz="1500">
                <a:solidFill>
                  <a:srgbClr val="006D77"/>
                </a:solidFill>
                <a:latin typeface="Open Sauce Bold"/>
                <a:ea typeface="Open Sauce Bold"/>
                <a:cs typeface="Open Sauce Bold"/>
                <a:sym typeface="Open Sauce Bold"/>
              </a:rPr>
              <a:t>Priority:</a:t>
            </a:r>
            <a:r>
              <a:rPr lang="en-US" sz="1500">
                <a:solidFill>
                  <a:srgbClr val="000000"/>
                </a:solidFill>
                <a:latin typeface="Open Sauce"/>
                <a:ea typeface="Open Sauce"/>
                <a:cs typeface="Open Sauce"/>
                <a:sym typeface="Open Sauce"/>
              </a:rPr>
              <a:t> Must                        </a:t>
            </a:r>
            <a:r>
              <a:rPr lang="en-US" b="true" sz="1500">
                <a:solidFill>
                  <a:srgbClr val="006D77"/>
                </a:solidFill>
                <a:latin typeface="Open Sauce Bold"/>
                <a:ea typeface="Open Sauce Bold"/>
                <a:cs typeface="Open Sauce Bold"/>
                <a:sym typeface="Open Sauce Bold"/>
              </a:rPr>
              <a:t>Story Points</a:t>
            </a:r>
            <a:r>
              <a:rPr lang="en-US" sz="1500">
                <a:solidFill>
                  <a:srgbClr val="000000"/>
                </a:solidFill>
                <a:latin typeface="Open Sauce"/>
                <a:ea typeface="Open Sauce"/>
                <a:cs typeface="Open Sauce"/>
                <a:sym typeface="Open Sauce"/>
              </a:rPr>
              <a:t>: 5 </a:t>
            </a:r>
          </a:p>
        </p:txBody>
      </p:sp>
      <p:sp>
        <p:nvSpPr>
          <p:cNvPr name="TextBox 9" id="9"/>
          <p:cNvSpPr txBox="true"/>
          <p:nvPr/>
        </p:nvSpPr>
        <p:spPr>
          <a:xfrm rot="0">
            <a:off x="8821994" y="4183069"/>
            <a:ext cx="3924300" cy="228600"/>
          </a:xfrm>
          <a:prstGeom prst="rect">
            <a:avLst/>
          </a:prstGeom>
        </p:spPr>
        <p:txBody>
          <a:bodyPr anchor="t" rtlCol="false" tIns="0" lIns="0" bIns="0" rIns="0">
            <a:spAutoFit/>
          </a:bodyPr>
          <a:lstStyle/>
          <a:p>
            <a:pPr algn="l">
              <a:lnSpc>
                <a:spcPts val="1800"/>
              </a:lnSpc>
              <a:spcBef>
                <a:spcPct val="0"/>
              </a:spcBef>
            </a:pPr>
            <a:r>
              <a:rPr lang="en-US" b="true" sz="1500">
                <a:solidFill>
                  <a:srgbClr val="006D77"/>
                </a:solidFill>
                <a:latin typeface="Open Sauce Bold"/>
                <a:ea typeface="Open Sauce Bold"/>
                <a:cs typeface="Open Sauce Bold"/>
                <a:sym typeface="Open Sauce Bold"/>
              </a:rPr>
              <a:t>Priority:</a:t>
            </a:r>
            <a:r>
              <a:rPr lang="en-US" sz="1500">
                <a:solidFill>
                  <a:srgbClr val="000000"/>
                </a:solidFill>
                <a:latin typeface="Open Sauce"/>
                <a:ea typeface="Open Sauce"/>
                <a:cs typeface="Open Sauce"/>
                <a:sym typeface="Open Sauce"/>
              </a:rPr>
              <a:t> Must                        </a:t>
            </a:r>
            <a:r>
              <a:rPr lang="en-US" b="true" sz="1500">
                <a:solidFill>
                  <a:srgbClr val="006D77"/>
                </a:solidFill>
                <a:latin typeface="Open Sauce Bold"/>
                <a:ea typeface="Open Sauce Bold"/>
                <a:cs typeface="Open Sauce Bold"/>
                <a:sym typeface="Open Sauce Bold"/>
              </a:rPr>
              <a:t>Story Points</a:t>
            </a:r>
            <a:r>
              <a:rPr lang="en-US" sz="1500">
                <a:solidFill>
                  <a:srgbClr val="000000"/>
                </a:solidFill>
                <a:latin typeface="Open Sauce"/>
                <a:ea typeface="Open Sauce"/>
                <a:cs typeface="Open Sauce"/>
                <a:sym typeface="Open Sauce"/>
              </a:rPr>
              <a:t>: 5 </a:t>
            </a:r>
          </a:p>
        </p:txBody>
      </p:sp>
      <p:sp>
        <p:nvSpPr>
          <p:cNvPr name="TextBox 10" id="10"/>
          <p:cNvSpPr txBox="true"/>
          <p:nvPr/>
        </p:nvSpPr>
        <p:spPr>
          <a:xfrm rot="0">
            <a:off x="13060619" y="4183069"/>
            <a:ext cx="3924300" cy="228600"/>
          </a:xfrm>
          <a:prstGeom prst="rect">
            <a:avLst/>
          </a:prstGeom>
        </p:spPr>
        <p:txBody>
          <a:bodyPr anchor="t" rtlCol="false" tIns="0" lIns="0" bIns="0" rIns="0">
            <a:spAutoFit/>
          </a:bodyPr>
          <a:lstStyle/>
          <a:p>
            <a:pPr algn="l">
              <a:lnSpc>
                <a:spcPts val="1800"/>
              </a:lnSpc>
              <a:spcBef>
                <a:spcPct val="0"/>
              </a:spcBef>
            </a:pPr>
            <a:r>
              <a:rPr lang="en-US" b="true" sz="1500">
                <a:solidFill>
                  <a:srgbClr val="006D77"/>
                </a:solidFill>
                <a:latin typeface="Open Sauce Bold"/>
                <a:ea typeface="Open Sauce Bold"/>
                <a:cs typeface="Open Sauce Bold"/>
                <a:sym typeface="Open Sauce Bold"/>
              </a:rPr>
              <a:t>Priority:</a:t>
            </a:r>
            <a:r>
              <a:rPr lang="en-US" sz="1500">
                <a:solidFill>
                  <a:srgbClr val="000000"/>
                </a:solidFill>
                <a:latin typeface="Open Sauce"/>
                <a:ea typeface="Open Sauce"/>
                <a:cs typeface="Open Sauce"/>
                <a:sym typeface="Open Sauce"/>
              </a:rPr>
              <a:t> Must                        </a:t>
            </a:r>
            <a:r>
              <a:rPr lang="en-US" b="true" sz="1500">
                <a:solidFill>
                  <a:srgbClr val="006D77"/>
                </a:solidFill>
                <a:latin typeface="Open Sauce Bold"/>
                <a:ea typeface="Open Sauce Bold"/>
                <a:cs typeface="Open Sauce Bold"/>
                <a:sym typeface="Open Sauce Bold"/>
              </a:rPr>
              <a:t>Story Points</a:t>
            </a:r>
            <a:r>
              <a:rPr lang="en-US" sz="1500">
                <a:solidFill>
                  <a:srgbClr val="000000"/>
                </a:solidFill>
                <a:latin typeface="Open Sauce"/>
                <a:ea typeface="Open Sauce"/>
                <a:cs typeface="Open Sauce"/>
                <a:sym typeface="Open Sauce"/>
              </a:rPr>
              <a:t>: 8 </a:t>
            </a:r>
          </a:p>
        </p:txBody>
      </p:sp>
      <p:sp>
        <p:nvSpPr>
          <p:cNvPr name="TextBox 11" id="11"/>
          <p:cNvSpPr txBox="true"/>
          <p:nvPr/>
        </p:nvSpPr>
        <p:spPr>
          <a:xfrm rot="0">
            <a:off x="13060619" y="1773244"/>
            <a:ext cx="3924300" cy="2286000"/>
          </a:xfrm>
          <a:prstGeom prst="rect">
            <a:avLst/>
          </a:prstGeom>
        </p:spPr>
        <p:txBody>
          <a:bodyPr anchor="t" rtlCol="false" tIns="0" lIns="0" bIns="0" rIns="0">
            <a:spAutoFit/>
          </a:bodyPr>
          <a:lstStyle/>
          <a:p>
            <a:pPr algn="l">
              <a:lnSpc>
                <a:spcPts val="1800"/>
              </a:lnSpc>
            </a:pPr>
            <a:r>
              <a:rPr lang="en-US" sz="1500" b="true">
                <a:solidFill>
                  <a:srgbClr val="000000"/>
                </a:solidFill>
                <a:latin typeface="Open Sauce Bold"/>
                <a:ea typeface="Open Sauce Bold"/>
                <a:cs typeface="Open Sauce Bold"/>
                <a:sym typeface="Open Sauce Bold"/>
              </a:rPr>
              <a:t>US13 – View Journal Entries</a:t>
            </a:r>
          </a:p>
          <a:p>
            <a:pPr algn="l">
              <a:lnSpc>
                <a:spcPts val="1800"/>
              </a:lnSpc>
            </a:pPr>
            <a:r>
              <a:rPr lang="en-US" sz="1500">
                <a:solidFill>
                  <a:srgbClr val="000000"/>
                </a:solidFill>
                <a:latin typeface="Open Sauce"/>
                <a:ea typeface="Open Sauce"/>
                <a:cs typeface="Open Sauce"/>
                <a:sym typeface="Open Sauce"/>
              </a:rPr>
              <a:t>As a user, I want to view my previous journal entries so that I can reflect on past emotional states.</a:t>
            </a:r>
          </a:p>
          <a:p>
            <a:pPr algn="l">
              <a:lnSpc>
                <a:spcPts val="1800"/>
              </a:lnSpc>
            </a:pPr>
            <a:r>
              <a:rPr lang="en-US" sz="1500" u="sng">
                <a:solidFill>
                  <a:srgbClr val="000000"/>
                </a:solidFill>
                <a:latin typeface="Open Sauce"/>
                <a:ea typeface="Open Sauce"/>
                <a:cs typeface="Open Sauce"/>
                <a:sym typeface="Open Sauce"/>
              </a:rPr>
              <a:t>Acceptance Criteria</a:t>
            </a:r>
          </a:p>
          <a:p>
            <a:pPr algn="l" marL="323850" indent="-161925" lvl="1">
              <a:lnSpc>
                <a:spcPts val="1800"/>
              </a:lnSpc>
              <a:buFont typeface="Arial"/>
              <a:buChar char="•"/>
            </a:pPr>
            <a:r>
              <a:rPr lang="en-US" sz="1500">
                <a:solidFill>
                  <a:srgbClr val="000000"/>
                </a:solidFill>
                <a:latin typeface="Open Sauce"/>
                <a:ea typeface="Open Sauce"/>
                <a:cs typeface="Open Sauce"/>
                <a:sym typeface="Open Sauce"/>
              </a:rPr>
              <a:t>List view of e</a:t>
            </a:r>
            <a:r>
              <a:rPr lang="en-US" sz="1500">
                <a:solidFill>
                  <a:srgbClr val="000000"/>
                </a:solidFill>
                <a:latin typeface="Open Sauce"/>
                <a:ea typeface="Open Sauce"/>
                <a:cs typeface="Open Sauce"/>
                <a:sym typeface="Open Sauce"/>
              </a:rPr>
              <a:t>ntries</a:t>
            </a:r>
          </a:p>
          <a:p>
            <a:pPr algn="l" marL="323850" indent="-161925" lvl="1">
              <a:lnSpc>
                <a:spcPts val="1800"/>
              </a:lnSpc>
              <a:buFont typeface="Arial"/>
              <a:buChar char="•"/>
            </a:pPr>
            <a:r>
              <a:rPr lang="en-US" sz="1500">
                <a:solidFill>
                  <a:srgbClr val="000000"/>
                </a:solidFill>
                <a:latin typeface="Open Sauce"/>
                <a:ea typeface="Open Sauce"/>
                <a:cs typeface="Open Sauce"/>
                <a:sym typeface="Open Sauce"/>
              </a:rPr>
              <a:t>Emotion label shown</a:t>
            </a:r>
          </a:p>
          <a:p>
            <a:pPr algn="l" marL="323850" indent="-161925" lvl="1">
              <a:lnSpc>
                <a:spcPts val="1800"/>
              </a:lnSpc>
              <a:buFont typeface="Arial"/>
              <a:buChar char="•"/>
            </a:pPr>
            <a:r>
              <a:rPr lang="en-US" sz="1500">
                <a:solidFill>
                  <a:srgbClr val="000000"/>
                </a:solidFill>
                <a:latin typeface="Open Sauce"/>
                <a:ea typeface="Open Sauce"/>
                <a:cs typeface="Open Sauce"/>
                <a:sym typeface="Open Sauce"/>
              </a:rPr>
              <a:t>Sorted by date</a:t>
            </a:r>
          </a:p>
          <a:p>
            <a:pPr algn="l" marL="323850" indent="-161925" lvl="1">
              <a:lnSpc>
                <a:spcPts val="1800"/>
              </a:lnSpc>
              <a:buFont typeface="Arial"/>
              <a:buChar char="•"/>
            </a:pPr>
            <a:r>
              <a:rPr lang="en-US" sz="1500">
                <a:solidFill>
                  <a:srgbClr val="000000"/>
                </a:solidFill>
                <a:latin typeface="Open Sauce"/>
                <a:ea typeface="Open Sauce"/>
                <a:cs typeface="Open Sauce"/>
                <a:sym typeface="Open Sauce"/>
              </a:rPr>
              <a:t>Entries linked to user ID</a:t>
            </a:r>
          </a:p>
          <a:p>
            <a:pPr algn="l" marL="323850" indent="-161925" lvl="1">
              <a:lnSpc>
                <a:spcPts val="1800"/>
              </a:lnSpc>
              <a:spcBef>
                <a:spcPct val="0"/>
              </a:spcBef>
              <a:buFont typeface="Arial"/>
              <a:buChar char="•"/>
            </a:pPr>
            <a:r>
              <a:rPr lang="en-US" sz="1500">
                <a:solidFill>
                  <a:srgbClr val="000000"/>
                </a:solidFill>
                <a:latin typeface="Open Sauce"/>
                <a:ea typeface="Open Sauce"/>
                <a:cs typeface="Open Sauce"/>
                <a:sym typeface="Open Sauce"/>
              </a:rPr>
              <a:t>Users access only their own data</a:t>
            </a:r>
          </a:p>
        </p:txBody>
      </p:sp>
      <p:sp>
        <p:nvSpPr>
          <p:cNvPr name="TextBox 12" id="12"/>
          <p:cNvSpPr txBox="true"/>
          <p:nvPr/>
        </p:nvSpPr>
        <p:spPr>
          <a:xfrm rot="0">
            <a:off x="4585499" y="7219163"/>
            <a:ext cx="3927767" cy="2057400"/>
          </a:xfrm>
          <a:prstGeom prst="rect">
            <a:avLst/>
          </a:prstGeom>
        </p:spPr>
        <p:txBody>
          <a:bodyPr anchor="t" rtlCol="false" tIns="0" lIns="0" bIns="0" rIns="0">
            <a:spAutoFit/>
          </a:bodyPr>
          <a:lstStyle/>
          <a:p>
            <a:pPr algn="l">
              <a:lnSpc>
                <a:spcPts val="1800"/>
              </a:lnSpc>
            </a:pPr>
            <a:r>
              <a:rPr lang="en-US" sz="1500" b="true">
                <a:solidFill>
                  <a:srgbClr val="000000"/>
                </a:solidFill>
                <a:latin typeface="Open Sauce Bold"/>
                <a:ea typeface="Open Sauce Bold"/>
                <a:cs typeface="Open Sauce Bold"/>
                <a:sym typeface="Open Sauce Bold"/>
              </a:rPr>
              <a:t>US15 – Store Sentiment Results</a:t>
            </a:r>
          </a:p>
          <a:p>
            <a:pPr algn="l">
              <a:lnSpc>
                <a:spcPts val="1800"/>
              </a:lnSpc>
            </a:pPr>
            <a:r>
              <a:rPr lang="en-US" sz="1500">
                <a:solidFill>
                  <a:srgbClr val="000000"/>
                </a:solidFill>
                <a:latin typeface="Open Sauce"/>
                <a:ea typeface="Open Sauce"/>
                <a:cs typeface="Open Sauce"/>
                <a:sym typeface="Open Sauce"/>
              </a:rPr>
              <a:t>As a system, I want to store sentiment and confidence results so that they can be used for future analysis and visualization.</a:t>
            </a:r>
          </a:p>
          <a:p>
            <a:pPr algn="l">
              <a:lnSpc>
                <a:spcPts val="1800"/>
              </a:lnSpc>
            </a:pPr>
            <a:r>
              <a:rPr lang="en-US" sz="1500" u="sng">
                <a:solidFill>
                  <a:srgbClr val="000000"/>
                </a:solidFill>
                <a:latin typeface="Open Sauce"/>
                <a:ea typeface="Open Sauce"/>
                <a:cs typeface="Open Sauce"/>
                <a:sym typeface="Open Sauce"/>
              </a:rPr>
              <a:t>Acceptance Criteria</a:t>
            </a:r>
          </a:p>
          <a:p>
            <a:pPr algn="l" marL="323850" indent="-161925" lvl="1">
              <a:lnSpc>
                <a:spcPts val="1800"/>
              </a:lnSpc>
              <a:buFont typeface="Arial"/>
              <a:buChar char="•"/>
            </a:pPr>
            <a:r>
              <a:rPr lang="en-US" sz="1500">
                <a:solidFill>
                  <a:srgbClr val="000000"/>
                </a:solidFill>
                <a:latin typeface="Open Sauce"/>
                <a:ea typeface="Open Sauce"/>
                <a:cs typeface="Open Sauce"/>
                <a:sym typeface="Open Sauce"/>
              </a:rPr>
              <a:t>Sentiment label stored in database</a:t>
            </a:r>
          </a:p>
          <a:p>
            <a:pPr algn="l" marL="323850" indent="-161925" lvl="1">
              <a:lnSpc>
                <a:spcPts val="1800"/>
              </a:lnSpc>
              <a:buFont typeface="Arial"/>
              <a:buChar char="•"/>
            </a:pPr>
            <a:r>
              <a:rPr lang="en-US" sz="1500">
                <a:solidFill>
                  <a:srgbClr val="000000"/>
                </a:solidFill>
                <a:latin typeface="Open Sauce"/>
                <a:ea typeface="Open Sauce"/>
                <a:cs typeface="Open Sauce"/>
                <a:sym typeface="Open Sauce"/>
              </a:rPr>
              <a:t>Confidence score stored</a:t>
            </a:r>
          </a:p>
          <a:p>
            <a:pPr algn="l" marL="323850" indent="-161925" lvl="1">
              <a:lnSpc>
                <a:spcPts val="1800"/>
              </a:lnSpc>
              <a:spcBef>
                <a:spcPct val="0"/>
              </a:spcBef>
              <a:buFont typeface="Arial"/>
              <a:buChar char="•"/>
            </a:pPr>
            <a:r>
              <a:rPr lang="en-US" sz="1500">
                <a:solidFill>
                  <a:srgbClr val="000000"/>
                </a:solidFill>
                <a:latin typeface="Open Sauce"/>
                <a:ea typeface="Open Sauce"/>
                <a:cs typeface="Open Sauce"/>
                <a:sym typeface="Open Sauce"/>
              </a:rPr>
              <a:t>Data retrievable for visualization and history</a:t>
            </a:r>
          </a:p>
        </p:txBody>
      </p:sp>
      <p:sp>
        <p:nvSpPr>
          <p:cNvPr name="TextBox 13" id="13"/>
          <p:cNvSpPr txBox="true"/>
          <p:nvPr/>
        </p:nvSpPr>
        <p:spPr>
          <a:xfrm rot="0">
            <a:off x="4582032" y="9628988"/>
            <a:ext cx="3924300" cy="228600"/>
          </a:xfrm>
          <a:prstGeom prst="rect">
            <a:avLst/>
          </a:prstGeom>
        </p:spPr>
        <p:txBody>
          <a:bodyPr anchor="t" rtlCol="false" tIns="0" lIns="0" bIns="0" rIns="0">
            <a:spAutoFit/>
          </a:bodyPr>
          <a:lstStyle/>
          <a:p>
            <a:pPr algn="l">
              <a:lnSpc>
                <a:spcPts val="1800"/>
              </a:lnSpc>
              <a:spcBef>
                <a:spcPct val="0"/>
              </a:spcBef>
            </a:pPr>
            <a:r>
              <a:rPr lang="en-US" b="true" sz="1500">
                <a:solidFill>
                  <a:srgbClr val="006D77"/>
                </a:solidFill>
                <a:latin typeface="Open Sauce Bold"/>
                <a:ea typeface="Open Sauce Bold"/>
                <a:cs typeface="Open Sauce Bold"/>
                <a:sym typeface="Open Sauce Bold"/>
              </a:rPr>
              <a:t>Priority:</a:t>
            </a:r>
            <a:r>
              <a:rPr lang="en-US" sz="1500">
                <a:solidFill>
                  <a:srgbClr val="000000"/>
                </a:solidFill>
                <a:latin typeface="Open Sauce"/>
                <a:ea typeface="Open Sauce"/>
                <a:cs typeface="Open Sauce"/>
                <a:sym typeface="Open Sauce"/>
              </a:rPr>
              <a:t> Should                     </a:t>
            </a:r>
            <a:r>
              <a:rPr lang="en-US" b="true" sz="1500">
                <a:solidFill>
                  <a:srgbClr val="006D77"/>
                </a:solidFill>
                <a:latin typeface="Open Sauce Bold"/>
                <a:ea typeface="Open Sauce Bold"/>
                <a:cs typeface="Open Sauce Bold"/>
                <a:sym typeface="Open Sauce Bold"/>
              </a:rPr>
              <a:t>Story Points</a:t>
            </a:r>
            <a:r>
              <a:rPr lang="en-US" sz="1500">
                <a:solidFill>
                  <a:srgbClr val="000000"/>
                </a:solidFill>
                <a:latin typeface="Open Sauce"/>
                <a:ea typeface="Open Sauce"/>
                <a:cs typeface="Open Sauce"/>
                <a:sym typeface="Open Sauce"/>
              </a:rPr>
              <a:t>: 5 </a:t>
            </a:r>
          </a:p>
        </p:txBody>
      </p:sp>
      <p:sp>
        <p:nvSpPr>
          <p:cNvPr name="TextBox 14" id="14"/>
          <p:cNvSpPr txBox="true"/>
          <p:nvPr/>
        </p:nvSpPr>
        <p:spPr>
          <a:xfrm rot="0">
            <a:off x="4582032" y="4618838"/>
            <a:ext cx="3927767" cy="1600200"/>
          </a:xfrm>
          <a:prstGeom prst="rect">
            <a:avLst/>
          </a:prstGeom>
        </p:spPr>
        <p:txBody>
          <a:bodyPr anchor="t" rtlCol="false" tIns="0" lIns="0" bIns="0" rIns="0">
            <a:spAutoFit/>
          </a:bodyPr>
          <a:lstStyle/>
          <a:p>
            <a:pPr algn="l">
              <a:lnSpc>
                <a:spcPts val="1800"/>
              </a:lnSpc>
            </a:pPr>
            <a:r>
              <a:rPr lang="en-US" sz="1500" b="true">
                <a:solidFill>
                  <a:srgbClr val="000000"/>
                </a:solidFill>
                <a:latin typeface="Open Sauce Bold"/>
                <a:ea typeface="Open Sauce Bold"/>
                <a:cs typeface="Open Sauce Bold"/>
                <a:sym typeface="Open Sauce Bold"/>
              </a:rPr>
              <a:t>US6 – Mood Visualization</a:t>
            </a:r>
          </a:p>
          <a:p>
            <a:pPr algn="l">
              <a:lnSpc>
                <a:spcPts val="1800"/>
              </a:lnSpc>
            </a:pPr>
            <a:r>
              <a:rPr lang="en-US" sz="1500">
                <a:solidFill>
                  <a:srgbClr val="000000"/>
                </a:solidFill>
                <a:latin typeface="Open Sauce"/>
                <a:ea typeface="Open Sauce"/>
                <a:cs typeface="Open Sauce"/>
                <a:sym typeface="Open Sauce"/>
              </a:rPr>
              <a:t>As a user, I want to see a simple visualization of my mood history so that I can begin identifying patterns.</a:t>
            </a:r>
          </a:p>
          <a:p>
            <a:pPr algn="l">
              <a:lnSpc>
                <a:spcPts val="1800"/>
              </a:lnSpc>
            </a:pPr>
            <a:r>
              <a:rPr lang="en-US" sz="1500" u="sng">
                <a:solidFill>
                  <a:srgbClr val="000000"/>
                </a:solidFill>
                <a:latin typeface="Open Sauce"/>
                <a:ea typeface="Open Sauce"/>
                <a:cs typeface="Open Sauce"/>
                <a:sym typeface="Open Sauce"/>
              </a:rPr>
              <a:t>Acceptance Criteria</a:t>
            </a:r>
          </a:p>
          <a:p>
            <a:pPr algn="l" marL="323850" indent="-161925" lvl="1">
              <a:lnSpc>
                <a:spcPts val="1800"/>
              </a:lnSpc>
              <a:buFont typeface="Arial"/>
              <a:buChar char="•"/>
            </a:pPr>
            <a:r>
              <a:rPr lang="en-US" sz="1500">
                <a:solidFill>
                  <a:srgbClr val="000000"/>
                </a:solidFill>
                <a:latin typeface="Open Sauce"/>
                <a:ea typeface="Open Sauce"/>
                <a:cs typeface="Open Sauce"/>
                <a:sym typeface="Open Sauce"/>
              </a:rPr>
              <a:t>Simp</a:t>
            </a:r>
            <a:r>
              <a:rPr lang="en-US" sz="1500">
                <a:solidFill>
                  <a:srgbClr val="000000"/>
                </a:solidFill>
                <a:latin typeface="Open Sauce"/>
                <a:ea typeface="Open Sauce"/>
                <a:cs typeface="Open Sauce"/>
                <a:sym typeface="Open Sauce"/>
              </a:rPr>
              <a:t>le chart renders</a:t>
            </a:r>
          </a:p>
          <a:p>
            <a:pPr algn="l" marL="323850" indent="-161925" lvl="1">
              <a:lnSpc>
                <a:spcPts val="1800"/>
              </a:lnSpc>
              <a:spcBef>
                <a:spcPct val="0"/>
              </a:spcBef>
              <a:buFont typeface="Arial"/>
              <a:buChar char="•"/>
            </a:pPr>
            <a:r>
              <a:rPr lang="en-US" sz="1500">
                <a:solidFill>
                  <a:srgbClr val="000000"/>
                </a:solidFill>
                <a:latin typeface="Open Sauce"/>
                <a:ea typeface="Open Sauce"/>
                <a:cs typeface="Open Sauce"/>
                <a:sym typeface="Open Sauce"/>
              </a:rPr>
              <a:t>Up</a:t>
            </a:r>
            <a:r>
              <a:rPr lang="en-US" sz="1500">
                <a:solidFill>
                  <a:srgbClr val="000000"/>
                </a:solidFill>
                <a:latin typeface="Open Sauce"/>
                <a:ea typeface="Open Sauce"/>
                <a:cs typeface="Open Sauce"/>
                <a:sym typeface="Open Sauce"/>
              </a:rPr>
              <a:t>dates after submission</a:t>
            </a:r>
          </a:p>
        </p:txBody>
      </p:sp>
      <p:sp>
        <p:nvSpPr>
          <p:cNvPr name="TextBox 15" id="15"/>
          <p:cNvSpPr txBox="true"/>
          <p:nvPr/>
        </p:nvSpPr>
        <p:spPr>
          <a:xfrm rot="0">
            <a:off x="4582032" y="6781013"/>
            <a:ext cx="3924300" cy="228600"/>
          </a:xfrm>
          <a:prstGeom prst="rect">
            <a:avLst/>
          </a:prstGeom>
        </p:spPr>
        <p:txBody>
          <a:bodyPr anchor="t" rtlCol="false" tIns="0" lIns="0" bIns="0" rIns="0">
            <a:spAutoFit/>
          </a:bodyPr>
          <a:lstStyle/>
          <a:p>
            <a:pPr algn="l">
              <a:lnSpc>
                <a:spcPts val="1800"/>
              </a:lnSpc>
              <a:spcBef>
                <a:spcPct val="0"/>
              </a:spcBef>
            </a:pPr>
            <a:r>
              <a:rPr lang="en-US" b="true" sz="1500">
                <a:solidFill>
                  <a:srgbClr val="006D77"/>
                </a:solidFill>
                <a:latin typeface="Open Sauce Bold"/>
                <a:ea typeface="Open Sauce Bold"/>
                <a:cs typeface="Open Sauce Bold"/>
                <a:sym typeface="Open Sauce Bold"/>
              </a:rPr>
              <a:t>Priority:</a:t>
            </a:r>
            <a:r>
              <a:rPr lang="en-US" sz="1500">
                <a:solidFill>
                  <a:srgbClr val="000000"/>
                </a:solidFill>
                <a:latin typeface="Open Sauce"/>
                <a:ea typeface="Open Sauce"/>
                <a:cs typeface="Open Sauce"/>
                <a:sym typeface="Open Sauce"/>
              </a:rPr>
              <a:t> Should                    </a:t>
            </a:r>
            <a:r>
              <a:rPr lang="en-US" b="true" sz="1500">
                <a:solidFill>
                  <a:srgbClr val="006D77"/>
                </a:solidFill>
                <a:latin typeface="Open Sauce Bold"/>
                <a:ea typeface="Open Sauce Bold"/>
                <a:cs typeface="Open Sauce Bold"/>
                <a:sym typeface="Open Sauce Bold"/>
              </a:rPr>
              <a:t>Story Points</a:t>
            </a:r>
            <a:r>
              <a:rPr lang="en-US" sz="1500">
                <a:solidFill>
                  <a:srgbClr val="000000"/>
                </a:solidFill>
                <a:latin typeface="Open Sauce"/>
                <a:ea typeface="Open Sauce"/>
                <a:cs typeface="Open Sauce"/>
                <a:sym typeface="Open Sauce"/>
              </a:rPr>
              <a:t>: 5 </a:t>
            </a:r>
          </a:p>
        </p:txBody>
      </p:sp>
      <p:sp>
        <p:nvSpPr>
          <p:cNvPr name="TextBox 16" id="16"/>
          <p:cNvSpPr txBox="true"/>
          <p:nvPr/>
        </p:nvSpPr>
        <p:spPr>
          <a:xfrm rot="0">
            <a:off x="8821994" y="4618838"/>
            <a:ext cx="3927767" cy="1828800"/>
          </a:xfrm>
          <a:prstGeom prst="rect">
            <a:avLst/>
          </a:prstGeom>
        </p:spPr>
        <p:txBody>
          <a:bodyPr anchor="t" rtlCol="false" tIns="0" lIns="0" bIns="0" rIns="0">
            <a:spAutoFit/>
          </a:bodyPr>
          <a:lstStyle/>
          <a:p>
            <a:pPr algn="l">
              <a:lnSpc>
                <a:spcPts val="1800"/>
              </a:lnSpc>
            </a:pPr>
            <a:r>
              <a:rPr lang="en-US" sz="1500" b="true">
                <a:solidFill>
                  <a:srgbClr val="000000"/>
                </a:solidFill>
                <a:latin typeface="Open Sauce Bold"/>
                <a:ea typeface="Open Sauce Bold"/>
                <a:cs typeface="Open Sauce Bold"/>
                <a:sym typeface="Open Sauce Bold"/>
              </a:rPr>
              <a:t>US16 – Error Handling</a:t>
            </a:r>
          </a:p>
          <a:p>
            <a:pPr algn="l">
              <a:lnSpc>
                <a:spcPts val="1800"/>
              </a:lnSpc>
            </a:pPr>
            <a:r>
              <a:rPr lang="en-US" sz="1500">
                <a:solidFill>
                  <a:srgbClr val="000000"/>
                </a:solidFill>
                <a:latin typeface="Open Sauce"/>
                <a:ea typeface="Open Sauce"/>
                <a:cs typeface="Open Sauce"/>
                <a:sym typeface="Open Sauce"/>
              </a:rPr>
              <a:t>As a user, I want reliable error handling so that I understand when something goes wrong.</a:t>
            </a:r>
          </a:p>
          <a:p>
            <a:pPr algn="l">
              <a:lnSpc>
                <a:spcPts val="1800"/>
              </a:lnSpc>
            </a:pPr>
            <a:r>
              <a:rPr lang="en-US" sz="1500" u="sng">
                <a:solidFill>
                  <a:srgbClr val="000000"/>
                </a:solidFill>
                <a:latin typeface="Open Sauce"/>
                <a:ea typeface="Open Sauce"/>
                <a:cs typeface="Open Sauce"/>
                <a:sym typeface="Open Sauce"/>
              </a:rPr>
              <a:t>Acceptance Criteria</a:t>
            </a:r>
          </a:p>
          <a:p>
            <a:pPr algn="l" marL="323850" indent="-161925" lvl="1">
              <a:lnSpc>
                <a:spcPts val="1800"/>
              </a:lnSpc>
              <a:buFont typeface="Arial"/>
              <a:buChar char="•"/>
            </a:pPr>
            <a:r>
              <a:rPr lang="en-US" sz="1500">
                <a:solidFill>
                  <a:srgbClr val="000000"/>
                </a:solidFill>
                <a:latin typeface="Open Sauce"/>
                <a:ea typeface="Open Sauce"/>
                <a:cs typeface="Open Sauce"/>
                <a:sym typeface="Open Sauce"/>
              </a:rPr>
              <a:t>API</a:t>
            </a:r>
            <a:r>
              <a:rPr lang="en-US" sz="1500">
                <a:solidFill>
                  <a:srgbClr val="000000"/>
                </a:solidFill>
                <a:latin typeface="Open Sauce"/>
                <a:ea typeface="Open Sauce"/>
                <a:cs typeface="Open Sauce"/>
                <a:sym typeface="Open Sauce"/>
              </a:rPr>
              <a:t> errors handled gracefully</a:t>
            </a:r>
          </a:p>
          <a:p>
            <a:pPr algn="l" marL="323850" indent="-161925" lvl="1">
              <a:lnSpc>
                <a:spcPts val="1800"/>
              </a:lnSpc>
              <a:buFont typeface="Arial"/>
              <a:buChar char="•"/>
            </a:pPr>
            <a:r>
              <a:rPr lang="en-US" sz="1500">
                <a:solidFill>
                  <a:srgbClr val="000000"/>
                </a:solidFill>
                <a:latin typeface="Open Sauce"/>
                <a:ea typeface="Open Sauce"/>
                <a:cs typeface="Open Sauce"/>
                <a:sym typeface="Open Sauce"/>
              </a:rPr>
              <a:t>Clear error messages displayed</a:t>
            </a:r>
          </a:p>
          <a:p>
            <a:pPr algn="l" marL="323850" indent="-161925" lvl="1">
              <a:lnSpc>
                <a:spcPts val="1800"/>
              </a:lnSpc>
              <a:spcBef>
                <a:spcPct val="0"/>
              </a:spcBef>
              <a:buFont typeface="Arial"/>
              <a:buChar char="•"/>
            </a:pPr>
            <a:r>
              <a:rPr lang="en-US" sz="1500">
                <a:solidFill>
                  <a:srgbClr val="000000"/>
                </a:solidFill>
                <a:latin typeface="Open Sauce"/>
                <a:ea typeface="Open Sauce"/>
                <a:cs typeface="Open Sauce"/>
                <a:sym typeface="Open Sauce"/>
              </a:rPr>
              <a:t>N</a:t>
            </a:r>
            <a:r>
              <a:rPr lang="en-US" sz="1500">
                <a:solidFill>
                  <a:srgbClr val="000000"/>
                </a:solidFill>
                <a:latin typeface="Open Sauce"/>
                <a:ea typeface="Open Sauce"/>
                <a:cs typeface="Open Sauce"/>
                <a:sym typeface="Open Sauce"/>
              </a:rPr>
              <a:t>o system crashes</a:t>
            </a:r>
          </a:p>
        </p:txBody>
      </p:sp>
      <p:sp>
        <p:nvSpPr>
          <p:cNvPr name="TextBox 17" id="17"/>
          <p:cNvSpPr txBox="true"/>
          <p:nvPr/>
        </p:nvSpPr>
        <p:spPr>
          <a:xfrm rot="0">
            <a:off x="8821994" y="6781013"/>
            <a:ext cx="3924300" cy="228600"/>
          </a:xfrm>
          <a:prstGeom prst="rect">
            <a:avLst/>
          </a:prstGeom>
        </p:spPr>
        <p:txBody>
          <a:bodyPr anchor="t" rtlCol="false" tIns="0" lIns="0" bIns="0" rIns="0">
            <a:spAutoFit/>
          </a:bodyPr>
          <a:lstStyle/>
          <a:p>
            <a:pPr algn="l">
              <a:lnSpc>
                <a:spcPts val="1800"/>
              </a:lnSpc>
              <a:spcBef>
                <a:spcPct val="0"/>
              </a:spcBef>
            </a:pPr>
            <a:r>
              <a:rPr lang="en-US" b="true" sz="1500">
                <a:solidFill>
                  <a:srgbClr val="006D77"/>
                </a:solidFill>
                <a:latin typeface="Open Sauce Bold"/>
                <a:ea typeface="Open Sauce Bold"/>
                <a:cs typeface="Open Sauce Bold"/>
                <a:sym typeface="Open Sauce Bold"/>
              </a:rPr>
              <a:t>Priority:</a:t>
            </a:r>
            <a:r>
              <a:rPr lang="en-US" sz="1500">
                <a:solidFill>
                  <a:srgbClr val="000000"/>
                </a:solidFill>
                <a:latin typeface="Open Sauce"/>
                <a:ea typeface="Open Sauce"/>
                <a:cs typeface="Open Sauce"/>
                <a:sym typeface="Open Sauce"/>
              </a:rPr>
              <a:t> Must                        </a:t>
            </a:r>
            <a:r>
              <a:rPr lang="en-US" b="true" sz="1500">
                <a:solidFill>
                  <a:srgbClr val="006D77"/>
                </a:solidFill>
                <a:latin typeface="Open Sauce Bold"/>
                <a:ea typeface="Open Sauce Bold"/>
                <a:cs typeface="Open Sauce Bold"/>
                <a:sym typeface="Open Sauce Bold"/>
              </a:rPr>
              <a:t>Story Points</a:t>
            </a:r>
            <a:r>
              <a:rPr lang="en-US" sz="1500">
                <a:solidFill>
                  <a:srgbClr val="000000"/>
                </a:solidFill>
                <a:latin typeface="Open Sauce"/>
                <a:ea typeface="Open Sauce"/>
                <a:cs typeface="Open Sauce"/>
                <a:sym typeface="Open Sauce"/>
              </a:rPr>
              <a:t>: 3 </a:t>
            </a:r>
          </a:p>
        </p:txBody>
      </p:sp>
      <p:sp>
        <p:nvSpPr>
          <p:cNvPr name="TextBox 18" id="18"/>
          <p:cNvSpPr txBox="true"/>
          <p:nvPr/>
        </p:nvSpPr>
        <p:spPr>
          <a:xfrm rot="0">
            <a:off x="13057153" y="4599788"/>
            <a:ext cx="3927767" cy="2057400"/>
          </a:xfrm>
          <a:prstGeom prst="rect">
            <a:avLst/>
          </a:prstGeom>
        </p:spPr>
        <p:txBody>
          <a:bodyPr anchor="t" rtlCol="false" tIns="0" lIns="0" bIns="0" rIns="0">
            <a:spAutoFit/>
          </a:bodyPr>
          <a:lstStyle/>
          <a:p>
            <a:pPr algn="l">
              <a:lnSpc>
                <a:spcPts val="1800"/>
              </a:lnSpc>
            </a:pPr>
            <a:r>
              <a:rPr lang="en-US" sz="1500" b="true">
                <a:solidFill>
                  <a:srgbClr val="000000"/>
                </a:solidFill>
                <a:latin typeface="Open Sauce Bold"/>
                <a:ea typeface="Open Sauce Bold"/>
                <a:cs typeface="Open Sauce Bold"/>
                <a:sym typeface="Open Sauce Bold"/>
              </a:rPr>
              <a:t>US18 – Improved Mood Visualization</a:t>
            </a:r>
          </a:p>
          <a:p>
            <a:pPr algn="l">
              <a:lnSpc>
                <a:spcPts val="1800"/>
              </a:lnSpc>
            </a:pPr>
            <a:r>
              <a:rPr lang="en-US" sz="1500">
                <a:solidFill>
                  <a:srgbClr val="000000"/>
                </a:solidFill>
                <a:latin typeface="Open Sauce"/>
                <a:ea typeface="Open Sauce"/>
                <a:cs typeface="Open Sauce"/>
                <a:sym typeface="Open Sauce"/>
              </a:rPr>
              <a:t>As a user, I want a clearer visualization of my mood data so that I can better understand trends.</a:t>
            </a:r>
          </a:p>
          <a:p>
            <a:pPr algn="l">
              <a:lnSpc>
                <a:spcPts val="1800"/>
              </a:lnSpc>
            </a:pPr>
            <a:r>
              <a:rPr lang="en-US" sz="1500" u="sng">
                <a:solidFill>
                  <a:srgbClr val="000000"/>
                </a:solidFill>
                <a:latin typeface="Open Sauce"/>
                <a:ea typeface="Open Sauce"/>
                <a:cs typeface="Open Sauce"/>
                <a:sym typeface="Open Sauce"/>
              </a:rPr>
              <a:t>Acceptance Criteria</a:t>
            </a:r>
          </a:p>
          <a:p>
            <a:pPr algn="l" marL="323850" indent="-161925" lvl="1">
              <a:lnSpc>
                <a:spcPts val="1800"/>
              </a:lnSpc>
              <a:buFont typeface="Arial"/>
              <a:buChar char="•"/>
            </a:pPr>
            <a:r>
              <a:rPr lang="en-US" sz="1500">
                <a:solidFill>
                  <a:srgbClr val="000000"/>
                </a:solidFill>
                <a:latin typeface="Open Sauce"/>
                <a:ea typeface="Open Sauce"/>
                <a:cs typeface="Open Sauce"/>
                <a:sym typeface="Open Sauce"/>
              </a:rPr>
              <a:t>C</a:t>
            </a:r>
            <a:r>
              <a:rPr lang="en-US" sz="1500">
                <a:solidFill>
                  <a:srgbClr val="000000"/>
                </a:solidFill>
                <a:latin typeface="Open Sauce"/>
                <a:ea typeface="Open Sauce"/>
                <a:cs typeface="Open Sauce"/>
                <a:sym typeface="Open Sauce"/>
              </a:rPr>
              <a:t>hart labels are clear</a:t>
            </a:r>
          </a:p>
          <a:p>
            <a:pPr algn="l" marL="323850" indent="-161925" lvl="1">
              <a:lnSpc>
                <a:spcPts val="1800"/>
              </a:lnSpc>
              <a:buFont typeface="Arial"/>
              <a:buChar char="•"/>
            </a:pPr>
            <a:r>
              <a:rPr lang="en-US" sz="1500">
                <a:solidFill>
                  <a:srgbClr val="000000"/>
                </a:solidFill>
                <a:latin typeface="Open Sauce"/>
                <a:ea typeface="Open Sauce"/>
                <a:cs typeface="Open Sauce"/>
                <a:sym typeface="Open Sauce"/>
              </a:rPr>
              <a:t>Ax</a:t>
            </a:r>
            <a:r>
              <a:rPr lang="en-US" sz="1500">
                <a:solidFill>
                  <a:srgbClr val="000000"/>
                </a:solidFill>
                <a:latin typeface="Open Sauce"/>
                <a:ea typeface="Open Sauce"/>
                <a:cs typeface="Open Sauce"/>
                <a:sym typeface="Open Sauce"/>
              </a:rPr>
              <a:t>es properly defined</a:t>
            </a:r>
          </a:p>
          <a:p>
            <a:pPr algn="l" marL="323850" indent="-161925" lvl="1">
              <a:lnSpc>
                <a:spcPts val="1800"/>
              </a:lnSpc>
              <a:spcBef>
                <a:spcPct val="0"/>
              </a:spcBef>
              <a:buFont typeface="Arial"/>
              <a:buChar char="•"/>
            </a:pPr>
            <a:r>
              <a:rPr lang="en-US" sz="1500">
                <a:solidFill>
                  <a:srgbClr val="000000"/>
                </a:solidFill>
                <a:latin typeface="Open Sauce"/>
                <a:ea typeface="Open Sauce"/>
                <a:cs typeface="Open Sauce"/>
                <a:sym typeface="Open Sauce"/>
              </a:rPr>
              <a:t>Colors distinguish sentiment categories</a:t>
            </a:r>
          </a:p>
        </p:txBody>
      </p:sp>
      <p:sp>
        <p:nvSpPr>
          <p:cNvPr name="TextBox 19" id="19"/>
          <p:cNvSpPr txBox="true"/>
          <p:nvPr/>
        </p:nvSpPr>
        <p:spPr>
          <a:xfrm rot="0">
            <a:off x="13060619" y="6781013"/>
            <a:ext cx="3924300" cy="228600"/>
          </a:xfrm>
          <a:prstGeom prst="rect">
            <a:avLst/>
          </a:prstGeom>
        </p:spPr>
        <p:txBody>
          <a:bodyPr anchor="t" rtlCol="false" tIns="0" lIns="0" bIns="0" rIns="0">
            <a:spAutoFit/>
          </a:bodyPr>
          <a:lstStyle/>
          <a:p>
            <a:pPr algn="l">
              <a:lnSpc>
                <a:spcPts val="1800"/>
              </a:lnSpc>
              <a:spcBef>
                <a:spcPct val="0"/>
              </a:spcBef>
            </a:pPr>
            <a:r>
              <a:rPr lang="en-US" b="true" sz="1500">
                <a:solidFill>
                  <a:srgbClr val="006D77"/>
                </a:solidFill>
                <a:latin typeface="Open Sauce Bold"/>
                <a:ea typeface="Open Sauce Bold"/>
                <a:cs typeface="Open Sauce Bold"/>
                <a:sym typeface="Open Sauce Bold"/>
              </a:rPr>
              <a:t>Priority:</a:t>
            </a:r>
            <a:r>
              <a:rPr lang="en-US" sz="1500">
                <a:solidFill>
                  <a:srgbClr val="000000"/>
                </a:solidFill>
                <a:latin typeface="Open Sauce"/>
                <a:ea typeface="Open Sauce"/>
                <a:cs typeface="Open Sauce"/>
                <a:sym typeface="Open Sauce"/>
              </a:rPr>
              <a:t> Should                     </a:t>
            </a:r>
            <a:r>
              <a:rPr lang="en-US" b="true" sz="1500">
                <a:solidFill>
                  <a:srgbClr val="006D77"/>
                </a:solidFill>
                <a:latin typeface="Open Sauce Bold"/>
                <a:ea typeface="Open Sauce Bold"/>
                <a:cs typeface="Open Sauce Bold"/>
                <a:sym typeface="Open Sauce Bold"/>
              </a:rPr>
              <a:t>Story Points</a:t>
            </a:r>
            <a:r>
              <a:rPr lang="en-US" sz="1500">
                <a:solidFill>
                  <a:srgbClr val="000000"/>
                </a:solidFill>
                <a:latin typeface="Open Sauce"/>
                <a:ea typeface="Open Sauce"/>
                <a:cs typeface="Open Sauce"/>
                <a:sym typeface="Open Sauce"/>
              </a:rPr>
              <a:t>: 3 </a:t>
            </a:r>
          </a:p>
        </p:txBody>
      </p:sp>
      <p:sp>
        <p:nvSpPr>
          <p:cNvPr name="TextBox 20" id="20"/>
          <p:cNvSpPr txBox="true"/>
          <p:nvPr/>
        </p:nvSpPr>
        <p:spPr>
          <a:xfrm rot="0">
            <a:off x="13362297" y="9604216"/>
            <a:ext cx="4759598" cy="511618"/>
          </a:xfrm>
          <a:prstGeom prst="rect">
            <a:avLst/>
          </a:prstGeom>
        </p:spPr>
        <p:txBody>
          <a:bodyPr anchor="t" rtlCol="false" tIns="0" lIns="0" bIns="0" rIns="0">
            <a:spAutoFit/>
          </a:bodyPr>
          <a:lstStyle/>
          <a:p>
            <a:pPr algn="ctr">
              <a:lnSpc>
                <a:spcPts val="4286"/>
              </a:lnSpc>
              <a:spcBef>
                <a:spcPct val="0"/>
              </a:spcBef>
            </a:pPr>
            <a:r>
              <a:rPr lang="en-US" sz="2678" spc="267" u="sng">
                <a:solidFill>
                  <a:srgbClr val="000000"/>
                </a:solidFill>
                <a:latin typeface="Lato"/>
                <a:ea typeface="Lato"/>
                <a:cs typeface="Lato"/>
                <a:sym typeface="Lato"/>
                <a:hlinkClick r:id="rId2" tooltip="https://1drv.ms/x/c/c30f4680ccc79b8c/IQC9fztrzBx4Rrh7wy889blgAWKdZ5Khnt9L0mDcJNT6C-c"/>
              </a:rPr>
              <a:t>Detailed spreadsheet here</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934075" y="680085"/>
            <a:ext cx="7242444" cy="741045"/>
          </a:xfrm>
          <a:prstGeom prst="rect">
            <a:avLst/>
          </a:prstGeom>
        </p:spPr>
        <p:txBody>
          <a:bodyPr anchor="t" rtlCol="false" tIns="0" lIns="0" bIns="0" rIns="0">
            <a:spAutoFit/>
          </a:bodyPr>
          <a:lstStyle/>
          <a:p>
            <a:pPr algn="l" marL="0" indent="0" lvl="0">
              <a:lnSpc>
                <a:spcPts val="5880"/>
              </a:lnSpc>
            </a:pPr>
            <a:r>
              <a:rPr lang="en-US" b="true" sz="4200" spc="210">
                <a:solidFill>
                  <a:srgbClr val="000000"/>
                </a:solidFill>
                <a:latin typeface="Helios Extended Bold"/>
                <a:ea typeface="Helios Extended Bold"/>
                <a:cs typeface="Helios Extended Bold"/>
                <a:sym typeface="Helios Extended Bold"/>
              </a:rPr>
              <a:t>PRODUCT BACKLOG</a:t>
            </a:r>
          </a:p>
        </p:txBody>
      </p:sp>
      <p:sp>
        <p:nvSpPr>
          <p:cNvPr name="TextBox 3" id="3"/>
          <p:cNvSpPr txBox="true"/>
          <p:nvPr/>
        </p:nvSpPr>
        <p:spPr>
          <a:xfrm rot="0">
            <a:off x="4582032" y="2366634"/>
            <a:ext cx="3927767" cy="1828800"/>
          </a:xfrm>
          <a:prstGeom prst="rect">
            <a:avLst/>
          </a:prstGeom>
        </p:spPr>
        <p:txBody>
          <a:bodyPr anchor="t" rtlCol="false" tIns="0" lIns="0" bIns="0" rIns="0">
            <a:spAutoFit/>
          </a:bodyPr>
          <a:lstStyle/>
          <a:p>
            <a:pPr algn="l">
              <a:lnSpc>
                <a:spcPts val="1800"/>
              </a:lnSpc>
            </a:pPr>
            <a:r>
              <a:rPr lang="en-US" sz="1500" b="true">
                <a:solidFill>
                  <a:srgbClr val="000000"/>
                </a:solidFill>
                <a:latin typeface="Open Sauce Bold"/>
                <a:ea typeface="Open Sauce Bold"/>
                <a:cs typeface="Open Sauce Bold"/>
                <a:sym typeface="Open Sauce Bold"/>
              </a:rPr>
              <a:t>US19 – Secure Backend Endpoints</a:t>
            </a:r>
          </a:p>
          <a:p>
            <a:pPr algn="l">
              <a:lnSpc>
                <a:spcPts val="1800"/>
              </a:lnSpc>
            </a:pPr>
            <a:r>
              <a:rPr lang="en-US" sz="1500">
                <a:solidFill>
                  <a:srgbClr val="000000"/>
                </a:solidFill>
                <a:latin typeface="Open Sauce"/>
                <a:ea typeface="Open Sauce"/>
                <a:cs typeface="Open Sauce"/>
                <a:sym typeface="Open Sauce"/>
              </a:rPr>
              <a:t>As a system, I want to secure backend endpoints so that only authenticated users can access protected resources.</a:t>
            </a:r>
          </a:p>
          <a:p>
            <a:pPr algn="l">
              <a:lnSpc>
                <a:spcPts val="1800"/>
              </a:lnSpc>
            </a:pPr>
            <a:r>
              <a:rPr lang="en-US" sz="1500" u="sng">
                <a:solidFill>
                  <a:srgbClr val="000000"/>
                </a:solidFill>
                <a:latin typeface="Open Sauce"/>
                <a:ea typeface="Open Sauce"/>
                <a:cs typeface="Open Sauce"/>
                <a:sym typeface="Open Sauce"/>
              </a:rPr>
              <a:t>Acceptance Criteria</a:t>
            </a:r>
          </a:p>
          <a:p>
            <a:pPr algn="l" marL="323850" indent="-161925" lvl="1">
              <a:lnSpc>
                <a:spcPts val="1800"/>
              </a:lnSpc>
              <a:buFont typeface="Arial"/>
              <a:buChar char="•"/>
            </a:pPr>
            <a:r>
              <a:rPr lang="en-US" sz="1500">
                <a:solidFill>
                  <a:srgbClr val="000000"/>
                </a:solidFill>
                <a:latin typeface="Open Sauce"/>
                <a:ea typeface="Open Sauce"/>
                <a:cs typeface="Open Sauce"/>
                <a:sym typeface="Open Sauce"/>
              </a:rPr>
              <a:t>JWT</a:t>
            </a:r>
            <a:r>
              <a:rPr lang="en-US" sz="1500">
                <a:solidFill>
                  <a:srgbClr val="000000"/>
                </a:solidFill>
                <a:latin typeface="Open Sauce"/>
                <a:ea typeface="Open Sauce"/>
                <a:cs typeface="Open Sauce"/>
                <a:sym typeface="Open Sauce"/>
              </a:rPr>
              <a:t> required</a:t>
            </a:r>
          </a:p>
          <a:p>
            <a:pPr algn="l" marL="323850" indent="-161925" lvl="1">
              <a:lnSpc>
                <a:spcPts val="1800"/>
              </a:lnSpc>
              <a:buFont typeface="Arial"/>
              <a:buChar char="•"/>
            </a:pPr>
            <a:r>
              <a:rPr lang="en-US" sz="1500">
                <a:solidFill>
                  <a:srgbClr val="000000"/>
                </a:solidFill>
                <a:latin typeface="Open Sauce"/>
                <a:ea typeface="Open Sauce"/>
                <a:cs typeface="Open Sauce"/>
                <a:sym typeface="Open Sauce"/>
              </a:rPr>
              <a:t>Un</a:t>
            </a:r>
            <a:r>
              <a:rPr lang="en-US" sz="1500">
                <a:solidFill>
                  <a:srgbClr val="000000"/>
                </a:solidFill>
                <a:latin typeface="Open Sauce"/>
                <a:ea typeface="Open Sauce"/>
                <a:cs typeface="Open Sauce"/>
                <a:sym typeface="Open Sauce"/>
              </a:rPr>
              <a:t>authorized requests blocked</a:t>
            </a:r>
          </a:p>
          <a:p>
            <a:pPr algn="l" marL="323850" indent="-161925" lvl="1">
              <a:lnSpc>
                <a:spcPts val="1800"/>
              </a:lnSpc>
              <a:spcBef>
                <a:spcPct val="0"/>
              </a:spcBef>
              <a:buFont typeface="Arial"/>
              <a:buChar char="•"/>
            </a:pPr>
            <a:r>
              <a:rPr lang="en-US" sz="1500">
                <a:solidFill>
                  <a:srgbClr val="000000"/>
                </a:solidFill>
                <a:latin typeface="Open Sauce"/>
                <a:ea typeface="Open Sauce"/>
                <a:cs typeface="Open Sauce"/>
                <a:sym typeface="Open Sauce"/>
              </a:rPr>
              <a:t>Pro</a:t>
            </a:r>
            <a:r>
              <a:rPr lang="en-US" sz="1500">
                <a:solidFill>
                  <a:srgbClr val="000000"/>
                </a:solidFill>
                <a:latin typeface="Open Sauce"/>
                <a:ea typeface="Open Sauce"/>
                <a:cs typeface="Open Sauce"/>
                <a:sym typeface="Open Sauce"/>
              </a:rPr>
              <a:t>per error responses</a:t>
            </a:r>
          </a:p>
        </p:txBody>
      </p:sp>
      <p:sp>
        <p:nvSpPr>
          <p:cNvPr name="TextBox 4" id="4"/>
          <p:cNvSpPr txBox="true"/>
          <p:nvPr/>
        </p:nvSpPr>
        <p:spPr>
          <a:xfrm rot="0">
            <a:off x="1028700" y="2881937"/>
            <a:ext cx="2872090" cy="921385"/>
          </a:xfrm>
          <a:prstGeom prst="rect">
            <a:avLst/>
          </a:prstGeom>
        </p:spPr>
        <p:txBody>
          <a:bodyPr anchor="t" rtlCol="false" tIns="0" lIns="0" bIns="0" rIns="0">
            <a:spAutoFit/>
          </a:bodyPr>
          <a:lstStyle/>
          <a:p>
            <a:pPr algn="l">
              <a:lnSpc>
                <a:spcPts val="3680"/>
              </a:lnSpc>
            </a:pPr>
            <a:r>
              <a:rPr lang="en-US" b="true" sz="2300" spc="230">
                <a:solidFill>
                  <a:srgbClr val="006D77"/>
                </a:solidFill>
                <a:latin typeface="Arimo Bold"/>
                <a:ea typeface="Arimo Bold"/>
                <a:cs typeface="Arimo Bold"/>
                <a:sym typeface="Arimo Bold"/>
              </a:rPr>
              <a:t>ADDITIONAL</a:t>
            </a:r>
          </a:p>
          <a:p>
            <a:pPr algn="l">
              <a:lnSpc>
                <a:spcPts val="3680"/>
              </a:lnSpc>
            </a:pPr>
            <a:r>
              <a:rPr lang="en-US" b="true" sz="2300" spc="230">
                <a:solidFill>
                  <a:srgbClr val="006D77"/>
                </a:solidFill>
                <a:latin typeface="Arimo Bold"/>
                <a:ea typeface="Arimo Bold"/>
                <a:cs typeface="Arimo Bold"/>
                <a:sym typeface="Arimo Bold"/>
              </a:rPr>
              <a:t>FEATURES</a:t>
            </a:r>
          </a:p>
        </p:txBody>
      </p:sp>
      <p:sp>
        <p:nvSpPr>
          <p:cNvPr name="TextBox 5" id="5"/>
          <p:cNvSpPr txBox="true"/>
          <p:nvPr/>
        </p:nvSpPr>
        <p:spPr>
          <a:xfrm rot="0">
            <a:off x="1028700" y="5539105"/>
            <a:ext cx="2966125" cy="921385"/>
          </a:xfrm>
          <a:prstGeom prst="rect">
            <a:avLst/>
          </a:prstGeom>
        </p:spPr>
        <p:txBody>
          <a:bodyPr anchor="t" rtlCol="false" tIns="0" lIns="0" bIns="0" rIns="0">
            <a:spAutoFit/>
          </a:bodyPr>
          <a:lstStyle/>
          <a:p>
            <a:pPr algn="l">
              <a:lnSpc>
                <a:spcPts val="3680"/>
              </a:lnSpc>
            </a:pPr>
            <a:r>
              <a:rPr lang="en-US" b="true" sz="2300" spc="230">
                <a:solidFill>
                  <a:srgbClr val="006D77"/>
                </a:solidFill>
                <a:latin typeface="Arimo Bold"/>
                <a:ea typeface="Arimo Bold"/>
                <a:cs typeface="Arimo Bold"/>
                <a:sym typeface="Arimo Bold"/>
              </a:rPr>
              <a:t>FUTURE FEATURES</a:t>
            </a:r>
          </a:p>
        </p:txBody>
      </p:sp>
      <p:sp>
        <p:nvSpPr>
          <p:cNvPr name="TextBox 6" id="6"/>
          <p:cNvSpPr txBox="true"/>
          <p:nvPr/>
        </p:nvSpPr>
        <p:spPr>
          <a:xfrm rot="0">
            <a:off x="4585499" y="4411504"/>
            <a:ext cx="3924300" cy="228600"/>
          </a:xfrm>
          <a:prstGeom prst="rect">
            <a:avLst/>
          </a:prstGeom>
        </p:spPr>
        <p:txBody>
          <a:bodyPr anchor="t" rtlCol="false" tIns="0" lIns="0" bIns="0" rIns="0">
            <a:spAutoFit/>
          </a:bodyPr>
          <a:lstStyle/>
          <a:p>
            <a:pPr algn="l">
              <a:lnSpc>
                <a:spcPts val="1800"/>
              </a:lnSpc>
              <a:spcBef>
                <a:spcPct val="0"/>
              </a:spcBef>
            </a:pPr>
            <a:r>
              <a:rPr lang="en-US" b="true" sz="1500">
                <a:solidFill>
                  <a:srgbClr val="006D77"/>
                </a:solidFill>
                <a:latin typeface="Open Sauce Bold"/>
                <a:ea typeface="Open Sauce Bold"/>
                <a:cs typeface="Open Sauce Bold"/>
                <a:sym typeface="Open Sauce Bold"/>
              </a:rPr>
              <a:t>Priority:</a:t>
            </a:r>
            <a:r>
              <a:rPr lang="en-US" sz="1500">
                <a:solidFill>
                  <a:srgbClr val="000000"/>
                </a:solidFill>
                <a:latin typeface="Open Sauce"/>
                <a:ea typeface="Open Sauce"/>
                <a:cs typeface="Open Sauce"/>
                <a:sym typeface="Open Sauce"/>
              </a:rPr>
              <a:t> Must                        </a:t>
            </a:r>
            <a:r>
              <a:rPr lang="en-US" b="true" sz="1500">
                <a:solidFill>
                  <a:srgbClr val="006D77"/>
                </a:solidFill>
                <a:latin typeface="Open Sauce Bold"/>
                <a:ea typeface="Open Sauce Bold"/>
                <a:cs typeface="Open Sauce Bold"/>
                <a:sym typeface="Open Sauce Bold"/>
              </a:rPr>
              <a:t>Story Points</a:t>
            </a:r>
            <a:r>
              <a:rPr lang="en-US" sz="1500">
                <a:solidFill>
                  <a:srgbClr val="000000"/>
                </a:solidFill>
                <a:latin typeface="Open Sauce"/>
                <a:ea typeface="Open Sauce"/>
                <a:cs typeface="Open Sauce"/>
                <a:sym typeface="Open Sauce"/>
              </a:rPr>
              <a:t>: 3</a:t>
            </a:r>
          </a:p>
        </p:txBody>
      </p:sp>
      <p:sp>
        <p:nvSpPr>
          <p:cNvPr name="TextBox 7" id="7"/>
          <p:cNvSpPr txBox="true"/>
          <p:nvPr/>
        </p:nvSpPr>
        <p:spPr>
          <a:xfrm rot="0">
            <a:off x="4578565" y="5050779"/>
            <a:ext cx="3927767" cy="685800"/>
          </a:xfrm>
          <a:prstGeom prst="rect">
            <a:avLst/>
          </a:prstGeom>
        </p:spPr>
        <p:txBody>
          <a:bodyPr anchor="t" rtlCol="false" tIns="0" lIns="0" bIns="0" rIns="0">
            <a:spAutoFit/>
          </a:bodyPr>
          <a:lstStyle/>
          <a:p>
            <a:pPr algn="l">
              <a:lnSpc>
                <a:spcPts val="1800"/>
              </a:lnSpc>
            </a:pPr>
            <a:r>
              <a:rPr lang="en-US" sz="1500" b="true">
                <a:solidFill>
                  <a:srgbClr val="000000"/>
                </a:solidFill>
                <a:latin typeface="Open Sauce Bold"/>
                <a:ea typeface="Open Sauce Bold"/>
                <a:cs typeface="Open Sauce Bold"/>
                <a:sym typeface="Open Sauce Bold"/>
              </a:rPr>
              <a:t>US20 – Therapist Access</a:t>
            </a:r>
          </a:p>
          <a:p>
            <a:pPr algn="l">
              <a:lnSpc>
                <a:spcPts val="1800"/>
              </a:lnSpc>
              <a:spcBef>
                <a:spcPct val="0"/>
              </a:spcBef>
            </a:pPr>
            <a:r>
              <a:rPr lang="en-US" sz="1500">
                <a:solidFill>
                  <a:srgbClr val="000000"/>
                </a:solidFill>
                <a:latin typeface="Open Sauce"/>
                <a:ea typeface="Open Sauce"/>
                <a:cs typeface="Open Sauce"/>
                <a:sym typeface="Open Sauce"/>
              </a:rPr>
              <a:t>As a user, I want my therapist to have a</a:t>
            </a:r>
            <a:r>
              <a:rPr lang="en-US" sz="1500" u="none">
                <a:solidFill>
                  <a:srgbClr val="000000"/>
                </a:solidFill>
                <a:latin typeface="Open Sauce"/>
                <a:ea typeface="Open Sauce"/>
                <a:cs typeface="Open Sauce"/>
                <a:sym typeface="Open Sauce"/>
              </a:rPr>
              <a:t>cce</a:t>
            </a:r>
            <a:r>
              <a:rPr lang="en-US" sz="1500">
                <a:solidFill>
                  <a:srgbClr val="000000"/>
                </a:solidFill>
                <a:latin typeface="Open Sauce"/>
                <a:ea typeface="Open Sauce"/>
                <a:cs typeface="Open Sauce"/>
                <a:sym typeface="Open Sauce"/>
              </a:rPr>
              <a:t>ss</a:t>
            </a:r>
            <a:r>
              <a:rPr lang="en-US" sz="1500" u="none">
                <a:solidFill>
                  <a:srgbClr val="000000"/>
                </a:solidFill>
                <a:latin typeface="Open Sauce"/>
                <a:ea typeface="Open Sauce"/>
                <a:cs typeface="Open Sauce"/>
                <a:sym typeface="Open Sauce"/>
              </a:rPr>
              <a:t> t</a:t>
            </a:r>
            <a:r>
              <a:rPr lang="en-US" sz="1500">
                <a:solidFill>
                  <a:srgbClr val="000000"/>
                </a:solidFill>
                <a:latin typeface="Open Sauce"/>
                <a:ea typeface="Open Sauce"/>
                <a:cs typeface="Open Sauce"/>
                <a:sym typeface="Open Sauce"/>
              </a:rPr>
              <a:t>o my jou</a:t>
            </a:r>
            <a:r>
              <a:rPr lang="en-US" sz="1500" u="none">
                <a:solidFill>
                  <a:srgbClr val="000000"/>
                </a:solidFill>
                <a:latin typeface="Open Sauce"/>
                <a:ea typeface="Open Sauce"/>
                <a:cs typeface="Open Sauce"/>
                <a:sym typeface="Open Sauce"/>
              </a:rPr>
              <a:t>r</a:t>
            </a:r>
            <a:r>
              <a:rPr lang="en-US" sz="1500">
                <a:solidFill>
                  <a:srgbClr val="000000"/>
                </a:solidFill>
                <a:latin typeface="Open Sauce"/>
                <a:ea typeface="Open Sauce"/>
                <a:cs typeface="Open Sauce"/>
                <a:sym typeface="Open Sauce"/>
              </a:rPr>
              <a:t>n</a:t>
            </a:r>
            <a:r>
              <a:rPr lang="en-US" sz="1500" u="none">
                <a:solidFill>
                  <a:srgbClr val="000000"/>
                </a:solidFill>
                <a:latin typeface="Open Sauce"/>
                <a:ea typeface="Open Sauce"/>
                <a:cs typeface="Open Sauce"/>
                <a:sym typeface="Open Sauce"/>
              </a:rPr>
              <a:t>a</a:t>
            </a:r>
            <a:r>
              <a:rPr lang="en-US" sz="1500">
                <a:solidFill>
                  <a:srgbClr val="000000"/>
                </a:solidFill>
                <a:latin typeface="Open Sauce"/>
                <a:ea typeface="Open Sauce"/>
                <a:cs typeface="Open Sauce"/>
                <a:sym typeface="Open Sauce"/>
              </a:rPr>
              <a:t>l and mood data.</a:t>
            </a:r>
          </a:p>
        </p:txBody>
      </p:sp>
      <p:sp>
        <p:nvSpPr>
          <p:cNvPr name="TextBox 8" id="8"/>
          <p:cNvSpPr txBox="true"/>
          <p:nvPr/>
        </p:nvSpPr>
        <p:spPr>
          <a:xfrm rot="0">
            <a:off x="4578565" y="6052185"/>
            <a:ext cx="3924300" cy="228600"/>
          </a:xfrm>
          <a:prstGeom prst="rect">
            <a:avLst/>
          </a:prstGeom>
        </p:spPr>
        <p:txBody>
          <a:bodyPr anchor="t" rtlCol="false" tIns="0" lIns="0" bIns="0" rIns="0">
            <a:spAutoFit/>
          </a:bodyPr>
          <a:lstStyle/>
          <a:p>
            <a:pPr algn="l">
              <a:lnSpc>
                <a:spcPts val="1800"/>
              </a:lnSpc>
              <a:spcBef>
                <a:spcPct val="0"/>
              </a:spcBef>
            </a:pPr>
            <a:r>
              <a:rPr lang="en-US" b="true" sz="1500">
                <a:solidFill>
                  <a:srgbClr val="006D77"/>
                </a:solidFill>
                <a:latin typeface="Open Sauce Bold"/>
                <a:ea typeface="Open Sauce Bold"/>
                <a:cs typeface="Open Sauce Bold"/>
                <a:sym typeface="Open Sauce Bold"/>
              </a:rPr>
              <a:t>Priority:</a:t>
            </a:r>
            <a:r>
              <a:rPr lang="en-US" sz="1500">
                <a:solidFill>
                  <a:srgbClr val="000000"/>
                </a:solidFill>
                <a:latin typeface="Open Sauce"/>
                <a:ea typeface="Open Sauce"/>
                <a:cs typeface="Open Sauce"/>
                <a:sym typeface="Open Sauce"/>
              </a:rPr>
              <a:t> Could                       </a:t>
            </a:r>
            <a:r>
              <a:rPr lang="en-US" b="true" sz="1500">
                <a:solidFill>
                  <a:srgbClr val="006D77"/>
                </a:solidFill>
                <a:latin typeface="Open Sauce Bold"/>
                <a:ea typeface="Open Sauce Bold"/>
                <a:cs typeface="Open Sauce Bold"/>
                <a:sym typeface="Open Sauce Bold"/>
              </a:rPr>
              <a:t>Story Points</a:t>
            </a:r>
            <a:r>
              <a:rPr lang="en-US" sz="1500">
                <a:solidFill>
                  <a:srgbClr val="000000"/>
                </a:solidFill>
                <a:latin typeface="Open Sauce"/>
                <a:ea typeface="Open Sauce"/>
                <a:cs typeface="Open Sauce"/>
                <a:sym typeface="Open Sauce"/>
              </a:rPr>
              <a:t>: 5 </a:t>
            </a:r>
          </a:p>
        </p:txBody>
      </p:sp>
      <p:sp>
        <p:nvSpPr>
          <p:cNvPr name="TextBox 9" id="9"/>
          <p:cNvSpPr txBox="true"/>
          <p:nvPr/>
        </p:nvSpPr>
        <p:spPr>
          <a:xfrm rot="0">
            <a:off x="8817859" y="5050779"/>
            <a:ext cx="3927767" cy="685800"/>
          </a:xfrm>
          <a:prstGeom prst="rect">
            <a:avLst/>
          </a:prstGeom>
        </p:spPr>
        <p:txBody>
          <a:bodyPr anchor="t" rtlCol="false" tIns="0" lIns="0" bIns="0" rIns="0">
            <a:spAutoFit/>
          </a:bodyPr>
          <a:lstStyle/>
          <a:p>
            <a:pPr algn="l">
              <a:lnSpc>
                <a:spcPts val="1800"/>
              </a:lnSpc>
            </a:pPr>
            <a:r>
              <a:rPr lang="en-US" sz="1500" b="true">
                <a:solidFill>
                  <a:srgbClr val="000000"/>
                </a:solidFill>
                <a:latin typeface="Open Sauce Bold"/>
                <a:ea typeface="Open Sauce Bold"/>
                <a:cs typeface="Open Sauce Bold"/>
                <a:sym typeface="Open Sauce Bold"/>
              </a:rPr>
              <a:t>US21 – Enable Sharing</a:t>
            </a:r>
          </a:p>
          <a:p>
            <a:pPr algn="l">
              <a:lnSpc>
                <a:spcPts val="1800"/>
              </a:lnSpc>
              <a:spcBef>
                <a:spcPct val="0"/>
              </a:spcBef>
            </a:pPr>
            <a:r>
              <a:rPr lang="en-US" sz="1500">
                <a:solidFill>
                  <a:srgbClr val="000000"/>
                </a:solidFill>
                <a:latin typeface="Open Sauce"/>
                <a:ea typeface="Open Sauce"/>
                <a:cs typeface="Open Sauce"/>
                <a:sym typeface="Open Sauce"/>
              </a:rPr>
              <a:t>As a user, I want to </a:t>
            </a:r>
            <a:r>
              <a:rPr lang="en-US" sz="1500" u="none">
                <a:solidFill>
                  <a:srgbClr val="000000"/>
                </a:solidFill>
                <a:latin typeface="Open Sauce"/>
                <a:ea typeface="Open Sauce"/>
                <a:cs typeface="Open Sauce"/>
                <a:sym typeface="Open Sauce"/>
              </a:rPr>
              <a:t>ena</a:t>
            </a:r>
            <a:r>
              <a:rPr lang="en-US" sz="1500">
                <a:solidFill>
                  <a:srgbClr val="000000"/>
                </a:solidFill>
                <a:latin typeface="Open Sauce"/>
                <a:ea typeface="Open Sauce"/>
                <a:cs typeface="Open Sauce"/>
                <a:sym typeface="Open Sauce"/>
              </a:rPr>
              <a:t>ble sharing of my journal data.</a:t>
            </a:r>
          </a:p>
        </p:txBody>
      </p:sp>
      <p:sp>
        <p:nvSpPr>
          <p:cNvPr name="TextBox 10" id="10"/>
          <p:cNvSpPr txBox="true"/>
          <p:nvPr/>
        </p:nvSpPr>
        <p:spPr>
          <a:xfrm rot="0">
            <a:off x="8817859" y="6052185"/>
            <a:ext cx="3924300" cy="228600"/>
          </a:xfrm>
          <a:prstGeom prst="rect">
            <a:avLst/>
          </a:prstGeom>
        </p:spPr>
        <p:txBody>
          <a:bodyPr anchor="t" rtlCol="false" tIns="0" lIns="0" bIns="0" rIns="0">
            <a:spAutoFit/>
          </a:bodyPr>
          <a:lstStyle/>
          <a:p>
            <a:pPr algn="l">
              <a:lnSpc>
                <a:spcPts val="1800"/>
              </a:lnSpc>
              <a:spcBef>
                <a:spcPct val="0"/>
              </a:spcBef>
            </a:pPr>
            <a:r>
              <a:rPr lang="en-US" b="true" sz="1500">
                <a:solidFill>
                  <a:srgbClr val="006D77"/>
                </a:solidFill>
                <a:latin typeface="Open Sauce Bold"/>
                <a:ea typeface="Open Sauce Bold"/>
                <a:cs typeface="Open Sauce Bold"/>
                <a:sym typeface="Open Sauce Bold"/>
              </a:rPr>
              <a:t>Priority:</a:t>
            </a:r>
            <a:r>
              <a:rPr lang="en-US" sz="1500">
                <a:solidFill>
                  <a:srgbClr val="000000"/>
                </a:solidFill>
                <a:latin typeface="Open Sauce"/>
                <a:ea typeface="Open Sauce"/>
                <a:cs typeface="Open Sauce"/>
                <a:sym typeface="Open Sauce"/>
              </a:rPr>
              <a:t> Could                       </a:t>
            </a:r>
            <a:r>
              <a:rPr lang="en-US" b="true" sz="1500">
                <a:solidFill>
                  <a:srgbClr val="006D77"/>
                </a:solidFill>
                <a:latin typeface="Open Sauce Bold"/>
                <a:ea typeface="Open Sauce Bold"/>
                <a:cs typeface="Open Sauce Bold"/>
                <a:sym typeface="Open Sauce Bold"/>
              </a:rPr>
              <a:t>Story Points</a:t>
            </a:r>
            <a:r>
              <a:rPr lang="en-US" sz="1500">
                <a:solidFill>
                  <a:srgbClr val="000000"/>
                </a:solidFill>
                <a:latin typeface="Open Sauce"/>
                <a:ea typeface="Open Sauce"/>
                <a:cs typeface="Open Sauce"/>
                <a:sym typeface="Open Sauce"/>
              </a:rPr>
              <a:t>: 8 </a:t>
            </a:r>
          </a:p>
        </p:txBody>
      </p:sp>
      <p:sp>
        <p:nvSpPr>
          <p:cNvPr name="TextBox 11" id="11"/>
          <p:cNvSpPr txBox="true"/>
          <p:nvPr/>
        </p:nvSpPr>
        <p:spPr>
          <a:xfrm rot="0">
            <a:off x="13060619" y="5050779"/>
            <a:ext cx="3927767" cy="685800"/>
          </a:xfrm>
          <a:prstGeom prst="rect">
            <a:avLst/>
          </a:prstGeom>
        </p:spPr>
        <p:txBody>
          <a:bodyPr anchor="t" rtlCol="false" tIns="0" lIns="0" bIns="0" rIns="0">
            <a:spAutoFit/>
          </a:bodyPr>
          <a:lstStyle/>
          <a:p>
            <a:pPr algn="l">
              <a:lnSpc>
                <a:spcPts val="1800"/>
              </a:lnSpc>
            </a:pPr>
            <a:r>
              <a:rPr lang="en-US" sz="1500" b="true">
                <a:solidFill>
                  <a:srgbClr val="000000"/>
                </a:solidFill>
                <a:latin typeface="Open Sauce Bold"/>
                <a:ea typeface="Open Sauce Bold"/>
                <a:cs typeface="Open Sauce Bold"/>
                <a:sym typeface="Open Sauce Bold"/>
              </a:rPr>
              <a:t>US22 – Disable Sharing</a:t>
            </a:r>
          </a:p>
          <a:p>
            <a:pPr algn="l">
              <a:lnSpc>
                <a:spcPts val="1800"/>
              </a:lnSpc>
              <a:spcBef>
                <a:spcPct val="0"/>
              </a:spcBef>
            </a:pPr>
            <a:r>
              <a:rPr lang="en-US" sz="1500">
                <a:solidFill>
                  <a:srgbClr val="000000"/>
                </a:solidFill>
                <a:latin typeface="Open Sauce"/>
                <a:ea typeface="Open Sauce"/>
                <a:cs typeface="Open Sauce"/>
                <a:sym typeface="Open Sauce"/>
              </a:rPr>
              <a:t>As a user, I want to disable sharing at any time.</a:t>
            </a:r>
          </a:p>
        </p:txBody>
      </p:sp>
      <p:sp>
        <p:nvSpPr>
          <p:cNvPr name="TextBox 12" id="12"/>
          <p:cNvSpPr txBox="true"/>
          <p:nvPr/>
        </p:nvSpPr>
        <p:spPr>
          <a:xfrm rot="0">
            <a:off x="13064086" y="6052185"/>
            <a:ext cx="3924300" cy="228600"/>
          </a:xfrm>
          <a:prstGeom prst="rect">
            <a:avLst/>
          </a:prstGeom>
        </p:spPr>
        <p:txBody>
          <a:bodyPr anchor="t" rtlCol="false" tIns="0" lIns="0" bIns="0" rIns="0">
            <a:spAutoFit/>
          </a:bodyPr>
          <a:lstStyle/>
          <a:p>
            <a:pPr algn="l">
              <a:lnSpc>
                <a:spcPts val="1800"/>
              </a:lnSpc>
              <a:spcBef>
                <a:spcPct val="0"/>
              </a:spcBef>
            </a:pPr>
            <a:r>
              <a:rPr lang="en-US" b="true" sz="1500">
                <a:solidFill>
                  <a:srgbClr val="006D77"/>
                </a:solidFill>
                <a:latin typeface="Open Sauce Bold"/>
                <a:ea typeface="Open Sauce Bold"/>
                <a:cs typeface="Open Sauce Bold"/>
                <a:sym typeface="Open Sauce Bold"/>
              </a:rPr>
              <a:t>Priority:</a:t>
            </a:r>
            <a:r>
              <a:rPr lang="en-US" sz="1500">
                <a:solidFill>
                  <a:srgbClr val="000000"/>
                </a:solidFill>
                <a:latin typeface="Open Sauce"/>
                <a:ea typeface="Open Sauce"/>
                <a:cs typeface="Open Sauce"/>
                <a:sym typeface="Open Sauce"/>
              </a:rPr>
              <a:t> Could                       </a:t>
            </a:r>
            <a:r>
              <a:rPr lang="en-US" b="true" sz="1500">
                <a:solidFill>
                  <a:srgbClr val="006D77"/>
                </a:solidFill>
                <a:latin typeface="Open Sauce Bold"/>
                <a:ea typeface="Open Sauce Bold"/>
                <a:cs typeface="Open Sauce Bold"/>
                <a:sym typeface="Open Sauce Bold"/>
              </a:rPr>
              <a:t>Story Points</a:t>
            </a:r>
            <a:r>
              <a:rPr lang="en-US" sz="1500">
                <a:solidFill>
                  <a:srgbClr val="000000"/>
                </a:solidFill>
                <a:latin typeface="Open Sauce"/>
                <a:ea typeface="Open Sauce"/>
                <a:cs typeface="Open Sauce"/>
                <a:sym typeface="Open Sauce"/>
              </a:rPr>
              <a:t>: 5 </a:t>
            </a:r>
          </a:p>
        </p:txBody>
      </p:sp>
      <p:sp>
        <p:nvSpPr>
          <p:cNvPr name="TextBox 13" id="13"/>
          <p:cNvSpPr txBox="true"/>
          <p:nvPr/>
        </p:nvSpPr>
        <p:spPr>
          <a:xfrm rot="0">
            <a:off x="4598161" y="6690360"/>
            <a:ext cx="3927767" cy="685800"/>
          </a:xfrm>
          <a:prstGeom prst="rect">
            <a:avLst/>
          </a:prstGeom>
        </p:spPr>
        <p:txBody>
          <a:bodyPr anchor="t" rtlCol="false" tIns="0" lIns="0" bIns="0" rIns="0">
            <a:spAutoFit/>
          </a:bodyPr>
          <a:lstStyle/>
          <a:p>
            <a:pPr algn="l">
              <a:lnSpc>
                <a:spcPts val="1800"/>
              </a:lnSpc>
            </a:pPr>
            <a:r>
              <a:rPr lang="en-US" sz="1500" b="true">
                <a:solidFill>
                  <a:srgbClr val="000000"/>
                </a:solidFill>
                <a:latin typeface="Open Sauce Bold"/>
                <a:ea typeface="Open Sauce Bold"/>
                <a:cs typeface="Open Sauce Bold"/>
                <a:sym typeface="Open Sauce Bold"/>
              </a:rPr>
              <a:t>US23 – Therapist User List</a:t>
            </a:r>
          </a:p>
          <a:p>
            <a:pPr algn="l">
              <a:lnSpc>
                <a:spcPts val="1800"/>
              </a:lnSpc>
              <a:spcBef>
                <a:spcPct val="0"/>
              </a:spcBef>
            </a:pPr>
            <a:r>
              <a:rPr lang="en-US" sz="1500">
                <a:solidFill>
                  <a:srgbClr val="000000"/>
                </a:solidFill>
                <a:latin typeface="Open Sauce"/>
                <a:ea typeface="Open Sauce"/>
                <a:cs typeface="Open Sauce"/>
                <a:sym typeface="Open Sauce"/>
              </a:rPr>
              <a:t>As a therapist, I want to see my assigned</a:t>
            </a:r>
            <a:r>
              <a:rPr lang="en-US" sz="1500" u="none">
                <a:solidFill>
                  <a:srgbClr val="000000"/>
                </a:solidFill>
                <a:latin typeface="Open Sauce"/>
                <a:ea typeface="Open Sauce"/>
                <a:cs typeface="Open Sauce"/>
                <a:sym typeface="Open Sauce"/>
              </a:rPr>
              <a:t> users</a:t>
            </a:r>
          </a:p>
        </p:txBody>
      </p:sp>
      <p:sp>
        <p:nvSpPr>
          <p:cNvPr name="TextBox 14" id="14"/>
          <p:cNvSpPr txBox="true"/>
          <p:nvPr/>
        </p:nvSpPr>
        <p:spPr>
          <a:xfrm rot="0">
            <a:off x="4598161" y="7691766"/>
            <a:ext cx="3924300" cy="228600"/>
          </a:xfrm>
          <a:prstGeom prst="rect">
            <a:avLst/>
          </a:prstGeom>
        </p:spPr>
        <p:txBody>
          <a:bodyPr anchor="t" rtlCol="false" tIns="0" lIns="0" bIns="0" rIns="0">
            <a:spAutoFit/>
          </a:bodyPr>
          <a:lstStyle/>
          <a:p>
            <a:pPr algn="l">
              <a:lnSpc>
                <a:spcPts val="1800"/>
              </a:lnSpc>
              <a:spcBef>
                <a:spcPct val="0"/>
              </a:spcBef>
            </a:pPr>
            <a:r>
              <a:rPr lang="en-US" b="true" sz="1500">
                <a:solidFill>
                  <a:srgbClr val="006D77"/>
                </a:solidFill>
                <a:latin typeface="Open Sauce Bold"/>
                <a:ea typeface="Open Sauce Bold"/>
                <a:cs typeface="Open Sauce Bold"/>
                <a:sym typeface="Open Sauce Bold"/>
              </a:rPr>
              <a:t>Priority:</a:t>
            </a:r>
            <a:r>
              <a:rPr lang="en-US" sz="1500">
                <a:solidFill>
                  <a:srgbClr val="000000"/>
                </a:solidFill>
                <a:latin typeface="Open Sauce"/>
                <a:ea typeface="Open Sauce"/>
                <a:cs typeface="Open Sauce"/>
                <a:sym typeface="Open Sauce"/>
              </a:rPr>
              <a:t> Could                       </a:t>
            </a:r>
            <a:r>
              <a:rPr lang="en-US" b="true" sz="1500">
                <a:solidFill>
                  <a:srgbClr val="006D77"/>
                </a:solidFill>
                <a:latin typeface="Open Sauce Bold"/>
                <a:ea typeface="Open Sauce Bold"/>
                <a:cs typeface="Open Sauce Bold"/>
                <a:sym typeface="Open Sauce Bold"/>
              </a:rPr>
              <a:t>Story Points</a:t>
            </a:r>
            <a:r>
              <a:rPr lang="en-US" sz="1500">
                <a:solidFill>
                  <a:srgbClr val="000000"/>
                </a:solidFill>
                <a:latin typeface="Open Sauce"/>
                <a:ea typeface="Open Sauce"/>
                <a:cs typeface="Open Sauce"/>
                <a:sym typeface="Open Sauce"/>
              </a:rPr>
              <a:t>: 5 </a:t>
            </a:r>
          </a:p>
        </p:txBody>
      </p:sp>
      <p:sp>
        <p:nvSpPr>
          <p:cNvPr name="TextBox 15" id="15"/>
          <p:cNvSpPr txBox="true"/>
          <p:nvPr/>
        </p:nvSpPr>
        <p:spPr>
          <a:xfrm rot="0">
            <a:off x="8837455" y="6690360"/>
            <a:ext cx="3927767" cy="685800"/>
          </a:xfrm>
          <a:prstGeom prst="rect">
            <a:avLst/>
          </a:prstGeom>
        </p:spPr>
        <p:txBody>
          <a:bodyPr anchor="t" rtlCol="false" tIns="0" lIns="0" bIns="0" rIns="0">
            <a:spAutoFit/>
          </a:bodyPr>
          <a:lstStyle/>
          <a:p>
            <a:pPr algn="l">
              <a:lnSpc>
                <a:spcPts val="1800"/>
              </a:lnSpc>
            </a:pPr>
            <a:r>
              <a:rPr lang="en-US" sz="1500" b="true">
                <a:solidFill>
                  <a:srgbClr val="000000"/>
                </a:solidFill>
                <a:latin typeface="Open Sauce Bold"/>
                <a:ea typeface="Open Sauce Bold"/>
                <a:cs typeface="Open Sauce Bold"/>
                <a:sym typeface="Open Sauce Bold"/>
              </a:rPr>
              <a:t>US24 – Therapist Dashboard</a:t>
            </a:r>
          </a:p>
          <a:p>
            <a:pPr algn="l">
              <a:lnSpc>
                <a:spcPts val="1800"/>
              </a:lnSpc>
              <a:spcBef>
                <a:spcPct val="0"/>
              </a:spcBef>
            </a:pPr>
            <a:r>
              <a:rPr lang="en-US" sz="1500">
                <a:solidFill>
                  <a:srgbClr val="000000"/>
                </a:solidFill>
                <a:latin typeface="Open Sauce"/>
                <a:ea typeface="Open Sauce"/>
                <a:cs typeface="Open Sauce"/>
                <a:sym typeface="Open Sauce"/>
              </a:rPr>
              <a:t>As a therapist, I want to vi</a:t>
            </a:r>
            <a:r>
              <a:rPr lang="en-US" sz="1500" u="none">
                <a:solidFill>
                  <a:srgbClr val="000000"/>
                </a:solidFill>
                <a:latin typeface="Open Sauce"/>
                <a:ea typeface="Open Sauce"/>
                <a:cs typeface="Open Sauce"/>
                <a:sym typeface="Open Sauce"/>
              </a:rPr>
              <a:t>ew journa</a:t>
            </a:r>
            <a:r>
              <a:rPr lang="en-US" sz="1500">
                <a:solidFill>
                  <a:srgbClr val="000000"/>
                </a:solidFill>
                <a:latin typeface="Open Sauce"/>
                <a:ea typeface="Open Sauce"/>
                <a:cs typeface="Open Sauce"/>
                <a:sym typeface="Open Sauce"/>
              </a:rPr>
              <a:t>l entries and mood trends.</a:t>
            </a:r>
          </a:p>
        </p:txBody>
      </p:sp>
      <p:sp>
        <p:nvSpPr>
          <p:cNvPr name="TextBox 16" id="16"/>
          <p:cNvSpPr txBox="true"/>
          <p:nvPr/>
        </p:nvSpPr>
        <p:spPr>
          <a:xfrm rot="0">
            <a:off x="8837455" y="7691766"/>
            <a:ext cx="3924300" cy="228600"/>
          </a:xfrm>
          <a:prstGeom prst="rect">
            <a:avLst/>
          </a:prstGeom>
        </p:spPr>
        <p:txBody>
          <a:bodyPr anchor="t" rtlCol="false" tIns="0" lIns="0" bIns="0" rIns="0">
            <a:spAutoFit/>
          </a:bodyPr>
          <a:lstStyle/>
          <a:p>
            <a:pPr algn="l">
              <a:lnSpc>
                <a:spcPts val="1800"/>
              </a:lnSpc>
              <a:spcBef>
                <a:spcPct val="0"/>
              </a:spcBef>
            </a:pPr>
            <a:r>
              <a:rPr lang="en-US" b="true" sz="1500">
                <a:solidFill>
                  <a:srgbClr val="006D77"/>
                </a:solidFill>
                <a:latin typeface="Open Sauce Bold"/>
                <a:ea typeface="Open Sauce Bold"/>
                <a:cs typeface="Open Sauce Bold"/>
                <a:sym typeface="Open Sauce Bold"/>
              </a:rPr>
              <a:t>Priority:</a:t>
            </a:r>
            <a:r>
              <a:rPr lang="en-US" sz="1500">
                <a:solidFill>
                  <a:srgbClr val="000000"/>
                </a:solidFill>
                <a:latin typeface="Open Sauce"/>
                <a:ea typeface="Open Sauce"/>
                <a:cs typeface="Open Sauce"/>
                <a:sym typeface="Open Sauce"/>
              </a:rPr>
              <a:t> Could                       </a:t>
            </a:r>
            <a:r>
              <a:rPr lang="en-US" b="true" sz="1500">
                <a:solidFill>
                  <a:srgbClr val="006D77"/>
                </a:solidFill>
                <a:latin typeface="Open Sauce Bold"/>
                <a:ea typeface="Open Sauce Bold"/>
                <a:cs typeface="Open Sauce Bold"/>
                <a:sym typeface="Open Sauce Bold"/>
              </a:rPr>
              <a:t>Story Points</a:t>
            </a:r>
            <a:r>
              <a:rPr lang="en-US" sz="1500">
                <a:solidFill>
                  <a:srgbClr val="000000"/>
                </a:solidFill>
                <a:latin typeface="Open Sauce"/>
                <a:ea typeface="Open Sauce"/>
                <a:cs typeface="Open Sauce"/>
                <a:sym typeface="Open Sauce"/>
              </a:rPr>
              <a:t>: 5 </a:t>
            </a:r>
          </a:p>
        </p:txBody>
      </p:sp>
      <p:sp>
        <p:nvSpPr>
          <p:cNvPr name="TextBox 17" id="17"/>
          <p:cNvSpPr txBox="true"/>
          <p:nvPr/>
        </p:nvSpPr>
        <p:spPr>
          <a:xfrm rot="0">
            <a:off x="13362297" y="9604216"/>
            <a:ext cx="4759598" cy="511618"/>
          </a:xfrm>
          <a:prstGeom prst="rect">
            <a:avLst/>
          </a:prstGeom>
        </p:spPr>
        <p:txBody>
          <a:bodyPr anchor="t" rtlCol="false" tIns="0" lIns="0" bIns="0" rIns="0">
            <a:spAutoFit/>
          </a:bodyPr>
          <a:lstStyle/>
          <a:p>
            <a:pPr algn="ctr">
              <a:lnSpc>
                <a:spcPts val="4286"/>
              </a:lnSpc>
              <a:spcBef>
                <a:spcPct val="0"/>
              </a:spcBef>
            </a:pPr>
            <a:r>
              <a:rPr lang="en-US" sz="2678" spc="267" u="sng">
                <a:solidFill>
                  <a:srgbClr val="000000"/>
                </a:solidFill>
                <a:latin typeface="Lato"/>
                <a:ea typeface="Lato"/>
                <a:cs typeface="Lato"/>
                <a:sym typeface="Lato"/>
                <a:hlinkClick r:id="rId2" tooltip="https://1drv.ms/x/c/c30f4680ccc79b8c/IQC9fztrzBx4Rrh7wy889blgAWKdZ5Khnt9L0mDcJNT6C-c"/>
              </a:rPr>
              <a:t>Detailed spreadsheet here</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62118" y="1715779"/>
            <a:ext cx="15363763" cy="7672635"/>
            <a:chOff x="0" y="0"/>
            <a:chExt cx="4668157" cy="2331293"/>
          </a:xfrm>
        </p:grpSpPr>
        <p:sp>
          <p:nvSpPr>
            <p:cNvPr name="Freeform 3" id="3"/>
            <p:cNvSpPr/>
            <p:nvPr/>
          </p:nvSpPr>
          <p:spPr>
            <a:xfrm flipH="false" flipV="false" rot="0">
              <a:off x="0" y="0"/>
              <a:ext cx="4668157" cy="2331293"/>
            </a:xfrm>
            <a:custGeom>
              <a:avLst/>
              <a:gdLst/>
              <a:ahLst/>
              <a:cxnLst/>
              <a:rect r="r" b="b" t="t" l="l"/>
              <a:pathLst>
                <a:path h="2331293" w="4668157">
                  <a:moveTo>
                    <a:pt x="4668157" y="26203"/>
                  </a:moveTo>
                  <a:lnTo>
                    <a:pt x="4668157" y="2305090"/>
                  </a:lnTo>
                  <a:cubicBezTo>
                    <a:pt x="4668157" y="2319562"/>
                    <a:pt x="4656426" y="2331293"/>
                    <a:pt x="4641954" y="2331293"/>
                  </a:cubicBezTo>
                  <a:lnTo>
                    <a:pt x="26203" y="2331293"/>
                  </a:lnTo>
                  <a:cubicBezTo>
                    <a:pt x="19254" y="2331293"/>
                    <a:pt x="12589" y="2328532"/>
                    <a:pt x="7675" y="2323618"/>
                  </a:cubicBezTo>
                  <a:cubicBezTo>
                    <a:pt x="2761" y="2318704"/>
                    <a:pt x="0" y="2312039"/>
                    <a:pt x="0" y="2305090"/>
                  </a:cubicBezTo>
                  <a:lnTo>
                    <a:pt x="0" y="26203"/>
                  </a:lnTo>
                  <a:cubicBezTo>
                    <a:pt x="0" y="19254"/>
                    <a:pt x="2761" y="12589"/>
                    <a:pt x="7675" y="7675"/>
                  </a:cubicBezTo>
                  <a:cubicBezTo>
                    <a:pt x="12589" y="2761"/>
                    <a:pt x="19254" y="0"/>
                    <a:pt x="26203" y="0"/>
                  </a:cubicBezTo>
                  <a:lnTo>
                    <a:pt x="4641954" y="0"/>
                  </a:lnTo>
                  <a:cubicBezTo>
                    <a:pt x="4656426" y="0"/>
                    <a:pt x="4668157" y="11732"/>
                    <a:pt x="4668157" y="26203"/>
                  </a:cubicBezTo>
                  <a:close/>
                </a:path>
              </a:pathLst>
            </a:custGeom>
            <a:solidFill>
              <a:srgbClr val="F2F1F1">
                <a:alpha val="80000"/>
              </a:srgbClr>
            </a:solidFill>
          </p:spPr>
        </p:sp>
        <p:sp>
          <p:nvSpPr>
            <p:cNvPr name="TextBox 4" id="4"/>
            <p:cNvSpPr txBox="true"/>
            <p:nvPr/>
          </p:nvSpPr>
          <p:spPr>
            <a:xfrm>
              <a:off x="0" y="-47625"/>
              <a:ext cx="4668157" cy="2378918"/>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7056788" y="7962132"/>
            <a:ext cx="4742247" cy="852668"/>
            <a:chOff x="0" y="0"/>
            <a:chExt cx="1248987" cy="224571"/>
          </a:xfrm>
        </p:grpSpPr>
        <p:sp>
          <p:nvSpPr>
            <p:cNvPr name="Freeform 6" id="6"/>
            <p:cNvSpPr/>
            <p:nvPr/>
          </p:nvSpPr>
          <p:spPr>
            <a:xfrm flipH="false" flipV="false" rot="0">
              <a:off x="0" y="0"/>
              <a:ext cx="1248987" cy="224571"/>
            </a:xfrm>
            <a:custGeom>
              <a:avLst/>
              <a:gdLst/>
              <a:ahLst/>
              <a:cxnLst/>
              <a:rect r="r" b="b" t="t" l="l"/>
              <a:pathLst>
                <a:path h="224571" w="1248987">
                  <a:moveTo>
                    <a:pt x="27753" y="0"/>
                  </a:moveTo>
                  <a:lnTo>
                    <a:pt x="1221233" y="0"/>
                  </a:lnTo>
                  <a:cubicBezTo>
                    <a:pt x="1228594" y="0"/>
                    <a:pt x="1235653" y="2924"/>
                    <a:pt x="1240858" y="8129"/>
                  </a:cubicBezTo>
                  <a:cubicBezTo>
                    <a:pt x="1246063" y="13333"/>
                    <a:pt x="1248987" y="20393"/>
                    <a:pt x="1248987" y="27753"/>
                  </a:cubicBezTo>
                  <a:lnTo>
                    <a:pt x="1248987" y="196818"/>
                  </a:lnTo>
                  <a:cubicBezTo>
                    <a:pt x="1248987" y="212145"/>
                    <a:pt x="1236561" y="224571"/>
                    <a:pt x="1221233" y="224571"/>
                  </a:cubicBezTo>
                  <a:lnTo>
                    <a:pt x="27753" y="224571"/>
                  </a:lnTo>
                  <a:cubicBezTo>
                    <a:pt x="12426" y="224571"/>
                    <a:pt x="0" y="212145"/>
                    <a:pt x="0" y="196818"/>
                  </a:cubicBezTo>
                  <a:lnTo>
                    <a:pt x="0" y="27753"/>
                  </a:lnTo>
                  <a:cubicBezTo>
                    <a:pt x="0" y="12426"/>
                    <a:pt x="12426" y="0"/>
                    <a:pt x="27753" y="0"/>
                  </a:cubicBezTo>
                  <a:close/>
                </a:path>
              </a:pathLst>
            </a:custGeom>
            <a:solidFill>
              <a:srgbClr val="006D77"/>
            </a:solidFill>
          </p:spPr>
        </p:sp>
        <p:sp>
          <p:nvSpPr>
            <p:cNvPr name="TextBox 7" id="7"/>
            <p:cNvSpPr txBox="true"/>
            <p:nvPr/>
          </p:nvSpPr>
          <p:spPr>
            <a:xfrm>
              <a:off x="0" y="0"/>
              <a:ext cx="1248987" cy="224571"/>
            </a:xfrm>
            <a:prstGeom prst="rect">
              <a:avLst/>
            </a:prstGeom>
          </p:spPr>
          <p:txBody>
            <a:bodyPr anchor="ctr" rtlCol="false" tIns="50800" lIns="50800" bIns="50800" rIns="50800"/>
            <a:lstStyle/>
            <a:p>
              <a:pPr algn="ctr">
                <a:lnSpc>
                  <a:spcPts val="1800"/>
                </a:lnSpc>
              </a:pPr>
            </a:p>
          </p:txBody>
        </p:sp>
      </p:grpSp>
      <p:sp>
        <p:nvSpPr>
          <p:cNvPr name="TextBox 8" id="8"/>
          <p:cNvSpPr txBox="true"/>
          <p:nvPr/>
        </p:nvSpPr>
        <p:spPr>
          <a:xfrm rot="0">
            <a:off x="2737753" y="2626207"/>
            <a:ext cx="12812493" cy="5375529"/>
          </a:xfrm>
          <a:prstGeom prst="rect">
            <a:avLst/>
          </a:prstGeom>
        </p:spPr>
        <p:txBody>
          <a:bodyPr anchor="t" rtlCol="false" tIns="0" lIns="0" bIns="0" rIns="0">
            <a:spAutoFit/>
          </a:bodyPr>
          <a:lstStyle/>
          <a:p>
            <a:pPr algn="l">
              <a:lnSpc>
                <a:spcPts val="4116"/>
              </a:lnSpc>
            </a:pPr>
            <a:r>
              <a:rPr lang="en-US" sz="2100" b="true">
                <a:solidFill>
                  <a:srgbClr val="006D77"/>
                </a:solidFill>
                <a:latin typeface="Open Sauce Bold"/>
                <a:ea typeface="Open Sauce Bold"/>
                <a:cs typeface="Open Sauce Bold"/>
                <a:sym typeface="Open Sauce Bold"/>
              </a:rPr>
              <a:t>Sprint Name:</a:t>
            </a:r>
            <a:r>
              <a:rPr lang="en-US" sz="2100" b="true">
                <a:solidFill>
                  <a:srgbClr val="000000"/>
                </a:solidFill>
                <a:latin typeface="Open Sauce Bold"/>
                <a:ea typeface="Open Sauce Bold"/>
                <a:cs typeface="Open Sauce Bold"/>
                <a:sym typeface="Open Sauce Bold"/>
              </a:rPr>
              <a:t> </a:t>
            </a:r>
            <a:r>
              <a:rPr lang="en-US" sz="2100">
                <a:solidFill>
                  <a:srgbClr val="000000"/>
                </a:solidFill>
                <a:latin typeface="Open Sauce"/>
                <a:ea typeface="Open Sauce"/>
                <a:cs typeface="Open Sauce"/>
                <a:sym typeface="Open Sauce"/>
              </a:rPr>
              <a:t>Sprint 2</a:t>
            </a:r>
          </a:p>
          <a:p>
            <a:pPr algn="l">
              <a:lnSpc>
                <a:spcPts val="4116"/>
              </a:lnSpc>
            </a:pPr>
            <a:r>
              <a:rPr lang="en-US" sz="2100" b="true">
                <a:solidFill>
                  <a:srgbClr val="006D77"/>
                </a:solidFill>
                <a:latin typeface="Open Sauce Bold"/>
                <a:ea typeface="Open Sauce Bold"/>
                <a:cs typeface="Open Sauce Bold"/>
                <a:sym typeface="Open Sauce Bold"/>
              </a:rPr>
              <a:t>Sprint Duration:</a:t>
            </a:r>
            <a:r>
              <a:rPr lang="en-US" sz="2100">
                <a:solidFill>
                  <a:srgbClr val="000000"/>
                </a:solidFill>
                <a:latin typeface="Open Sauce"/>
                <a:ea typeface="Open Sauce"/>
                <a:cs typeface="Open Sauce"/>
                <a:sym typeface="Open Sauce"/>
              </a:rPr>
              <a:t> April 3</a:t>
            </a:r>
            <a:r>
              <a:rPr lang="en-US" sz="2100">
                <a:solidFill>
                  <a:srgbClr val="000000"/>
                </a:solidFill>
                <a:latin typeface="Open Sauce"/>
                <a:ea typeface="Open Sauce"/>
                <a:cs typeface="Open Sauce"/>
                <a:sym typeface="Open Sauce"/>
              </a:rPr>
              <a:t>rd</a:t>
            </a:r>
            <a:r>
              <a:rPr lang="en-US" sz="2100">
                <a:solidFill>
                  <a:srgbClr val="000000"/>
                </a:solidFill>
                <a:latin typeface="Open Sauce"/>
                <a:ea typeface="Open Sauce"/>
                <a:cs typeface="Open Sauce"/>
                <a:sym typeface="Open Sauce"/>
              </a:rPr>
              <a:t> - April 16</a:t>
            </a:r>
            <a:r>
              <a:rPr lang="en-US" sz="2100">
                <a:solidFill>
                  <a:srgbClr val="000000"/>
                </a:solidFill>
                <a:latin typeface="Open Sauce"/>
                <a:ea typeface="Open Sauce"/>
                <a:cs typeface="Open Sauce"/>
                <a:sym typeface="Open Sauce"/>
              </a:rPr>
              <a:t>th</a:t>
            </a:r>
            <a:r>
              <a:rPr lang="en-US" sz="2100">
                <a:solidFill>
                  <a:srgbClr val="000000"/>
                </a:solidFill>
                <a:latin typeface="Open Sauce"/>
                <a:ea typeface="Open Sauce"/>
                <a:cs typeface="Open Sauce"/>
                <a:sym typeface="Open Sauce"/>
              </a:rPr>
              <a:t> </a:t>
            </a:r>
          </a:p>
          <a:p>
            <a:pPr algn="l">
              <a:lnSpc>
                <a:spcPts val="4116"/>
              </a:lnSpc>
            </a:pPr>
            <a:r>
              <a:rPr lang="en-US" sz="2100" b="true">
                <a:solidFill>
                  <a:srgbClr val="006D77"/>
                </a:solidFill>
                <a:latin typeface="Open Sauce Bold"/>
                <a:ea typeface="Open Sauce Bold"/>
                <a:cs typeface="Open Sauce Bold"/>
                <a:sym typeface="Open Sauce Bold"/>
              </a:rPr>
              <a:t>S</a:t>
            </a:r>
            <a:r>
              <a:rPr lang="en-US" sz="2100" b="true">
                <a:solidFill>
                  <a:srgbClr val="006D77"/>
                </a:solidFill>
                <a:latin typeface="Open Sauce Bold"/>
                <a:ea typeface="Open Sauce Bold"/>
                <a:cs typeface="Open Sauce Bold"/>
                <a:sym typeface="Open Sauce Bold"/>
              </a:rPr>
              <a:t>print Length:</a:t>
            </a:r>
            <a:r>
              <a:rPr lang="en-US" sz="2100" b="true">
                <a:solidFill>
                  <a:srgbClr val="000000"/>
                </a:solidFill>
                <a:latin typeface="Open Sauce Bold"/>
                <a:ea typeface="Open Sauce Bold"/>
                <a:cs typeface="Open Sauce Bold"/>
                <a:sym typeface="Open Sauce Bold"/>
              </a:rPr>
              <a:t> </a:t>
            </a:r>
            <a:r>
              <a:rPr lang="en-US" sz="2100">
                <a:solidFill>
                  <a:srgbClr val="000000"/>
                </a:solidFill>
                <a:latin typeface="Open Sauce"/>
                <a:ea typeface="Open Sauce"/>
                <a:cs typeface="Open Sauce"/>
                <a:sym typeface="Open Sauce"/>
              </a:rPr>
              <a:t>2 Weeks</a:t>
            </a:r>
          </a:p>
          <a:p>
            <a:pPr algn="l">
              <a:lnSpc>
                <a:spcPts val="2520"/>
              </a:lnSpc>
            </a:pPr>
          </a:p>
          <a:p>
            <a:pPr algn="l">
              <a:lnSpc>
                <a:spcPts val="2520"/>
              </a:lnSpc>
            </a:pPr>
          </a:p>
          <a:p>
            <a:pPr algn="l">
              <a:lnSpc>
                <a:spcPts val="2520"/>
              </a:lnSpc>
            </a:pPr>
            <a:r>
              <a:rPr lang="en-US" sz="2100" b="true">
                <a:solidFill>
                  <a:srgbClr val="006D77"/>
                </a:solidFill>
                <a:latin typeface="Open Sauce Bold"/>
                <a:ea typeface="Open Sauce Bold"/>
                <a:cs typeface="Open Sauce Bold"/>
                <a:sym typeface="Open Sauce Bold"/>
              </a:rPr>
              <a:t>S</a:t>
            </a:r>
            <a:r>
              <a:rPr lang="en-US" sz="2100" b="true">
                <a:solidFill>
                  <a:srgbClr val="006D77"/>
                </a:solidFill>
                <a:latin typeface="Open Sauce Bold"/>
                <a:ea typeface="Open Sauce Bold"/>
                <a:cs typeface="Open Sauce Bold"/>
                <a:sym typeface="Open Sauce Bold"/>
              </a:rPr>
              <a:t>print Goal</a:t>
            </a:r>
          </a:p>
          <a:p>
            <a:pPr algn="l">
              <a:lnSpc>
                <a:spcPts val="2520"/>
              </a:lnSpc>
            </a:pPr>
            <a:r>
              <a:rPr lang="en-US" sz="2100">
                <a:solidFill>
                  <a:srgbClr val="000000"/>
                </a:solidFill>
                <a:latin typeface="Open Sauce"/>
                <a:ea typeface="Open Sauce"/>
                <a:cs typeface="Open Sauce"/>
                <a:sym typeface="Open Sauce"/>
              </a:rPr>
              <a:t>Incorporate users into the system by implementing secure registration, login, and authenticated access to journal features.</a:t>
            </a:r>
          </a:p>
          <a:p>
            <a:pPr algn="l">
              <a:lnSpc>
                <a:spcPts val="2520"/>
              </a:lnSpc>
            </a:pPr>
          </a:p>
          <a:p>
            <a:pPr algn="l">
              <a:lnSpc>
                <a:spcPts val="2520"/>
              </a:lnSpc>
            </a:pPr>
            <a:r>
              <a:rPr lang="en-US" sz="2100" b="true">
                <a:solidFill>
                  <a:srgbClr val="006D77"/>
                </a:solidFill>
                <a:latin typeface="Open Sauce Bold"/>
                <a:ea typeface="Open Sauce Bold"/>
                <a:cs typeface="Open Sauce Bold"/>
                <a:sym typeface="Open Sauce Bold"/>
              </a:rPr>
              <a:t>S</a:t>
            </a:r>
            <a:r>
              <a:rPr lang="en-US" sz="2100" b="true">
                <a:solidFill>
                  <a:srgbClr val="006D77"/>
                </a:solidFill>
                <a:latin typeface="Open Sauce Bold"/>
                <a:ea typeface="Open Sauce Bold"/>
                <a:cs typeface="Open Sauce Bold"/>
                <a:sym typeface="Open Sauce Bold"/>
              </a:rPr>
              <a:t>tories </a:t>
            </a:r>
            <a:r>
              <a:rPr lang="en-US" sz="2100" b="true">
                <a:solidFill>
                  <a:srgbClr val="006D77"/>
                </a:solidFill>
                <a:latin typeface="Open Sauce Bold"/>
                <a:ea typeface="Open Sauce Bold"/>
                <a:cs typeface="Open Sauce Bold"/>
                <a:sym typeface="Open Sauce Bold"/>
              </a:rPr>
              <a:t>Co</a:t>
            </a:r>
            <a:r>
              <a:rPr lang="en-US" sz="2100" b="true">
                <a:solidFill>
                  <a:srgbClr val="006D77"/>
                </a:solidFill>
                <a:latin typeface="Open Sauce Bold"/>
                <a:ea typeface="Open Sauce Bold"/>
                <a:cs typeface="Open Sauce Bold"/>
                <a:sym typeface="Open Sauce Bold"/>
              </a:rPr>
              <a:t>mmitted</a:t>
            </a:r>
          </a:p>
          <a:p>
            <a:pPr algn="l">
              <a:lnSpc>
                <a:spcPts val="2520"/>
              </a:lnSpc>
            </a:pPr>
            <a:r>
              <a:rPr lang="en-US" sz="2100">
                <a:solidFill>
                  <a:srgbClr val="000000"/>
                </a:solidFill>
                <a:latin typeface="Open Sauce"/>
                <a:ea typeface="Open Sauce"/>
                <a:cs typeface="Open Sauce"/>
                <a:sym typeface="Open Sauce"/>
              </a:rPr>
              <a:t>US6, US11, US12, US13, US15, US16, US17, US18, US19.</a:t>
            </a:r>
          </a:p>
          <a:p>
            <a:pPr algn="l">
              <a:lnSpc>
                <a:spcPts val="2520"/>
              </a:lnSpc>
            </a:pPr>
          </a:p>
          <a:p>
            <a:pPr algn="l">
              <a:lnSpc>
                <a:spcPts val="2520"/>
              </a:lnSpc>
            </a:pPr>
          </a:p>
          <a:p>
            <a:pPr algn="ctr">
              <a:lnSpc>
                <a:spcPts val="2520"/>
              </a:lnSpc>
            </a:pPr>
          </a:p>
          <a:p>
            <a:pPr algn="l">
              <a:lnSpc>
                <a:spcPts val="2520"/>
              </a:lnSpc>
              <a:spcBef>
                <a:spcPct val="0"/>
              </a:spcBef>
            </a:pPr>
          </a:p>
        </p:txBody>
      </p:sp>
      <p:grpSp>
        <p:nvGrpSpPr>
          <p:cNvPr name="Group 9" id="9"/>
          <p:cNvGrpSpPr/>
          <p:nvPr/>
        </p:nvGrpSpPr>
        <p:grpSpPr>
          <a:xfrm rot="0">
            <a:off x="143691" y="9683062"/>
            <a:ext cx="2003497" cy="422688"/>
            <a:chOff x="0" y="0"/>
            <a:chExt cx="2671330" cy="563585"/>
          </a:xfrm>
        </p:grpSpPr>
        <p:sp>
          <p:nvSpPr>
            <p:cNvPr name="Freeform 10" id="10"/>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
        <p:nvSpPr>
          <p:cNvPr name="TextBox 12" id="12"/>
          <p:cNvSpPr txBox="true"/>
          <p:nvPr/>
        </p:nvSpPr>
        <p:spPr>
          <a:xfrm rot="0">
            <a:off x="13362297" y="9604216"/>
            <a:ext cx="4759598" cy="511618"/>
          </a:xfrm>
          <a:prstGeom prst="rect">
            <a:avLst/>
          </a:prstGeom>
        </p:spPr>
        <p:txBody>
          <a:bodyPr anchor="t" rtlCol="false" tIns="0" lIns="0" bIns="0" rIns="0">
            <a:spAutoFit/>
          </a:bodyPr>
          <a:lstStyle/>
          <a:p>
            <a:pPr algn="ctr">
              <a:lnSpc>
                <a:spcPts val="4286"/>
              </a:lnSpc>
              <a:spcBef>
                <a:spcPct val="0"/>
              </a:spcBef>
            </a:pPr>
            <a:r>
              <a:rPr lang="en-US" sz="2678" spc="267" u="sng">
                <a:solidFill>
                  <a:srgbClr val="000000"/>
                </a:solidFill>
                <a:latin typeface="Lato"/>
                <a:ea typeface="Lato"/>
                <a:cs typeface="Lato"/>
                <a:sym typeface="Lato"/>
                <a:hlinkClick r:id="rId4" tooltip="https://1drv.ms/x/c/c30f4680ccc79b8c/IQC9fztrzBx4Rrh7wy889blgAWKdZ5Khnt9L0mDcJNT6C-c"/>
              </a:rPr>
              <a:t>Detailed spreadsheet here</a:t>
            </a:r>
          </a:p>
        </p:txBody>
      </p:sp>
      <p:sp>
        <p:nvSpPr>
          <p:cNvPr name="TextBox 13" id="13"/>
          <p:cNvSpPr txBox="true"/>
          <p:nvPr/>
        </p:nvSpPr>
        <p:spPr>
          <a:xfrm rot="0">
            <a:off x="5934075" y="680085"/>
            <a:ext cx="7242444" cy="741045"/>
          </a:xfrm>
          <a:prstGeom prst="rect">
            <a:avLst/>
          </a:prstGeom>
        </p:spPr>
        <p:txBody>
          <a:bodyPr anchor="t" rtlCol="false" tIns="0" lIns="0" bIns="0" rIns="0">
            <a:spAutoFit/>
          </a:bodyPr>
          <a:lstStyle/>
          <a:p>
            <a:pPr algn="l" marL="0" indent="0" lvl="0">
              <a:lnSpc>
                <a:spcPts val="5880"/>
              </a:lnSpc>
            </a:pPr>
            <a:r>
              <a:rPr lang="en-US" b="true" sz="4200" spc="210">
                <a:solidFill>
                  <a:srgbClr val="000000"/>
                </a:solidFill>
                <a:latin typeface="Helios Extended Bold"/>
                <a:ea typeface="Helios Extended Bold"/>
                <a:cs typeface="Helios Extended Bold"/>
                <a:sym typeface="Helios Extended Bold"/>
              </a:rPr>
              <a:t>SPRINT 2 BACKLOG</a:t>
            </a:r>
          </a:p>
        </p:txBody>
      </p:sp>
      <p:sp>
        <p:nvSpPr>
          <p:cNvPr name="TextBox 14" id="14"/>
          <p:cNvSpPr txBox="true"/>
          <p:nvPr/>
        </p:nvSpPr>
        <p:spPr>
          <a:xfrm rot="0">
            <a:off x="7145067" y="8191299"/>
            <a:ext cx="4565687" cy="356235"/>
          </a:xfrm>
          <a:prstGeom prst="rect">
            <a:avLst/>
          </a:prstGeom>
        </p:spPr>
        <p:txBody>
          <a:bodyPr anchor="t" rtlCol="false" tIns="0" lIns="0" bIns="0" rIns="0">
            <a:spAutoFit/>
          </a:bodyPr>
          <a:lstStyle/>
          <a:p>
            <a:pPr algn="ctr">
              <a:lnSpc>
                <a:spcPts val="2940"/>
              </a:lnSpc>
            </a:pPr>
            <a:r>
              <a:rPr lang="en-US" sz="2100" b="true">
                <a:solidFill>
                  <a:srgbClr val="F2F1F1"/>
                </a:solidFill>
                <a:latin typeface="Canva Sans Bold"/>
                <a:ea typeface="Canva Sans Bold"/>
                <a:cs typeface="Canva Sans Bold"/>
                <a:sym typeface="Canva Sans Bold"/>
              </a:rPr>
              <a:t>Tot</a:t>
            </a:r>
            <a:r>
              <a:rPr lang="en-US" b="true" sz="2100">
                <a:solidFill>
                  <a:srgbClr val="F2F1F1"/>
                </a:solidFill>
                <a:latin typeface="Canva Sans Bold"/>
                <a:ea typeface="Canva Sans Bold"/>
                <a:cs typeface="Canva Sans Bold"/>
                <a:sym typeface="Canva Sans Bold"/>
              </a:rPr>
              <a:t>al Story Points Committed: 40</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71643" y="1825715"/>
            <a:ext cx="15363763" cy="7672635"/>
            <a:chOff x="0" y="0"/>
            <a:chExt cx="4668157" cy="2331293"/>
          </a:xfrm>
        </p:grpSpPr>
        <p:sp>
          <p:nvSpPr>
            <p:cNvPr name="Freeform 3" id="3"/>
            <p:cNvSpPr/>
            <p:nvPr/>
          </p:nvSpPr>
          <p:spPr>
            <a:xfrm flipH="false" flipV="false" rot="0">
              <a:off x="0" y="0"/>
              <a:ext cx="4668157" cy="2331293"/>
            </a:xfrm>
            <a:custGeom>
              <a:avLst/>
              <a:gdLst/>
              <a:ahLst/>
              <a:cxnLst/>
              <a:rect r="r" b="b" t="t" l="l"/>
              <a:pathLst>
                <a:path h="2331293" w="4668157">
                  <a:moveTo>
                    <a:pt x="4668157" y="26203"/>
                  </a:moveTo>
                  <a:lnTo>
                    <a:pt x="4668157" y="2305090"/>
                  </a:lnTo>
                  <a:cubicBezTo>
                    <a:pt x="4668157" y="2319562"/>
                    <a:pt x="4656426" y="2331293"/>
                    <a:pt x="4641954" y="2331293"/>
                  </a:cubicBezTo>
                  <a:lnTo>
                    <a:pt x="26203" y="2331293"/>
                  </a:lnTo>
                  <a:cubicBezTo>
                    <a:pt x="19254" y="2331293"/>
                    <a:pt x="12589" y="2328532"/>
                    <a:pt x="7675" y="2323618"/>
                  </a:cubicBezTo>
                  <a:cubicBezTo>
                    <a:pt x="2761" y="2318704"/>
                    <a:pt x="0" y="2312039"/>
                    <a:pt x="0" y="2305090"/>
                  </a:cubicBezTo>
                  <a:lnTo>
                    <a:pt x="0" y="26203"/>
                  </a:lnTo>
                  <a:cubicBezTo>
                    <a:pt x="0" y="19254"/>
                    <a:pt x="2761" y="12589"/>
                    <a:pt x="7675" y="7675"/>
                  </a:cubicBezTo>
                  <a:cubicBezTo>
                    <a:pt x="12589" y="2761"/>
                    <a:pt x="19254" y="0"/>
                    <a:pt x="26203" y="0"/>
                  </a:cubicBezTo>
                  <a:lnTo>
                    <a:pt x="4641954" y="0"/>
                  </a:lnTo>
                  <a:cubicBezTo>
                    <a:pt x="4656426" y="0"/>
                    <a:pt x="4668157" y="11732"/>
                    <a:pt x="4668157" y="26203"/>
                  </a:cubicBezTo>
                  <a:close/>
                </a:path>
              </a:pathLst>
            </a:custGeom>
            <a:solidFill>
              <a:srgbClr val="F2F1F1">
                <a:alpha val="80000"/>
              </a:srgbClr>
            </a:solidFill>
          </p:spPr>
        </p:sp>
        <p:sp>
          <p:nvSpPr>
            <p:cNvPr name="TextBox 4" id="4"/>
            <p:cNvSpPr txBox="true"/>
            <p:nvPr/>
          </p:nvSpPr>
          <p:spPr>
            <a:xfrm>
              <a:off x="0" y="-47625"/>
              <a:ext cx="4668157" cy="2378918"/>
            </a:xfrm>
            <a:prstGeom prst="rect">
              <a:avLst/>
            </a:prstGeom>
          </p:spPr>
          <p:txBody>
            <a:bodyPr anchor="ctr" rtlCol="false" tIns="50800" lIns="50800" bIns="50800" rIns="50800"/>
            <a:lstStyle/>
            <a:p>
              <a:pPr algn="ctr">
                <a:lnSpc>
                  <a:spcPts val="3359"/>
                </a:lnSpc>
              </a:pPr>
            </a:p>
          </p:txBody>
        </p:sp>
      </p:grpSp>
      <p:graphicFrame>
        <p:nvGraphicFramePr>
          <p:cNvPr name="Object 5" id="5"/>
          <p:cNvGraphicFramePr/>
          <p:nvPr/>
        </p:nvGraphicFramePr>
        <p:xfrm>
          <a:off x="7510817" y="2634559"/>
          <a:ext cx="11341923" cy="8229600"/>
        </p:xfrm>
        <a:graphic>
          <a:graphicData uri="http://schemas.openxmlformats.org/presentationml/2006/ole">
            <p:oleObj imgW="13601700" imgH="10490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graphicFrame>
        <p:nvGraphicFramePr>
          <p:cNvPr name="Object 6" id="6"/>
          <p:cNvGraphicFramePr/>
          <p:nvPr/>
        </p:nvGraphicFramePr>
        <p:xfrm>
          <a:off x="7510817" y="6005726"/>
          <a:ext cx="11341923" cy="8229600"/>
        </p:xfrm>
        <a:graphic>
          <a:graphicData uri="http://schemas.openxmlformats.org/presentationml/2006/ole">
            <p:oleObj imgW="13601700" imgH="104902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7" id="7"/>
          <p:cNvSpPr txBox="true"/>
          <p:nvPr/>
        </p:nvSpPr>
        <p:spPr>
          <a:xfrm rot="0">
            <a:off x="1929403" y="3421753"/>
            <a:ext cx="5257042" cy="4442460"/>
          </a:xfrm>
          <a:prstGeom prst="rect">
            <a:avLst/>
          </a:prstGeom>
        </p:spPr>
        <p:txBody>
          <a:bodyPr anchor="t" rtlCol="false" tIns="0" lIns="0" bIns="0" rIns="0">
            <a:spAutoFit/>
          </a:bodyPr>
          <a:lstStyle/>
          <a:p>
            <a:pPr algn="l">
              <a:lnSpc>
                <a:spcPts val="2940"/>
              </a:lnSpc>
            </a:pPr>
            <a:r>
              <a:rPr lang="en-US" sz="2100">
                <a:solidFill>
                  <a:srgbClr val="000000"/>
                </a:solidFill>
                <a:latin typeface="Canva Sans"/>
                <a:ea typeface="Canva Sans"/>
                <a:cs typeface="Canva Sans"/>
                <a:sym typeface="Canva Sans"/>
              </a:rPr>
              <a:t>During Sprint 2</a:t>
            </a:r>
            <a:r>
              <a:rPr lang="en-US" sz="2100">
                <a:solidFill>
                  <a:srgbClr val="000000"/>
                </a:solidFill>
                <a:latin typeface="Canva Sans"/>
                <a:ea typeface="Canva Sans"/>
                <a:cs typeface="Canva Sans"/>
                <a:sym typeface="Canva Sans"/>
              </a:rPr>
              <a:t>, user stories were decomposed into technical tasks to distribute work among team members and track implementation progress.</a:t>
            </a:r>
          </a:p>
          <a:p>
            <a:pPr algn="l">
              <a:lnSpc>
                <a:spcPts val="2940"/>
              </a:lnSpc>
            </a:pPr>
          </a:p>
          <a:p>
            <a:pPr algn="l">
              <a:lnSpc>
                <a:spcPts val="2940"/>
              </a:lnSpc>
            </a:pPr>
            <a:r>
              <a:rPr lang="en-US" sz="2100">
                <a:solidFill>
                  <a:srgbClr val="000000"/>
                </a:solidFill>
                <a:latin typeface="Canva Sans"/>
                <a:ea typeface="Canva Sans"/>
                <a:cs typeface="Canva Sans"/>
                <a:sym typeface="Canva Sans"/>
              </a:rPr>
              <a:t>Task breakdown allows the team to:</a:t>
            </a:r>
          </a:p>
          <a:p>
            <a:pPr algn="l">
              <a:lnSpc>
                <a:spcPts val="2940"/>
              </a:lnSpc>
            </a:pPr>
          </a:p>
          <a:p>
            <a:pPr algn="l" marL="453390" indent="-226695" lvl="1">
              <a:lnSpc>
                <a:spcPts val="2940"/>
              </a:lnSpc>
              <a:buFont typeface="Arial"/>
              <a:buChar char="•"/>
            </a:pPr>
            <a:r>
              <a:rPr lang="en-US" sz="2100">
                <a:solidFill>
                  <a:srgbClr val="000000"/>
                </a:solidFill>
                <a:latin typeface="Canva Sans"/>
                <a:ea typeface="Canva Sans"/>
                <a:cs typeface="Canva Sans"/>
                <a:sym typeface="Canva Sans"/>
              </a:rPr>
              <a:t>Assign clear responsibilities</a:t>
            </a:r>
          </a:p>
          <a:p>
            <a:pPr algn="l" marL="453390" indent="-226695" lvl="1">
              <a:lnSpc>
                <a:spcPts val="2940"/>
              </a:lnSpc>
              <a:buFont typeface="Arial"/>
              <a:buChar char="•"/>
            </a:pPr>
            <a:r>
              <a:rPr lang="en-US" sz="2100">
                <a:solidFill>
                  <a:srgbClr val="000000"/>
                </a:solidFill>
                <a:latin typeface="Canva Sans"/>
                <a:ea typeface="Canva Sans"/>
                <a:cs typeface="Canva Sans"/>
                <a:sym typeface="Canva Sans"/>
              </a:rPr>
              <a:t>Estimate development effort</a:t>
            </a:r>
          </a:p>
          <a:p>
            <a:pPr algn="l" marL="453390" indent="-226695" lvl="1">
              <a:lnSpc>
                <a:spcPts val="2940"/>
              </a:lnSpc>
              <a:buFont typeface="Arial"/>
              <a:buChar char="•"/>
            </a:pPr>
            <a:r>
              <a:rPr lang="en-US" sz="2100">
                <a:solidFill>
                  <a:srgbClr val="000000"/>
                </a:solidFill>
                <a:latin typeface="Canva Sans"/>
                <a:ea typeface="Canva Sans"/>
                <a:cs typeface="Canva Sans"/>
                <a:sym typeface="Canva Sans"/>
              </a:rPr>
              <a:t>Track sprint progress</a:t>
            </a:r>
          </a:p>
          <a:p>
            <a:pPr algn="l" marL="453390" indent="-226695" lvl="1">
              <a:lnSpc>
                <a:spcPts val="2940"/>
              </a:lnSpc>
              <a:buFont typeface="Arial"/>
              <a:buChar char="•"/>
            </a:pPr>
            <a:r>
              <a:rPr lang="en-US" sz="2100">
                <a:solidFill>
                  <a:srgbClr val="000000"/>
                </a:solidFill>
                <a:latin typeface="Canva Sans"/>
                <a:ea typeface="Canva Sans"/>
                <a:cs typeface="Canva Sans"/>
                <a:sym typeface="Canva Sans"/>
              </a:rPr>
              <a:t>Enable parallel development</a:t>
            </a:r>
          </a:p>
          <a:p>
            <a:pPr algn="l">
              <a:lnSpc>
                <a:spcPts val="2940"/>
              </a:lnSpc>
            </a:pPr>
          </a:p>
        </p:txBody>
      </p:sp>
      <p:sp>
        <p:nvSpPr>
          <p:cNvPr name="TextBox 8" id="8"/>
          <p:cNvSpPr txBox="true"/>
          <p:nvPr/>
        </p:nvSpPr>
        <p:spPr>
          <a:xfrm rot="0">
            <a:off x="13362297" y="9604216"/>
            <a:ext cx="4759598" cy="511618"/>
          </a:xfrm>
          <a:prstGeom prst="rect">
            <a:avLst/>
          </a:prstGeom>
        </p:spPr>
        <p:txBody>
          <a:bodyPr anchor="t" rtlCol="false" tIns="0" lIns="0" bIns="0" rIns="0">
            <a:spAutoFit/>
          </a:bodyPr>
          <a:lstStyle/>
          <a:p>
            <a:pPr algn="ctr">
              <a:lnSpc>
                <a:spcPts val="4286"/>
              </a:lnSpc>
              <a:spcBef>
                <a:spcPct val="0"/>
              </a:spcBef>
            </a:pPr>
            <a:r>
              <a:rPr lang="en-US" sz="2678" spc="267" u="sng">
                <a:solidFill>
                  <a:srgbClr val="000000"/>
                </a:solidFill>
                <a:latin typeface="Lato"/>
                <a:ea typeface="Lato"/>
                <a:cs typeface="Lato"/>
                <a:sym typeface="Lato"/>
                <a:hlinkClick r:id="rId6" tooltip="https://1drv.ms/x/c/c30f4680ccc79b8c/IQC9fztrzBx4Rrh7wy889blgAWKdZ5Khnt9L0mDcJNT6C-c"/>
              </a:rPr>
              <a:t>Detailed spreadsheet here</a:t>
            </a:r>
          </a:p>
        </p:txBody>
      </p:sp>
      <p:sp>
        <p:nvSpPr>
          <p:cNvPr name="TextBox 9" id="9"/>
          <p:cNvSpPr txBox="true"/>
          <p:nvPr/>
        </p:nvSpPr>
        <p:spPr>
          <a:xfrm rot="0">
            <a:off x="4041710" y="680085"/>
            <a:ext cx="10204580" cy="741045"/>
          </a:xfrm>
          <a:prstGeom prst="rect">
            <a:avLst/>
          </a:prstGeom>
        </p:spPr>
        <p:txBody>
          <a:bodyPr anchor="t" rtlCol="false" tIns="0" lIns="0" bIns="0" rIns="0">
            <a:spAutoFit/>
          </a:bodyPr>
          <a:lstStyle/>
          <a:p>
            <a:pPr algn="l" marL="0" indent="0" lvl="0">
              <a:lnSpc>
                <a:spcPts val="5880"/>
              </a:lnSpc>
            </a:pPr>
            <a:r>
              <a:rPr lang="en-US" b="true" sz="4200" spc="210">
                <a:solidFill>
                  <a:srgbClr val="000000"/>
                </a:solidFill>
                <a:latin typeface="Helios Extended Bold"/>
                <a:ea typeface="Helios Extended Bold"/>
                <a:cs typeface="Helios Extended Bold"/>
                <a:sym typeface="Helios Extended Bold"/>
              </a:rPr>
              <a:t>SPRINT 2 TASK BREAKDOWN</a:t>
            </a:r>
          </a:p>
        </p:txBody>
      </p:sp>
      <p:grpSp>
        <p:nvGrpSpPr>
          <p:cNvPr name="Group 10" id="10"/>
          <p:cNvGrpSpPr/>
          <p:nvPr/>
        </p:nvGrpSpPr>
        <p:grpSpPr>
          <a:xfrm rot="0">
            <a:off x="143691" y="9683062"/>
            <a:ext cx="2003497" cy="422688"/>
            <a:chOff x="0" y="0"/>
            <a:chExt cx="2671330" cy="563585"/>
          </a:xfrm>
        </p:grpSpPr>
        <p:sp>
          <p:nvSpPr>
            <p:cNvPr name="Freeform 11" id="11"/>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77026" y="1380831"/>
            <a:ext cx="16533948" cy="8060300"/>
          </a:xfrm>
          <a:custGeom>
            <a:avLst/>
            <a:gdLst/>
            <a:ahLst/>
            <a:cxnLst/>
            <a:rect r="r" b="b" t="t" l="l"/>
            <a:pathLst>
              <a:path h="8060300" w="16533948">
                <a:moveTo>
                  <a:pt x="0" y="0"/>
                </a:moveTo>
                <a:lnTo>
                  <a:pt x="16533948" y="0"/>
                </a:lnTo>
                <a:lnTo>
                  <a:pt x="16533948" y="8060299"/>
                </a:lnTo>
                <a:lnTo>
                  <a:pt x="0" y="8060299"/>
                </a:lnTo>
                <a:lnTo>
                  <a:pt x="0" y="0"/>
                </a:lnTo>
                <a:close/>
              </a:path>
            </a:pathLst>
          </a:custGeom>
          <a:blipFill>
            <a:blip r:embed="rId2"/>
            <a:stretch>
              <a:fillRect l="0" t="0" r="0" b="0"/>
            </a:stretch>
          </a:blipFill>
        </p:spPr>
      </p:sp>
      <p:sp>
        <p:nvSpPr>
          <p:cNvPr name="TextBox 3" id="3"/>
          <p:cNvSpPr txBox="true"/>
          <p:nvPr/>
        </p:nvSpPr>
        <p:spPr>
          <a:xfrm rot="0">
            <a:off x="4775007" y="487680"/>
            <a:ext cx="9423582" cy="948690"/>
          </a:xfrm>
          <a:prstGeom prst="rect">
            <a:avLst/>
          </a:prstGeom>
        </p:spPr>
        <p:txBody>
          <a:bodyPr anchor="t" rtlCol="false" tIns="0" lIns="0" bIns="0" rIns="0">
            <a:spAutoFit/>
          </a:bodyPr>
          <a:lstStyle/>
          <a:p>
            <a:pPr algn="l" marL="0" indent="0" lvl="0">
              <a:lnSpc>
                <a:spcPts val="7560"/>
              </a:lnSpc>
            </a:pPr>
            <a:r>
              <a:rPr lang="en-US" b="true" sz="5400" spc="270">
                <a:solidFill>
                  <a:srgbClr val="000000"/>
                </a:solidFill>
                <a:latin typeface="Helios Extended Bold"/>
                <a:ea typeface="Helios Extended Bold"/>
                <a:cs typeface="Helios Extended Bold"/>
                <a:sym typeface="Helios Extended Bold"/>
              </a:rPr>
              <a:t>SPRINT 2 TEST CASE</a:t>
            </a:r>
          </a:p>
        </p:txBody>
      </p:sp>
      <p:sp>
        <p:nvSpPr>
          <p:cNvPr name="TextBox 4" id="4"/>
          <p:cNvSpPr txBox="true"/>
          <p:nvPr/>
        </p:nvSpPr>
        <p:spPr>
          <a:xfrm rot="0">
            <a:off x="12688750" y="9441130"/>
            <a:ext cx="4759598" cy="511618"/>
          </a:xfrm>
          <a:prstGeom prst="rect">
            <a:avLst/>
          </a:prstGeom>
        </p:spPr>
        <p:txBody>
          <a:bodyPr anchor="t" rtlCol="false" tIns="0" lIns="0" bIns="0" rIns="0">
            <a:spAutoFit/>
          </a:bodyPr>
          <a:lstStyle/>
          <a:p>
            <a:pPr algn="ctr">
              <a:lnSpc>
                <a:spcPts val="4286"/>
              </a:lnSpc>
              <a:spcBef>
                <a:spcPct val="0"/>
              </a:spcBef>
            </a:pPr>
            <a:r>
              <a:rPr lang="en-US" sz="2678" spc="267" u="sng">
                <a:solidFill>
                  <a:srgbClr val="000000"/>
                </a:solidFill>
                <a:latin typeface="Lato"/>
                <a:ea typeface="Lato"/>
                <a:cs typeface="Lato"/>
                <a:sym typeface="Lato"/>
                <a:hlinkClick r:id="rId3" tooltip="https://1drv.ms/x/c/c30f4680ccc79b8c/IQC9fztrzBx4Rrh7wy889blgAWKdZ5Khnt9L0mDcJNT6C-c"/>
              </a:rPr>
              <a:t>Detailed spreadsheet here</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11370" y="1675606"/>
            <a:ext cx="16665261" cy="7582694"/>
          </a:xfrm>
          <a:custGeom>
            <a:avLst/>
            <a:gdLst/>
            <a:ahLst/>
            <a:cxnLst/>
            <a:rect r="r" b="b" t="t" l="l"/>
            <a:pathLst>
              <a:path h="7582694" w="16665261">
                <a:moveTo>
                  <a:pt x="0" y="0"/>
                </a:moveTo>
                <a:lnTo>
                  <a:pt x="16665260" y="0"/>
                </a:lnTo>
                <a:lnTo>
                  <a:pt x="16665260" y="7582694"/>
                </a:lnTo>
                <a:lnTo>
                  <a:pt x="0" y="7582694"/>
                </a:lnTo>
                <a:lnTo>
                  <a:pt x="0" y="0"/>
                </a:lnTo>
                <a:close/>
              </a:path>
            </a:pathLst>
          </a:custGeom>
          <a:blipFill>
            <a:blip r:embed="rId2"/>
            <a:stretch>
              <a:fillRect l="0" t="0" r="0" b="0"/>
            </a:stretch>
          </a:blipFill>
        </p:spPr>
      </p:sp>
      <p:sp>
        <p:nvSpPr>
          <p:cNvPr name="TextBox 3" id="3"/>
          <p:cNvSpPr txBox="true"/>
          <p:nvPr/>
        </p:nvSpPr>
        <p:spPr>
          <a:xfrm rot="0">
            <a:off x="4775007" y="487680"/>
            <a:ext cx="9423582" cy="948690"/>
          </a:xfrm>
          <a:prstGeom prst="rect">
            <a:avLst/>
          </a:prstGeom>
        </p:spPr>
        <p:txBody>
          <a:bodyPr anchor="t" rtlCol="false" tIns="0" lIns="0" bIns="0" rIns="0">
            <a:spAutoFit/>
          </a:bodyPr>
          <a:lstStyle/>
          <a:p>
            <a:pPr algn="l" marL="0" indent="0" lvl="0">
              <a:lnSpc>
                <a:spcPts val="7560"/>
              </a:lnSpc>
            </a:pPr>
            <a:r>
              <a:rPr lang="en-US" b="true" sz="5400" spc="270">
                <a:solidFill>
                  <a:srgbClr val="000000"/>
                </a:solidFill>
                <a:latin typeface="Helios Extended Bold"/>
                <a:ea typeface="Helios Extended Bold"/>
                <a:cs typeface="Helios Extended Bold"/>
                <a:sym typeface="Helios Extended Bold"/>
              </a:rPr>
              <a:t>SPRINT 2 TEST CASE</a:t>
            </a:r>
          </a:p>
        </p:txBody>
      </p:sp>
      <p:sp>
        <p:nvSpPr>
          <p:cNvPr name="TextBox 4" id="4"/>
          <p:cNvSpPr txBox="true"/>
          <p:nvPr/>
        </p:nvSpPr>
        <p:spPr>
          <a:xfrm rot="0">
            <a:off x="12692902" y="9458325"/>
            <a:ext cx="4759598" cy="511618"/>
          </a:xfrm>
          <a:prstGeom prst="rect">
            <a:avLst/>
          </a:prstGeom>
        </p:spPr>
        <p:txBody>
          <a:bodyPr anchor="t" rtlCol="false" tIns="0" lIns="0" bIns="0" rIns="0">
            <a:spAutoFit/>
          </a:bodyPr>
          <a:lstStyle/>
          <a:p>
            <a:pPr algn="ctr">
              <a:lnSpc>
                <a:spcPts val="4286"/>
              </a:lnSpc>
              <a:spcBef>
                <a:spcPct val="0"/>
              </a:spcBef>
            </a:pPr>
            <a:r>
              <a:rPr lang="en-US" sz="2678" spc="267" u="sng">
                <a:solidFill>
                  <a:srgbClr val="000000"/>
                </a:solidFill>
                <a:latin typeface="Lato"/>
                <a:ea typeface="Lato"/>
                <a:cs typeface="Lato"/>
                <a:sym typeface="Lato"/>
                <a:hlinkClick r:id="rId3" tooltip="https://1drv.ms/x/c/c30f4680ccc79b8c/IQC9fztrzBx4Rrh7wy889blgAWKdZ5Khnt9L0mDcJNT6C-c"/>
              </a:rPr>
              <a:t>Detailed spreadsheet here</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19967" y="1804046"/>
            <a:ext cx="17048067" cy="6883157"/>
          </a:xfrm>
          <a:custGeom>
            <a:avLst/>
            <a:gdLst/>
            <a:ahLst/>
            <a:cxnLst/>
            <a:rect r="r" b="b" t="t" l="l"/>
            <a:pathLst>
              <a:path h="6883157" w="17048067">
                <a:moveTo>
                  <a:pt x="0" y="0"/>
                </a:moveTo>
                <a:lnTo>
                  <a:pt x="17048066" y="0"/>
                </a:lnTo>
                <a:lnTo>
                  <a:pt x="17048066" y="6883157"/>
                </a:lnTo>
                <a:lnTo>
                  <a:pt x="0" y="6883157"/>
                </a:lnTo>
                <a:lnTo>
                  <a:pt x="0" y="0"/>
                </a:lnTo>
                <a:close/>
              </a:path>
            </a:pathLst>
          </a:custGeom>
          <a:blipFill>
            <a:blip r:embed="rId2"/>
            <a:stretch>
              <a:fillRect l="0" t="0" r="0" b="0"/>
            </a:stretch>
          </a:blipFill>
        </p:spPr>
      </p:sp>
      <p:sp>
        <p:nvSpPr>
          <p:cNvPr name="TextBox 3" id="3"/>
          <p:cNvSpPr txBox="true"/>
          <p:nvPr/>
        </p:nvSpPr>
        <p:spPr>
          <a:xfrm rot="0">
            <a:off x="4775007" y="487680"/>
            <a:ext cx="9423582" cy="948690"/>
          </a:xfrm>
          <a:prstGeom prst="rect">
            <a:avLst/>
          </a:prstGeom>
        </p:spPr>
        <p:txBody>
          <a:bodyPr anchor="t" rtlCol="false" tIns="0" lIns="0" bIns="0" rIns="0">
            <a:spAutoFit/>
          </a:bodyPr>
          <a:lstStyle/>
          <a:p>
            <a:pPr algn="l" marL="0" indent="0" lvl="0">
              <a:lnSpc>
                <a:spcPts val="7560"/>
              </a:lnSpc>
            </a:pPr>
            <a:r>
              <a:rPr lang="en-US" b="true" sz="5400" spc="270">
                <a:solidFill>
                  <a:srgbClr val="000000"/>
                </a:solidFill>
                <a:latin typeface="Helios Extended Bold"/>
                <a:ea typeface="Helios Extended Bold"/>
                <a:cs typeface="Helios Extended Bold"/>
                <a:sym typeface="Helios Extended Bold"/>
              </a:rPr>
              <a:t>SPRINT 2 TEST CASE</a:t>
            </a:r>
          </a:p>
        </p:txBody>
      </p:sp>
      <p:sp>
        <p:nvSpPr>
          <p:cNvPr name="TextBox 4" id="4"/>
          <p:cNvSpPr txBox="true"/>
          <p:nvPr/>
        </p:nvSpPr>
        <p:spPr>
          <a:xfrm rot="0">
            <a:off x="12946324" y="8950104"/>
            <a:ext cx="4759598" cy="511618"/>
          </a:xfrm>
          <a:prstGeom prst="rect">
            <a:avLst/>
          </a:prstGeom>
        </p:spPr>
        <p:txBody>
          <a:bodyPr anchor="t" rtlCol="false" tIns="0" lIns="0" bIns="0" rIns="0">
            <a:spAutoFit/>
          </a:bodyPr>
          <a:lstStyle/>
          <a:p>
            <a:pPr algn="ctr">
              <a:lnSpc>
                <a:spcPts val="4286"/>
              </a:lnSpc>
              <a:spcBef>
                <a:spcPct val="0"/>
              </a:spcBef>
            </a:pPr>
            <a:r>
              <a:rPr lang="en-US" sz="2678" spc="267" u="sng">
                <a:solidFill>
                  <a:srgbClr val="000000"/>
                </a:solidFill>
                <a:latin typeface="Lato"/>
                <a:ea typeface="Lato"/>
                <a:cs typeface="Lato"/>
                <a:sym typeface="Lato"/>
                <a:hlinkClick r:id="rId3" tooltip="https://1drv.ms/x/c/c30f4680ccc79b8c/IQC9fztrzBx4Rrh7wy889blgAWKdZ5Khnt9L0mDcJNT6C-c"/>
              </a:rPr>
              <a:t>Detailed spreadsheet here</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88253" y="1566127"/>
            <a:ext cx="16711493" cy="7692173"/>
          </a:xfrm>
          <a:custGeom>
            <a:avLst/>
            <a:gdLst/>
            <a:ahLst/>
            <a:cxnLst/>
            <a:rect r="r" b="b" t="t" l="l"/>
            <a:pathLst>
              <a:path h="7692173" w="16711493">
                <a:moveTo>
                  <a:pt x="0" y="0"/>
                </a:moveTo>
                <a:lnTo>
                  <a:pt x="16711494" y="0"/>
                </a:lnTo>
                <a:lnTo>
                  <a:pt x="16711494" y="7692173"/>
                </a:lnTo>
                <a:lnTo>
                  <a:pt x="0" y="7692173"/>
                </a:lnTo>
                <a:lnTo>
                  <a:pt x="0" y="0"/>
                </a:lnTo>
                <a:close/>
              </a:path>
            </a:pathLst>
          </a:custGeom>
          <a:blipFill>
            <a:blip r:embed="rId2"/>
            <a:stretch>
              <a:fillRect l="-664" t="-438" r="-664" b="0"/>
            </a:stretch>
          </a:blipFill>
        </p:spPr>
      </p:sp>
      <p:sp>
        <p:nvSpPr>
          <p:cNvPr name="TextBox 3" id="3"/>
          <p:cNvSpPr txBox="true"/>
          <p:nvPr/>
        </p:nvSpPr>
        <p:spPr>
          <a:xfrm rot="0">
            <a:off x="4775007" y="487680"/>
            <a:ext cx="9423582" cy="948690"/>
          </a:xfrm>
          <a:prstGeom prst="rect">
            <a:avLst/>
          </a:prstGeom>
        </p:spPr>
        <p:txBody>
          <a:bodyPr anchor="t" rtlCol="false" tIns="0" lIns="0" bIns="0" rIns="0">
            <a:spAutoFit/>
          </a:bodyPr>
          <a:lstStyle/>
          <a:p>
            <a:pPr algn="l" marL="0" indent="0" lvl="0">
              <a:lnSpc>
                <a:spcPts val="7560"/>
              </a:lnSpc>
            </a:pPr>
            <a:r>
              <a:rPr lang="en-US" b="true" sz="5400" spc="270">
                <a:solidFill>
                  <a:srgbClr val="000000"/>
                </a:solidFill>
                <a:latin typeface="Helios Extended Bold"/>
                <a:ea typeface="Helios Extended Bold"/>
                <a:cs typeface="Helios Extended Bold"/>
                <a:sym typeface="Helios Extended Bold"/>
              </a:rPr>
              <a:t>SPRINT 2 TEST CASE</a:t>
            </a:r>
          </a:p>
        </p:txBody>
      </p:sp>
      <p:sp>
        <p:nvSpPr>
          <p:cNvPr name="TextBox 4" id="4"/>
          <p:cNvSpPr txBox="true"/>
          <p:nvPr/>
        </p:nvSpPr>
        <p:spPr>
          <a:xfrm rot="0">
            <a:off x="12740149" y="9407934"/>
            <a:ext cx="4759598" cy="511618"/>
          </a:xfrm>
          <a:prstGeom prst="rect">
            <a:avLst/>
          </a:prstGeom>
        </p:spPr>
        <p:txBody>
          <a:bodyPr anchor="t" rtlCol="false" tIns="0" lIns="0" bIns="0" rIns="0">
            <a:spAutoFit/>
          </a:bodyPr>
          <a:lstStyle/>
          <a:p>
            <a:pPr algn="ctr">
              <a:lnSpc>
                <a:spcPts val="4286"/>
              </a:lnSpc>
              <a:spcBef>
                <a:spcPct val="0"/>
              </a:spcBef>
            </a:pPr>
            <a:r>
              <a:rPr lang="en-US" sz="2678" spc="267" u="sng">
                <a:solidFill>
                  <a:srgbClr val="000000"/>
                </a:solidFill>
                <a:latin typeface="Lato"/>
                <a:ea typeface="Lato"/>
                <a:cs typeface="Lato"/>
                <a:sym typeface="Lato"/>
                <a:hlinkClick r:id="rId3" tooltip="https://1drv.ms/x/c/c30f4680ccc79b8c/IQC9fztrzBx4Rrh7wy889blgAWKdZ5Khnt9L0mDcJNT6C-c"/>
              </a:rPr>
              <a:t>Detailed spreadsheet here</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67578" y="1394038"/>
            <a:ext cx="16752845" cy="8146071"/>
          </a:xfrm>
          <a:custGeom>
            <a:avLst/>
            <a:gdLst/>
            <a:ahLst/>
            <a:cxnLst/>
            <a:rect r="r" b="b" t="t" l="l"/>
            <a:pathLst>
              <a:path h="8146071" w="16752845">
                <a:moveTo>
                  <a:pt x="0" y="0"/>
                </a:moveTo>
                <a:lnTo>
                  <a:pt x="16752844" y="0"/>
                </a:lnTo>
                <a:lnTo>
                  <a:pt x="16752844" y="8146071"/>
                </a:lnTo>
                <a:lnTo>
                  <a:pt x="0" y="8146071"/>
                </a:lnTo>
                <a:lnTo>
                  <a:pt x="0" y="0"/>
                </a:lnTo>
                <a:close/>
              </a:path>
            </a:pathLst>
          </a:custGeom>
          <a:blipFill>
            <a:blip r:embed="rId2"/>
            <a:stretch>
              <a:fillRect l="0" t="0" r="0" b="0"/>
            </a:stretch>
          </a:blipFill>
        </p:spPr>
      </p:sp>
      <p:sp>
        <p:nvSpPr>
          <p:cNvPr name="TextBox 3" id="3"/>
          <p:cNvSpPr txBox="true"/>
          <p:nvPr/>
        </p:nvSpPr>
        <p:spPr>
          <a:xfrm rot="0">
            <a:off x="4775007" y="487680"/>
            <a:ext cx="9423582" cy="948690"/>
          </a:xfrm>
          <a:prstGeom prst="rect">
            <a:avLst/>
          </a:prstGeom>
        </p:spPr>
        <p:txBody>
          <a:bodyPr anchor="t" rtlCol="false" tIns="0" lIns="0" bIns="0" rIns="0">
            <a:spAutoFit/>
          </a:bodyPr>
          <a:lstStyle/>
          <a:p>
            <a:pPr algn="l" marL="0" indent="0" lvl="0">
              <a:lnSpc>
                <a:spcPts val="7560"/>
              </a:lnSpc>
            </a:pPr>
            <a:r>
              <a:rPr lang="en-US" b="true" sz="5400" spc="270">
                <a:solidFill>
                  <a:srgbClr val="000000"/>
                </a:solidFill>
                <a:latin typeface="Helios Extended Bold"/>
                <a:ea typeface="Helios Extended Bold"/>
                <a:cs typeface="Helios Extended Bold"/>
                <a:sym typeface="Helios Extended Bold"/>
              </a:rPr>
              <a:t>SPRINT 2 TEST CASE</a:t>
            </a:r>
          </a:p>
        </p:txBody>
      </p:sp>
      <p:sp>
        <p:nvSpPr>
          <p:cNvPr name="TextBox 4" id="4"/>
          <p:cNvSpPr txBox="true"/>
          <p:nvPr/>
        </p:nvSpPr>
        <p:spPr>
          <a:xfrm rot="0">
            <a:off x="12760825" y="9435334"/>
            <a:ext cx="4759598" cy="511618"/>
          </a:xfrm>
          <a:prstGeom prst="rect">
            <a:avLst/>
          </a:prstGeom>
        </p:spPr>
        <p:txBody>
          <a:bodyPr anchor="t" rtlCol="false" tIns="0" lIns="0" bIns="0" rIns="0">
            <a:spAutoFit/>
          </a:bodyPr>
          <a:lstStyle/>
          <a:p>
            <a:pPr algn="ctr">
              <a:lnSpc>
                <a:spcPts val="4286"/>
              </a:lnSpc>
              <a:spcBef>
                <a:spcPct val="0"/>
              </a:spcBef>
            </a:pPr>
            <a:r>
              <a:rPr lang="en-US" sz="2678" spc="267" u="sng">
                <a:solidFill>
                  <a:srgbClr val="000000"/>
                </a:solidFill>
                <a:latin typeface="Lato"/>
                <a:ea typeface="Lato"/>
                <a:cs typeface="Lato"/>
                <a:sym typeface="Lato"/>
                <a:hlinkClick r:id="rId3" tooltip="https://1drv.ms/x/c/c30f4680ccc79b8c/IQC9fztrzBx4Rrh7wy889blgAWKdZ5Khnt9L0mDcJNT6C-c"/>
              </a:rPr>
              <a:t>Detailed spreadsheet here</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22988" y="3176851"/>
            <a:ext cx="17242025" cy="4891939"/>
          </a:xfrm>
          <a:custGeom>
            <a:avLst/>
            <a:gdLst/>
            <a:ahLst/>
            <a:cxnLst/>
            <a:rect r="r" b="b" t="t" l="l"/>
            <a:pathLst>
              <a:path h="4891939" w="17242025">
                <a:moveTo>
                  <a:pt x="0" y="0"/>
                </a:moveTo>
                <a:lnTo>
                  <a:pt x="17242024" y="0"/>
                </a:lnTo>
                <a:lnTo>
                  <a:pt x="17242024" y="4891939"/>
                </a:lnTo>
                <a:lnTo>
                  <a:pt x="0" y="4891939"/>
                </a:lnTo>
                <a:lnTo>
                  <a:pt x="0" y="0"/>
                </a:lnTo>
                <a:close/>
              </a:path>
            </a:pathLst>
          </a:custGeom>
          <a:blipFill>
            <a:blip r:embed="rId2"/>
            <a:stretch>
              <a:fillRect l="0" t="-24783" r="-796" b="-8884"/>
            </a:stretch>
          </a:blipFill>
        </p:spPr>
      </p:sp>
      <p:sp>
        <p:nvSpPr>
          <p:cNvPr name="TextBox 3" id="3"/>
          <p:cNvSpPr txBox="true"/>
          <p:nvPr/>
        </p:nvSpPr>
        <p:spPr>
          <a:xfrm rot="0">
            <a:off x="4775007" y="487680"/>
            <a:ext cx="9423582" cy="1901190"/>
          </a:xfrm>
          <a:prstGeom prst="rect">
            <a:avLst/>
          </a:prstGeom>
        </p:spPr>
        <p:txBody>
          <a:bodyPr anchor="t" rtlCol="false" tIns="0" lIns="0" bIns="0" rIns="0">
            <a:spAutoFit/>
          </a:bodyPr>
          <a:lstStyle/>
          <a:p>
            <a:pPr algn="ctr" marL="0" indent="0" lvl="0">
              <a:lnSpc>
                <a:spcPts val="7560"/>
              </a:lnSpc>
            </a:pPr>
            <a:r>
              <a:rPr lang="en-US" b="true" sz="5400" spc="270">
                <a:solidFill>
                  <a:srgbClr val="000000"/>
                </a:solidFill>
                <a:latin typeface="Helios Extended Bold"/>
                <a:ea typeface="Helios Extended Bold"/>
                <a:cs typeface="Helios Extended Bold"/>
                <a:sym typeface="Helios Extended Bold"/>
              </a:rPr>
              <a:t>SPRINT 2 TEST CASE SUMMARY</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71643" y="1825715"/>
            <a:ext cx="15363763" cy="7672635"/>
            <a:chOff x="0" y="0"/>
            <a:chExt cx="4668157" cy="2331293"/>
          </a:xfrm>
        </p:grpSpPr>
        <p:sp>
          <p:nvSpPr>
            <p:cNvPr name="Freeform 3" id="3"/>
            <p:cNvSpPr/>
            <p:nvPr/>
          </p:nvSpPr>
          <p:spPr>
            <a:xfrm flipH="false" flipV="false" rot="0">
              <a:off x="0" y="0"/>
              <a:ext cx="4668157" cy="2331293"/>
            </a:xfrm>
            <a:custGeom>
              <a:avLst/>
              <a:gdLst/>
              <a:ahLst/>
              <a:cxnLst/>
              <a:rect r="r" b="b" t="t" l="l"/>
              <a:pathLst>
                <a:path h="2331293" w="4668157">
                  <a:moveTo>
                    <a:pt x="4668157" y="26203"/>
                  </a:moveTo>
                  <a:lnTo>
                    <a:pt x="4668157" y="2305090"/>
                  </a:lnTo>
                  <a:cubicBezTo>
                    <a:pt x="4668157" y="2319562"/>
                    <a:pt x="4656426" y="2331293"/>
                    <a:pt x="4641954" y="2331293"/>
                  </a:cubicBezTo>
                  <a:lnTo>
                    <a:pt x="26203" y="2331293"/>
                  </a:lnTo>
                  <a:cubicBezTo>
                    <a:pt x="19254" y="2331293"/>
                    <a:pt x="12589" y="2328532"/>
                    <a:pt x="7675" y="2323618"/>
                  </a:cubicBezTo>
                  <a:cubicBezTo>
                    <a:pt x="2761" y="2318704"/>
                    <a:pt x="0" y="2312039"/>
                    <a:pt x="0" y="2305090"/>
                  </a:cubicBezTo>
                  <a:lnTo>
                    <a:pt x="0" y="26203"/>
                  </a:lnTo>
                  <a:cubicBezTo>
                    <a:pt x="0" y="19254"/>
                    <a:pt x="2761" y="12589"/>
                    <a:pt x="7675" y="7675"/>
                  </a:cubicBezTo>
                  <a:cubicBezTo>
                    <a:pt x="12589" y="2761"/>
                    <a:pt x="19254" y="0"/>
                    <a:pt x="26203" y="0"/>
                  </a:cubicBezTo>
                  <a:lnTo>
                    <a:pt x="4641954" y="0"/>
                  </a:lnTo>
                  <a:cubicBezTo>
                    <a:pt x="4656426" y="0"/>
                    <a:pt x="4668157" y="11732"/>
                    <a:pt x="4668157" y="26203"/>
                  </a:cubicBezTo>
                  <a:close/>
                </a:path>
              </a:pathLst>
            </a:custGeom>
            <a:solidFill>
              <a:srgbClr val="F2F1F1">
                <a:alpha val="80000"/>
              </a:srgbClr>
            </a:solidFill>
          </p:spPr>
        </p:sp>
        <p:sp>
          <p:nvSpPr>
            <p:cNvPr name="TextBox 4" id="4"/>
            <p:cNvSpPr txBox="true"/>
            <p:nvPr/>
          </p:nvSpPr>
          <p:spPr>
            <a:xfrm>
              <a:off x="0" y="-47625"/>
              <a:ext cx="4668157" cy="2378918"/>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2362143" y="2610414"/>
            <a:ext cx="6041174" cy="6041174"/>
          </a:xfrm>
          <a:custGeom>
            <a:avLst/>
            <a:gdLst/>
            <a:ahLst/>
            <a:cxnLst/>
            <a:rect r="r" b="b" t="t" l="l"/>
            <a:pathLst>
              <a:path h="6041174" w="6041174">
                <a:moveTo>
                  <a:pt x="0" y="0"/>
                </a:moveTo>
                <a:lnTo>
                  <a:pt x="6041174" y="0"/>
                </a:lnTo>
                <a:lnTo>
                  <a:pt x="6041174" y="6041173"/>
                </a:lnTo>
                <a:lnTo>
                  <a:pt x="0" y="6041173"/>
                </a:lnTo>
                <a:lnTo>
                  <a:pt x="0" y="0"/>
                </a:lnTo>
                <a:close/>
              </a:path>
            </a:pathLst>
          </a:custGeom>
          <a:blipFill>
            <a:blip r:embed="rId2"/>
            <a:stretch>
              <a:fillRect l="0" t="0" r="0" b="0"/>
            </a:stretch>
          </a:blipFill>
        </p:spPr>
      </p:sp>
      <p:sp>
        <p:nvSpPr>
          <p:cNvPr name="TextBox 6" id="6"/>
          <p:cNvSpPr txBox="true"/>
          <p:nvPr/>
        </p:nvSpPr>
        <p:spPr>
          <a:xfrm rot="0">
            <a:off x="9851991" y="3281578"/>
            <a:ext cx="5890104" cy="4608509"/>
          </a:xfrm>
          <a:prstGeom prst="rect">
            <a:avLst/>
          </a:prstGeom>
        </p:spPr>
        <p:txBody>
          <a:bodyPr anchor="t" rtlCol="false" tIns="0" lIns="0" bIns="0" rIns="0">
            <a:spAutoFit/>
          </a:bodyPr>
          <a:lstStyle/>
          <a:p>
            <a:pPr algn="l" marL="373896" indent="-186948" lvl="1">
              <a:lnSpc>
                <a:spcPts val="3740"/>
              </a:lnSpc>
              <a:buFont typeface="Arial"/>
              <a:buChar char="•"/>
            </a:pPr>
            <a:r>
              <a:rPr lang="en-US" b="true" sz="1731">
                <a:solidFill>
                  <a:srgbClr val="000000"/>
                </a:solidFill>
                <a:latin typeface="Open Sauce Bold"/>
                <a:ea typeface="Open Sauce Bold"/>
                <a:cs typeface="Open Sauce Bold"/>
                <a:sym typeface="Open Sauce Bold"/>
              </a:rPr>
              <a:t>US6 -</a:t>
            </a:r>
            <a:r>
              <a:rPr lang="en-US" sz="1731">
                <a:solidFill>
                  <a:srgbClr val="000000"/>
                </a:solidFill>
                <a:latin typeface="Open Sauce"/>
                <a:ea typeface="Open Sauce"/>
                <a:cs typeface="Open Sauce"/>
                <a:sym typeface="Open Sauce"/>
              </a:rPr>
              <a:t> Mood History Visualization</a:t>
            </a:r>
          </a:p>
          <a:p>
            <a:pPr algn="l" marL="373896" indent="-186948" lvl="1">
              <a:lnSpc>
                <a:spcPts val="3740"/>
              </a:lnSpc>
              <a:buFont typeface="Arial"/>
              <a:buChar char="•"/>
            </a:pPr>
            <a:r>
              <a:rPr lang="en-US" b="true" sz="1731">
                <a:solidFill>
                  <a:srgbClr val="000000"/>
                </a:solidFill>
                <a:latin typeface="Open Sauce Bold"/>
                <a:ea typeface="Open Sauce Bold"/>
                <a:cs typeface="Open Sauce Bold"/>
                <a:sym typeface="Open Sauce Bold"/>
              </a:rPr>
              <a:t>US11 -</a:t>
            </a:r>
            <a:r>
              <a:rPr lang="en-US" sz="1731">
                <a:solidFill>
                  <a:srgbClr val="000000"/>
                </a:solidFill>
                <a:latin typeface="Open Sauce"/>
                <a:ea typeface="Open Sauce"/>
                <a:cs typeface="Open Sauce"/>
                <a:sym typeface="Open Sauce"/>
              </a:rPr>
              <a:t> User Registration</a:t>
            </a:r>
          </a:p>
          <a:p>
            <a:pPr algn="l" marL="373896" indent="-186948" lvl="1">
              <a:lnSpc>
                <a:spcPts val="3740"/>
              </a:lnSpc>
              <a:buFont typeface="Arial"/>
              <a:buChar char="•"/>
            </a:pPr>
            <a:r>
              <a:rPr lang="en-US" b="true" sz="1731">
                <a:solidFill>
                  <a:srgbClr val="000000"/>
                </a:solidFill>
                <a:latin typeface="Open Sauce Bold"/>
                <a:ea typeface="Open Sauce Bold"/>
                <a:cs typeface="Open Sauce Bold"/>
                <a:sym typeface="Open Sauce Bold"/>
              </a:rPr>
              <a:t>US12 -</a:t>
            </a:r>
            <a:r>
              <a:rPr lang="en-US" sz="1731">
                <a:solidFill>
                  <a:srgbClr val="000000"/>
                </a:solidFill>
                <a:latin typeface="Open Sauce"/>
                <a:ea typeface="Open Sauce"/>
                <a:cs typeface="Open Sauce"/>
                <a:sym typeface="Open Sauce"/>
              </a:rPr>
              <a:t> User Login</a:t>
            </a:r>
          </a:p>
          <a:p>
            <a:pPr algn="l" marL="373896" indent="-186948" lvl="1">
              <a:lnSpc>
                <a:spcPts val="3740"/>
              </a:lnSpc>
              <a:buFont typeface="Arial"/>
              <a:buChar char="•"/>
            </a:pPr>
            <a:r>
              <a:rPr lang="en-US" b="true" sz="1731">
                <a:solidFill>
                  <a:srgbClr val="000000"/>
                </a:solidFill>
                <a:latin typeface="Open Sauce Bold"/>
                <a:ea typeface="Open Sauce Bold"/>
                <a:cs typeface="Open Sauce Bold"/>
                <a:sym typeface="Open Sauce Bold"/>
              </a:rPr>
              <a:t>US13 -</a:t>
            </a:r>
            <a:r>
              <a:rPr lang="en-US" sz="1731">
                <a:solidFill>
                  <a:srgbClr val="000000"/>
                </a:solidFill>
                <a:latin typeface="Open Sauce"/>
                <a:ea typeface="Open Sauce"/>
                <a:cs typeface="Open Sauce"/>
                <a:sym typeface="Open Sauce"/>
              </a:rPr>
              <a:t> View Past Journal Entries</a:t>
            </a:r>
          </a:p>
          <a:p>
            <a:pPr algn="l" marL="373896" indent="-186948" lvl="1">
              <a:lnSpc>
                <a:spcPts val="3740"/>
              </a:lnSpc>
              <a:buFont typeface="Arial"/>
              <a:buChar char="•"/>
            </a:pPr>
            <a:r>
              <a:rPr lang="en-US" b="true" sz="1731">
                <a:solidFill>
                  <a:srgbClr val="000000"/>
                </a:solidFill>
                <a:latin typeface="Open Sauce Bold"/>
                <a:ea typeface="Open Sauce Bold"/>
                <a:cs typeface="Open Sauce Bold"/>
                <a:sym typeface="Open Sauce Bold"/>
              </a:rPr>
              <a:t>US15 -</a:t>
            </a:r>
            <a:r>
              <a:rPr lang="en-US" sz="1731">
                <a:solidFill>
                  <a:srgbClr val="000000"/>
                </a:solidFill>
                <a:latin typeface="Open Sauce"/>
                <a:ea typeface="Open Sauce"/>
                <a:cs typeface="Open Sauce"/>
                <a:sym typeface="Open Sauce"/>
              </a:rPr>
              <a:t> Store Sentiment Results</a:t>
            </a:r>
          </a:p>
          <a:p>
            <a:pPr algn="l" marL="373896" indent="-186948" lvl="1">
              <a:lnSpc>
                <a:spcPts val="3740"/>
              </a:lnSpc>
              <a:buFont typeface="Arial"/>
              <a:buChar char="•"/>
            </a:pPr>
            <a:r>
              <a:rPr lang="en-US" b="true" sz="1731">
                <a:solidFill>
                  <a:srgbClr val="000000"/>
                </a:solidFill>
                <a:latin typeface="Open Sauce Bold"/>
                <a:ea typeface="Open Sauce Bold"/>
                <a:cs typeface="Open Sauce Bold"/>
                <a:sym typeface="Open Sauce Bold"/>
              </a:rPr>
              <a:t>US16 -</a:t>
            </a:r>
            <a:r>
              <a:rPr lang="en-US" sz="1731">
                <a:solidFill>
                  <a:srgbClr val="000000"/>
                </a:solidFill>
                <a:latin typeface="Open Sauce"/>
                <a:ea typeface="Open Sauce"/>
                <a:cs typeface="Open Sauce"/>
                <a:sym typeface="Open Sauce"/>
              </a:rPr>
              <a:t> Error Handling</a:t>
            </a:r>
          </a:p>
          <a:p>
            <a:pPr algn="l" marL="373896" indent="-186948" lvl="1">
              <a:lnSpc>
                <a:spcPts val="3740"/>
              </a:lnSpc>
              <a:buFont typeface="Arial"/>
              <a:buChar char="•"/>
            </a:pPr>
            <a:r>
              <a:rPr lang="en-US" b="true" sz="1731">
                <a:solidFill>
                  <a:srgbClr val="000000"/>
                </a:solidFill>
                <a:latin typeface="Open Sauce Bold"/>
                <a:ea typeface="Open Sauce Bold"/>
                <a:cs typeface="Open Sauce Bold"/>
                <a:sym typeface="Open Sauce Bold"/>
              </a:rPr>
              <a:t>US17 -</a:t>
            </a:r>
            <a:r>
              <a:rPr lang="en-US" sz="1731">
                <a:solidFill>
                  <a:srgbClr val="000000"/>
                </a:solidFill>
                <a:latin typeface="Open Sauce"/>
                <a:ea typeface="Open Sauce"/>
                <a:cs typeface="Open Sauce"/>
                <a:sym typeface="Open Sauce"/>
              </a:rPr>
              <a:t> Loading Indicator</a:t>
            </a:r>
          </a:p>
          <a:p>
            <a:pPr algn="l" marL="373896" indent="-186948" lvl="1">
              <a:lnSpc>
                <a:spcPts val="3740"/>
              </a:lnSpc>
              <a:buFont typeface="Arial"/>
              <a:buChar char="•"/>
            </a:pPr>
            <a:r>
              <a:rPr lang="en-US" b="true" sz="1731">
                <a:solidFill>
                  <a:srgbClr val="000000"/>
                </a:solidFill>
                <a:latin typeface="Open Sauce Bold"/>
                <a:ea typeface="Open Sauce Bold"/>
                <a:cs typeface="Open Sauce Bold"/>
                <a:sym typeface="Open Sauce Bold"/>
              </a:rPr>
              <a:t>US18 -</a:t>
            </a:r>
            <a:r>
              <a:rPr lang="en-US" sz="1731">
                <a:solidFill>
                  <a:srgbClr val="000000"/>
                </a:solidFill>
                <a:latin typeface="Open Sauce"/>
                <a:ea typeface="Open Sauce"/>
                <a:cs typeface="Open Sauce"/>
                <a:sym typeface="Open Sauce"/>
              </a:rPr>
              <a:t> Improved Mood Visualization</a:t>
            </a:r>
          </a:p>
          <a:p>
            <a:pPr algn="l" marL="373896" indent="-186948" lvl="1">
              <a:lnSpc>
                <a:spcPts val="3740"/>
              </a:lnSpc>
              <a:buFont typeface="Arial"/>
              <a:buChar char="•"/>
            </a:pPr>
            <a:r>
              <a:rPr lang="en-US" b="true" sz="1731">
                <a:solidFill>
                  <a:srgbClr val="000000"/>
                </a:solidFill>
                <a:latin typeface="Open Sauce Bold"/>
                <a:ea typeface="Open Sauce Bold"/>
                <a:cs typeface="Open Sauce Bold"/>
                <a:sym typeface="Open Sauce Bold"/>
              </a:rPr>
              <a:t>US19 -</a:t>
            </a:r>
            <a:r>
              <a:rPr lang="en-US" sz="1731">
                <a:solidFill>
                  <a:srgbClr val="000000"/>
                </a:solidFill>
                <a:latin typeface="Open Sauce"/>
                <a:ea typeface="Open Sauce"/>
                <a:cs typeface="Open Sauce"/>
                <a:sym typeface="Open Sauce"/>
              </a:rPr>
              <a:t> Authentication SecuritY</a:t>
            </a:r>
          </a:p>
          <a:p>
            <a:pPr algn="l">
              <a:lnSpc>
                <a:spcPts val="3740"/>
              </a:lnSpc>
            </a:pPr>
          </a:p>
        </p:txBody>
      </p:sp>
      <p:sp>
        <p:nvSpPr>
          <p:cNvPr name="TextBox 7" id="7"/>
          <p:cNvSpPr txBox="true"/>
          <p:nvPr/>
        </p:nvSpPr>
        <p:spPr>
          <a:xfrm rot="0">
            <a:off x="3481388" y="774722"/>
            <a:ext cx="11325225" cy="741045"/>
          </a:xfrm>
          <a:prstGeom prst="rect">
            <a:avLst/>
          </a:prstGeom>
        </p:spPr>
        <p:txBody>
          <a:bodyPr anchor="t" rtlCol="false" tIns="0" lIns="0" bIns="0" rIns="0">
            <a:spAutoFit/>
          </a:bodyPr>
          <a:lstStyle/>
          <a:p>
            <a:pPr algn="l" marL="0" indent="0" lvl="0">
              <a:lnSpc>
                <a:spcPts val="5880"/>
              </a:lnSpc>
            </a:pPr>
            <a:r>
              <a:rPr lang="en-US" b="true" sz="4200" spc="210">
                <a:solidFill>
                  <a:srgbClr val="000000"/>
                </a:solidFill>
                <a:latin typeface="Helios Extended Bold"/>
                <a:ea typeface="Helios Extended Bold"/>
                <a:cs typeface="Helios Extended Bold"/>
                <a:sym typeface="Helios Extended Bold"/>
              </a:rPr>
              <a:t>SPRINT 2 STORIES COMPLETED</a:t>
            </a:r>
          </a:p>
        </p:txBody>
      </p:sp>
      <p:sp>
        <p:nvSpPr>
          <p:cNvPr name="TextBox 8" id="8"/>
          <p:cNvSpPr txBox="true"/>
          <p:nvPr/>
        </p:nvSpPr>
        <p:spPr>
          <a:xfrm rot="0">
            <a:off x="13362297" y="9604216"/>
            <a:ext cx="4759598" cy="511618"/>
          </a:xfrm>
          <a:prstGeom prst="rect">
            <a:avLst/>
          </a:prstGeom>
        </p:spPr>
        <p:txBody>
          <a:bodyPr anchor="t" rtlCol="false" tIns="0" lIns="0" bIns="0" rIns="0">
            <a:spAutoFit/>
          </a:bodyPr>
          <a:lstStyle/>
          <a:p>
            <a:pPr algn="ctr">
              <a:lnSpc>
                <a:spcPts val="4286"/>
              </a:lnSpc>
              <a:spcBef>
                <a:spcPct val="0"/>
              </a:spcBef>
            </a:pPr>
            <a:r>
              <a:rPr lang="en-US" sz="2678" spc="267" u="sng">
                <a:solidFill>
                  <a:srgbClr val="000000"/>
                </a:solidFill>
                <a:latin typeface="Lato"/>
                <a:ea typeface="Lato"/>
                <a:cs typeface="Lato"/>
                <a:sym typeface="Lato"/>
                <a:hlinkClick r:id="rId3" tooltip="https://1drv.ms/x/c/c30f4680ccc79b8c/IQC9fztrzBx4Rrh7wy889blgAWKdZ5Khnt9L0mDcJNT6C-c"/>
              </a:rPr>
              <a:t>Detailed spreadsheet here</a:t>
            </a:r>
          </a:p>
        </p:txBody>
      </p:sp>
      <p:grpSp>
        <p:nvGrpSpPr>
          <p:cNvPr name="Group 9" id="9"/>
          <p:cNvGrpSpPr/>
          <p:nvPr/>
        </p:nvGrpSpPr>
        <p:grpSpPr>
          <a:xfrm rot="0">
            <a:off x="143691" y="9683062"/>
            <a:ext cx="2003497" cy="422688"/>
            <a:chOff x="0" y="0"/>
            <a:chExt cx="2671330" cy="563585"/>
          </a:xfrm>
        </p:grpSpPr>
        <p:sp>
          <p:nvSpPr>
            <p:cNvPr name="Freeform 10" id="10"/>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62118" y="1775892"/>
            <a:ext cx="15363763" cy="7672635"/>
            <a:chOff x="0" y="0"/>
            <a:chExt cx="4668157" cy="2331293"/>
          </a:xfrm>
        </p:grpSpPr>
        <p:sp>
          <p:nvSpPr>
            <p:cNvPr name="Freeform 3" id="3"/>
            <p:cNvSpPr/>
            <p:nvPr/>
          </p:nvSpPr>
          <p:spPr>
            <a:xfrm flipH="false" flipV="false" rot="0">
              <a:off x="0" y="0"/>
              <a:ext cx="4668157" cy="2331293"/>
            </a:xfrm>
            <a:custGeom>
              <a:avLst/>
              <a:gdLst/>
              <a:ahLst/>
              <a:cxnLst/>
              <a:rect r="r" b="b" t="t" l="l"/>
              <a:pathLst>
                <a:path h="2331293" w="4668157">
                  <a:moveTo>
                    <a:pt x="4668157" y="26203"/>
                  </a:moveTo>
                  <a:lnTo>
                    <a:pt x="4668157" y="2305090"/>
                  </a:lnTo>
                  <a:cubicBezTo>
                    <a:pt x="4668157" y="2319562"/>
                    <a:pt x="4656426" y="2331293"/>
                    <a:pt x="4641954" y="2331293"/>
                  </a:cubicBezTo>
                  <a:lnTo>
                    <a:pt x="26203" y="2331293"/>
                  </a:lnTo>
                  <a:cubicBezTo>
                    <a:pt x="19254" y="2331293"/>
                    <a:pt x="12589" y="2328532"/>
                    <a:pt x="7675" y="2323618"/>
                  </a:cubicBezTo>
                  <a:cubicBezTo>
                    <a:pt x="2761" y="2318704"/>
                    <a:pt x="0" y="2312039"/>
                    <a:pt x="0" y="2305090"/>
                  </a:cubicBezTo>
                  <a:lnTo>
                    <a:pt x="0" y="26203"/>
                  </a:lnTo>
                  <a:cubicBezTo>
                    <a:pt x="0" y="19254"/>
                    <a:pt x="2761" y="12589"/>
                    <a:pt x="7675" y="7675"/>
                  </a:cubicBezTo>
                  <a:cubicBezTo>
                    <a:pt x="12589" y="2761"/>
                    <a:pt x="19254" y="0"/>
                    <a:pt x="26203" y="0"/>
                  </a:cubicBezTo>
                  <a:lnTo>
                    <a:pt x="4641954" y="0"/>
                  </a:lnTo>
                  <a:cubicBezTo>
                    <a:pt x="4656426" y="0"/>
                    <a:pt x="4668157" y="11732"/>
                    <a:pt x="4668157" y="26203"/>
                  </a:cubicBezTo>
                  <a:close/>
                </a:path>
              </a:pathLst>
            </a:custGeom>
            <a:solidFill>
              <a:srgbClr val="F2F1F1">
                <a:alpha val="80000"/>
              </a:srgbClr>
            </a:solidFill>
          </p:spPr>
        </p:sp>
        <p:sp>
          <p:nvSpPr>
            <p:cNvPr name="TextBox 4" id="4"/>
            <p:cNvSpPr txBox="true"/>
            <p:nvPr/>
          </p:nvSpPr>
          <p:spPr>
            <a:xfrm>
              <a:off x="0" y="-47625"/>
              <a:ext cx="4668157" cy="2378918"/>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3317515" y="2768380"/>
            <a:ext cx="4031444" cy="6041674"/>
          </a:xfrm>
          <a:custGeom>
            <a:avLst/>
            <a:gdLst/>
            <a:ahLst/>
            <a:cxnLst/>
            <a:rect r="r" b="b" t="t" l="l"/>
            <a:pathLst>
              <a:path h="6041674" w="4031444">
                <a:moveTo>
                  <a:pt x="0" y="0"/>
                </a:moveTo>
                <a:lnTo>
                  <a:pt x="4031445" y="0"/>
                </a:lnTo>
                <a:lnTo>
                  <a:pt x="4031445" y="6041675"/>
                </a:lnTo>
                <a:lnTo>
                  <a:pt x="0" y="6041675"/>
                </a:lnTo>
                <a:lnTo>
                  <a:pt x="0" y="0"/>
                </a:lnTo>
                <a:close/>
              </a:path>
            </a:pathLst>
          </a:custGeom>
          <a:blipFill>
            <a:blip r:embed="rId2">
              <a:alphaModFix amt="54000"/>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3362297" y="9604216"/>
            <a:ext cx="4759598" cy="511618"/>
          </a:xfrm>
          <a:prstGeom prst="rect">
            <a:avLst/>
          </a:prstGeom>
        </p:spPr>
        <p:txBody>
          <a:bodyPr anchor="t" rtlCol="false" tIns="0" lIns="0" bIns="0" rIns="0">
            <a:spAutoFit/>
          </a:bodyPr>
          <a:lstStyle/>
          <a:p>
            <a:pPr algn="ctr">
              <a:lnSpc>
                <a:spcPts val="4286"/>
              </a:lnSpc>
              <a:spcBef>
                <a:spcPct val="0"/>
              </a:spcBef>
            </a:pPr>
            <a:r>
              <a:rPr lang="en-US" sz="2678" spc="267" u="sng">
                <a:solidFill>
                  <a:srgbClr val="000000"/>
                </a:solidFill>
                <a:latin typeface="Lato"/>
                <a:ea typeface="Lato"/>
                <a:cs typeface="Lato"/>
                <a:sym typeface="Lato"/>
                <a:hlinkClick r:id="rId4" tooltip="https://1drv.ms/x/c/c30f4680ccc79b8c/IQC9fztrzBx4Rrh7wy889blgAWKdZ5Khnt9L0mDcJNT6C-c"/>
              </a:rPr>
              <a:t>Detailed spreadsheet here</a:t>
            </a:r>
          </a:p>
        </p:txBody>
      </p:sp>
      <p:sp>
        <p:nvSpPr>
          <p:cNvPr name="TextBox 7" id="7"/>
          <p:cNvSpPr txBox="true"/>
          <p:nvPr/>
        </p:nvSpPr>
        <p:spPr>
          <a:xfrm rot="0">
            <a:off x="9952951" y="3602675"/>
            <a:ext cx="5215053" cy="4220685"/>
          </a:xfrm>
          <a:prstGeom prst="rect">
            <a:avLst/>
          </a:prstGeom>
        </p:spPr>
        <p:txBody>
          <a:bodyPr anchor="t" rtlCol="false" tIns="0" lIns="0" bIns="0" rIns="0">
            <a:spAutoFit/>
          </a:bodyPr>
          <a:lstStyle/>
          <a:p>
            <a:pPr algn="l">
              <a:lnSpc>
                <a:spcPts val="3796"/>
              </a:lnSpc>
            </a:pPr>
            <a:r>
              <a:rPr lang="en-US" sz="1733" b="true">
                <a:solidFill>
                  <a:srgbClr val="000000"/>
                </a:solidFill>
                <a:latin typeface="Open Sauce Bold"/>
                <a:ea typeface="Open Sauce Bold"/>
                <a:cs typeface="Open Sauce Bold"/>
                <a:sym typeface="Open Sauce Bold"/>
              </a:rPr>
              <a:t>These stories will be carried over to Sprint 3 for completion:</a:t>
            </a:r>
          </a:p>
          <a:p>
            <a:pPr algn="l">
              <a:lnSpc>
                <a:spcPts val="3796"/>
              </a:lnSpc>
            </a:pPr>
          </a:p>
          <a:p>
            <a:pPr algn="l" marL="374283" indent="-187142" lvl="1">
              <a:lnSpc>
                <a:spcPts val="3796"/>
              </a:lnSpc>
              <a:buFont typeface="Arial"/>
              <a:buChar char="•"/>
            </a:pPr>
            <a:r>
              <a:rPr lang="en-US" b="true" sz="1733" strike="noStrike" u="none">
                <a:solidFill>
                  <a:srgbClr val="000000"/>
                </a:solidFill>
                <a:latin typeface="Open Sauce Bold"/>
                <a:ea typeface="Open Sauce Bold"/>
                <a:cs typeface="Open Sauce Bold"/>
                <a:sym typeface="Open Sauce Bold"/>
              </a:rPr>
              <a:t>US</a:t>
            </a:r>
            <a:r>
              <a:rPr lang="en-US" b="true" sz="1733" strike="noStrike" u="none">
                <a:solidFill>
                  <a:srgbClr val="000000"/>
                </a:solidFill>
                <a:latin typeface="Open Sauce Bold"/>
                <a:ea typeface="Open Sauce Bold"/>
                <a:cs typeface="Open Sauce Bold"/>
                <a:sym typeface="Open Sauce Bold"/>
              </a:rPr>
              <a:t>20</a:t>
            </a:r>
            <a:r>
              <a:rPr lang="en-US" b="true" sz="1733" strike="noStrike" u="none">
                <a:solidFill>
                  <a:srgbClr val="000000"/>
                </a:solidFill>
                <a:latin typeface="Open Sauce Bold"/>
                <a:ea typeface="Open Sauce Bold"/>
                <a:cs typeface="Open Sauce Bold"/>
                <a:sym typeface="Open Sauce Bold"/>
              </a:rPr>
              <a:t> </a:t>
            </a:r>
            <a:r>
              <a:rPr lang="en-US" b="true" sz="1733" strike="noStrike" u="none">
                <a:solidFill>
                  <a:srgbClr val="000000"/>
                </a:solidFill>
                <a:latin typeface="Open Sauce Bold"/>
                <a:ea typeface="Open Sauce Bold"/>
                <a:cs typeface="Open Sauce Bold"/>
                <a:sym typeface="Open Sauce Bold"/>
              </a:rPr>
              <a:t>–</a:t>
            </a:r>
            <a:r>
              <a:rPr lang="en-US" sz="1733" strike="noStrike" u="none">
                <a:solidFill>
                  <a:srgbClr val="000000"/>
                </a:solidFill>
                <a:latin typeface="Open Sauce"/>
                <a:ea typeface="Open Sauce"/>
                <a:cs typeface="Open Sauce"/>
                <a:sym typeface="Open Sauce"/>
              </a:rPr>
              <a:t> </a:t>
            </a:r>
            <a:r>
              <a:rPr lang="en-US" sz="1733" strike="noStrike" u="none">
                <a:solidFill>
                  <a:srgbClr val="000000"/>
                </a:solidFill>
                <a:latin typeface="Open Sauce"/>
                <a:ea typeface="Open Sauce"/>
                <a:cs typeface="Open Sauce"/>
                <a:sym typeface="Open Sauce"/>
              </a:rPr>
              <a:t>Therap</a:t>
            </a:r>
            <a:r>
              <a:rPr lang="en-US" sz="1733" strike="noStrike" u="none">
                <a:solidFill>
                  <a:srgbClr val="000000"/>
                </a:solidFill>
                <a:latin typeface="Open Sauce"/>
                <a:ea typeface="Open Sauce"/>
                <a:cs typeface="Open Sauce"/>
                <a:sym typeface="Open Sauce"/>
              </a:rPr>
              <a:t>ist</a:t>
            </a:r>
            <a:r>
              <a:rPr lang="en-US" sz="1733" strike="noStrike" u="none">
                <a:solidFill>
                  <a:srgbClr val="000000"/>
                </a:solidFill>
                <a:latin typeface="Open Sauce"/>
                <a:ea typeface="Open Sauce"/>
                <a:cs typeface="Open Sauce"/>
                <a:sym typeface="Open Sauce"/>
              </a:rPr>
              <a:t> Access</a:t>
            </a:r>
          </a:p>
          <a:p>
            <a:pPr algn="l" marL="374283" indent="-187142" lvl="1">
              <a:lnSpc>
                <a:spcPts val="3796"/>
              </a:lnSpc>
              <a:buFont typeface="Arial"/>
              <a:buChar char="•"/>
            </a:pPr>
            <a:r>
              <a:rPr lang="en-US" b="true" sz="1733" strike="noStrike" u="none">
                <a:solidFill>
                  <a:srgbClr val="000000"/>
                </a:solidFill>
                <a:latin typeface="Open Sauce Bold"/>
                <a:ea typeface="Open Sauce Bold"/>
                <a:cs typeface="Open Sauce Bold"/>
                <a:sym typeface="Open Sauce Bold"/>
              </a:rPr>
              <a:t>US21 –</a:t>
            </a:r>
            <a:r>
              <a:rPr lang="en-US" sz="1733" strike="noStrike" u="none">
                <a:solidFill>
                  <a:srgbClr val="000000"/>
                </a:solidFill>
                <a:latin typeface="Open Sauce"/>
                <a:ea typeface="Open Sauce"/>
                <a:cs typeface="Open Sauce"/>
                <a:sym typeface="Open Sauce"/>
              </a:rPr>
              <a:t> Enable Sharing</a:t>
            </a:r>
          </a:p>
          <a:p>
            <a:pPr algn="l" marL="374283" indent="-187142" lvl="1">
              <a:lnSpc>
                <a:spcPts val="3796"/>
              </a:lnSpc>
              <a:buFont typeface="Arial"/>
              <a:buChar char="•"/>
            </a:pPr>
            <a:r>
              <a:rPr lang="en-US" b="true" sz="1733" strike="noStrike" u="none">
                <a:solidFill>
                  <a:srgbClr val="000000"/>
                </a:solidFill>
                <a:latin typeface="Open Sauce Bold"/>
                <a:ea typeface="Open Sauce Bold"/>
                <a:cs typeface="Open Sauce Bold"/>
                <a:sym typeface="Open Sauce Bold"/>
              </a:rPr>
              <a:t>US22 –</a:t>
            </a:r>
            <a:r>
              <a:rPr lang="en-US" sz="1733" strike="noStrike" u="none">
                <a:solidFill>
                  <a:srgbClr val="000000"/>
                </a:solidFill>
                <a:latin typeface="Open Sauce"/>
                <a:ea typeface="Open Sauce"/>
                <a:cs typeface="Open Sauce"/>
                <a:sym typeface="Open Sauce"/>
              </a:rPr>
              <a:t> Disable Sharing</a:t>
            </a:r>
          </a:p>
          <a:p>
            <a:pPr algn="l" marL="374283" indent="-187142" lvl="1">
              <a:lnSpc>
                <a:spcPts val="3796"/>
              </a:lnSpc>
              <a:buFont typeface="Arial"/>
              <a:buChar char="•"/>
            </a:pPr>
            <a:r>
              <a:rPr lang="en-US" b="true" sz="1733" strike="noStrike" u="none">
                <a:solidFill>
                  <a:srgbClr val="000000"/>
                </a:solidFill>
                <a:latin typeface="Open Sauce Bold"/>
                <a:ea typeface="Open Sauce Bold"/>
                <a:cs typeface="Open Sauce Bold"/>
                <a:sym typeface="Open Sauce Bold"/>
              </a:rPr>
              <a:t>US23 –</a:t>
            </a:r>
            <a:r>
              <a:rPr lang="en-US" sz="1733" strike="noStrike" u="none">
                <a:solidFill>
                  <a:srgbClr val="000000"/>
                </a:solidFill>
                <a:latin typeface="Open Sauce"/>
                <a:ea typeface="Open Sauce"/>
                <a:cs typeface="Open Sauce"/>
                <a:sym typeface="Open Sauce"/>
              </a:rPr>
              <a:t> Therapist User List</a:t>
            </a:r>
          </a:p>
          <a:p>
            <a:pPr algn="l" marL="374283" indent="-187142" lvl="1">
              <a:lnSpc>
                <a:spcPts val="3796"/>
              </a:lnSpc>
              <a:buFont typeface="Arial"/>
              <a:buChar char="•"/>
            </a:pPr>
            <a:r>
              <a:rPr lang="en-US" b="true" sz="1733" strike="noStrike" u="none">
                <a:solidFill>
                  <a:srgbClr val="000000"/>
                </a:solidFill>
                <a:latin typeface="Open Sauce Bold"/>
                <a:ea typeface="Open Sauce Bold"/>
                <a:cs typeface="Open Sauce Bold"/>
                <a:sym typeface="Open Sauce Bold"/>
              </a:rPr>
              <a:t>US24 –</a:t>
            </a:r>
            <a:r>
              <a:rPr lang="en-US" sz="1733" strike="noStrike" u="none">
                <a:solidFill>
                  <a:srgbClr val="000000"/>
                </a:solidFill>
                <a:latin typeface="Open Sauce"/>
                <a:ea typeface="Open Sauce"/>
                <a:cs typeface="Open Sauce"/>
                <a:sym typeface="Open Sauce"/>
              </a:rPr>
              <a:t> Therapist Dashboard</a:t>
            </a:r>
          </a:p>
          <a:p>
            <a:pPr algn="l">
              <a:lnSpc>
                <a:spcPts val="3796"/>
              </a:lnSpc>
            </a:pPr>
          </a:p>
        </p:txBody>
      </p:sp>
      <p:sp>
        <p:nvSpPr>
          <p:cNvPr name="TextBox 8" id="8"/>
          <p:cNvSpPr txBox="true"/>
          <p:nvPr/>
        </p:nvSpPr>
        <p:spPr>
          <a:xfrm rot="0">
            <a:off x="2776342" y="774383"/>
            <a:ext cx="12735316" cy="741045"/>
          </a:xfrm>
          <a:prstGeom prst="rect">
            <a:avLst/>
          </a:prstGeom>
        </p:spPr>
        <p:txBody>
          <a:bodyPr anchor="t" rtlCol="false" tIns="0" lIns="0" bIns="0" rIns="0">
            <a:spAutoFit/>
          </a:bodyPr>
          <a:lstStyle/>
          <a:p>
            <a:pPr algn="l" marL="0" indent="0" lvl="0">
              <a:lnSpc>
                <a:spcPts val="5880"/>
              </a:lnSpc>
            </a:pPr>
            <a:r>
              <a:rPr lang="en-US" b="true" sz="4200" spc="210">
                <a:solidFill>
                  <a:srgbClr val="000000"/>
                </a:solidFill>
                <a:latin typeface="Helios Extended Bold"/>
                <a:ea typeface="Helios Extended Bold"/>
                <a:cs typeface="Helios Extended Bold"/>
                <a:sym typeface="Helios Extended Bold"/>
              </a:rPr>
              <a:t>SPRINT 2 STORIES NOT COMPLETED</a:t>
            </a:r>
          </a:p>
        </p:txBody>
      </p:sp>
      <p:grpSp>
        <p:nvGrpSpPr>
          <p:cNvPr name="Group 9" id="9"/>
          <p:cNvGrpSpPr/>
          <p:nvPr/>
        </p:nvGrpSpPr>
        <p:grpSpPr>
          <a:xfrm rot="0">
            <a:off x="143691" y="9683062"/>
            <a:ext cx="2003497" cy="422688"/>
            <a:chOff x="0" y="0"/>
            <a:chExt cx="2671330" cy="563585"/>
          </a:xfrm>
        </p:grpSpPr>
        <p:sp>
          <p:nvSpPr>
            <p:cNvPr name="Freeform 10" id="10"/>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9624127" y="1679301"/>
            <a:ext cx="8152361" cy="8071687"/>
          </a:xfrm>
          <a:prstGeom prst="rect">
            <a:avLst/>
          </a:prstGeom>
        </p:spPr>
      </p:pic>
      <p:graphicFrame>
        <p:nvGraphicFramePr>
          <p:cNvPr name="Table 3" id="3"/>
          <p:cNvGraphicFramePr>
            <a:graphicFrameLocks noGrp="true"/>
          </p:cNvGraphicFramePr>
          <p:nvPr/>
        </p:nvGraphicFramePr>
        <p:xfrm>
          <a:off x="1260531" y="3471672"/>
          <a:ext cx="7315200" cy="4314825"/>
        </p:xfrm>
        <a:graphic>
          <a:graphicData uri="http://schemas.openxmlformats.org/drawingml/2006/table">
            <a:tbl>
              <a:tblPr/>
              <a:tblGrid>
                <a:gridCol w="3657600"/>
                <a:gridCol w="3657600"/>
              </a:tblGrid>
              <a:tr h="1028255">
                <a:tc>
                  <a:txBody>
                    <a:bodyPr anchor="t" rtlCol="false"/>
                    <a:lstStyle/>
                    <a:p>
                      <a:pPr algn="ctr">
                        <a:lnSpc>
                          <a:spcPts val="3079"/>
                        </a:lnSpc>
                        <a:defRPr/>
                      </a:pPr>
                      <a:r>
                        <a:rPr lang="en-US" sz="2199">
                          <a:solidFill>
                            <a:srgbClr val="000000"/>
                          </a:solidFill>
                          <a:latin typeface="Open Sauce"/>
                          <a:ea typeface="Open Sauce"/>
                          <a:cs typeface="Open Sauce"/>
                          <a:sym typeface="Open Sauce"/>
                        </a:rPr>
                        <a:t>Team estimated points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79"/>
                        </a:lnSpc>
                        <a:defRPr/>
                      </a:pPr>
                      <a:r>
                        <a:rPr lang="en-US" sz="2199" b="true">
                          <a:solidFill>
                            <a:srgbClr val="000000"/>
                          </a:solidFill>
                          <a:latin typeface="Open Sauce Bold"/>
                          <a:ea typeface="Open Sauce Bold"/>
                          <a:cs typeface="Open Sauce Bold"/>
                          <a:sym typeface="Open Sauce Bold"/>
                        </a:rPr>
                        <a:t>40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8255">
                <a:tc>
                  <a:txBody>
                    <a:bodyPr anchor="t" rtlCol="false"/>
                    <a:lstStyle/>
                    <a:p>
                      <a:pPr algn="ctr">
                        <a:lnSpc>
                          <a:spcPts val="3079"/>
                        </a:lnSpc>
                        <a:defRPr/>
                      </a:pPr>
                      <a:r>
                        <a:rPr lang="en-US" sz="2199">
                          <a:solidFill>
                            <a:srgbClr val="000000"/>
                          </a:solidFill>
                          <a:latin typeface="Open Sauce"/>
                          <a:ea typeface="Open Sauce"/>
                          <a:cs typeface="Open Sauce"/>
                          <a:sym typeface="Open Sauce"/>
                        </a:rPr>
                        <a:t>Team points delivered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79"/>
                        </a:lnSpc>
                        <a:defRPr/>
                      </a:pPr>
                      <a:r>
                        <a:rPr lang="en-US" sz="2199">
                          <a:solidFill>
                            <a:srgbClr val="000000"/>
                          </a:solidFill>
                          <a:latin typeface="Open Sauce"/>
                          <a:ea typeface="Open Sauce"/>
                          <a:cs typeface="Open Sauce"/>
                          <a:sym typeface="Open Sauce"/>
                        </a:rPr>
                        <a:t>34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30061">
                <a:tc>
                  <a:txBody>
                    <a:bodyPr anchor="t" rtlCol="false"/>
                    <a:lstStyle/>
                    <a:p>
                      <a:pPr algn="ctr">
                        <a:lnSpc>
                          <a:spcPts val="3079"/>
                        </a:lnSpc>
                        <a:defRPr/>
                      </a:pPr>
                      <a:r>
                        <a:rPr lang="en-US" sz="2199">
                          <a:solidFill>
                            <a:srgbClr val="000000"/>
                          </a:solidFill>
                          <a:latin typeface="Open Sauce"/>
                          <a:ea typeface="Open Sauce"/>
                          <a:cs typeface="Open Sauce"/>
                          <a:sym typeface="Open Sauce"/>
                        </a:rPr>
                        <a:t>Total points carried over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79"/>
                        </a:lnSpc>
                        <a:defRPr/>
                      </a:pPr>
                      <a:r>
                        <a:rPr lang="en-US" sz="2199">
                          <a:solidFill>
                            <a:srgbClr val="000000"/>
                          </a:solidFill>
                          <a:latin typeface="Open Sauce"/>
                          <a:ea typeface="Open Sauce"/>
                          <a:cs typeface="Open Sauce"/>
                          <a:sym typeface="Open Sauce"/>
                        </a:rPr>
                        <a:t>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8255">
                <a:tc>
                  <a:txBody>
                    <a:bodyPr anchor="t" rtlCol="false"/>
                    <a:lstStyle/>
                    <a:p>
                      <a:pPr algn="ctr">
                        <a:lnSpc>
                          <a:spcPts val="3079"/>
                        </a:lnSpc>
                        <a:defRPr/>
                      </a:pPr>
                      <a:r>
                        <a:rPr lang="en-US" sz="2199">
                          <a:solidFill>
                            <a:srgbClr val="4A7FF7"/>
                          </a:solidFill>
                          <a:latin typeface="Open Sauce"/>
                          <a:ea typeface="Open Sauce"/>
                          <a:cs typeface="Open Sauce"/>
                          <a:sym typeface="Open Sauce"/>
                        </a:rPr>
                        <a:t>Team Velocity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79"/>
                        </a:lnSpc>
                        <a:defRPr/>
                      </a:pPr>
                      <a:r>
                        <a:rPr lang="en-US" sz="2199">
                          <a:solidFill>
                            <a:srgbClr val="000000"/>
                          </a:solidFill>
                          <a:latin typeface="Open Sauce"/>
                          <a:ea typeface="Open Sauce"/>
                          <a:cs typeface="Open Sauce"/>
                          <a:sym typeface="Open Sauce"/>
                        </a:rPr>
                        <a:t>34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4" id="4"/>
          <p:cNvSpPr txBox="true"/>
          <p:nvPr/>
        </p:nvSpPr>
        <p:spPr>
          <a:xfrm rot="0">
            <a:off x="2367492" y="774383"/>
            <a:ext cx="13553015" cy="741045"/>
          </a:xfrm>
          <a:prstGeom prst="rect">
            <a:avLst/>
          </a:prstGeom>
        </p:spPr>
        <p:txBody>
          <a:bodyPr anchor="t" rtlCol="false" tIns="0" lIns="0" bIns="0" rIns="0">
            <a:spAutoFit/>
          </a:bodyPr>
          <a:lstStyle/>
          <a:p>
            <a:pPr algn="ctr" marL="0" indent="0" lvl="0">
              <a:lnSpc>
                <a:spcPts val="5880"/>
              </a:lnSpc>
            </a:pPr>
            <a:r>
              <a:rPr lang="en-US" b="true" sz="4200" spc="210">
                <a:solidFill>
                  <a:srgbClr val="000000"/>
                </a:solidFill>
                <a:latin typeface="Helios Extended Bold"/>
                <a:ea typeface="Helios Extended Bold"/>
                <a:cs typeface="Helios Extended Bold"/>
                <a:sym typeface="Helios Extended Bold"/>
              </a:rPr>
              <a:t> METRICS</a:t>
            </a:r>
          </a:p>
        </p:txBody>
      </p:sp>
      <p:sp>
        <p:nvSpPr>
          <p:cNvPr name="TextBox 5" id="5"/>
          <p:cNvSpPr txBox="true"/>
          <p:nvPr/>
        </p:nvSpPr>
        <p:spPr>
          <a:xfrm rot="0">
            <a:off x="2508513" y="2263414"/>
            <a:ext cx="4233168" cy="698500"/>
          </a:xfrm>
          <a:prstGeom prst="rect">
            <a:avLst/>
          </a:prstGeom>
        </p:spPr>
        <p:txBody>
          <a:bodyPr anchor="t" rtlCol="false" tIns="0" lIns="0" bIns="0" rIns="0">
            <a:spAutoFit/>
          </a:bodyPr>
          <a:lstStyle/>
          <a:p>
            <a:pPr algn="ctr">
              <a:lnSpc>
                <a:spcPts val="5599"/>
              </a:lnSpc>
            </a:pPr>
            <a:r>
              <a:rPr lang="en-US" sz="3999" b="true">
                <a:solidFill>
                  <a:srgbClr val="000000"/>
                </a:solidFill>
                <a:latin typeface="Helios Extended Bold"/>
                <a:ea typeface="Helios Extended Bold"/>
                <a:cs typeface="Helios Extended Bold"/>
                <a:sym typeface="Helios Extended Bold"/>
              </a:rPr>
              <a:t>Team Velocity</a:t>
            </a:r>
          </a:p>
        </p:txBody>
      </p:sp>
      <p:grpSp>
        <p:nvGrpSpPr>
          <p:cNvPr name="Group 6" id="6"/>
          <p:cNvGrpSpPr/>
          <p:nvPr/>
        </p:nvGrpSpPr>
        <p:grpSpPr>
          <a:xfrm rot="0">
            <a:off x="143691" y="9683062"/>
            <a:ext cx="2003497" cy="422688"/>
            <a:chOff x="0" y="0"/>
            <a:chExt cx="2671330" cy="563585"/>
          </a:xfrm>
        </p:grpSpPr>
        <p:sp>
          <p:nvSpPr>
            <p:cNvPr name="Freeform 7" id="7"/>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9624127" y="1679301"/>
            <a:ext cx="8152361" cy="8071687"/>
          </a:xfrm>
          <a:prstGeom prst="rect">
            <a:avLst/>
          </a:prstGeom>
        </p:spPr>
      </p:pic>
      <p:sp>
        <p:nvSpPr>
          <p:cNvPr name="TextBox 3" id="3"/>
          <p:cNvSpPr txBox="true"/>
          <p:nvPr/>
        </p:nvSpPr>
        <p:spPr>
          <a:xfrm rot="0">
            <a:off x="2367492" y="774383"/>
            <a:ext cx="13553015" cy="741045"/>
          </a:xfrm>
          <a:prstGeom prst="rect">
            <a:avLst/>
          </a:prstGeom>
        </p:spPr>
        <p:txBody>
          <a:bodyPr anchor="t" rtlCol="false" tIns="0" lIns="0" bIns="0" rIns="0">
            <a:spAutoFit/>
          </a:bodyPr>
          <a:lstStyle/>
          <a:p>
            <a:pPr algn="ctr" marL="0" indent="0" lvl="0">
              <a:lnSpc>
                <a:spcPts val="5880"/>
              </a:lnSpc>
            </a:pPr>
            <a:r>
              <a:rPr lang="en-US" b="true" sz="4200" spc="210">
                <a:solidFill>
                  <a:srgbClr val="000000"/>
                </a:solidFill>
                <a:latin typeface="Helios Extended Bold"/>
                <a:ea typeface="Helios Extended Bold"/>
                <a:cs typeface="Helios Extended Bold"/>
                <a:sym typeface="Helios Extended Bold"/>
              </a:rPr>
              <a:t> METRICS</a:t>
            </a:r>
          </a:p>
        </p:txBody>
      </p:sp>
      <p:sp>
        <p:nvSpPr>
          <p:cNvPr name="TextBox 4" id="4"/>
          <p:cNvSpPr txBox="true"/>
          <p:nvPr/>
        </p:nvSpPr>
        <p:spPr>
          <a:xfrm rot="0">
            <a:off x="2508513" y="2263414"/>
            <a:ext cx="4233168" cy="698500"/>
          </a:xfrm>
          <a:prstGeom prst="rect">
            <a:avLst/>
          </a:prstGeom>
        </p:spPr>
        <p:txBody>
          <a:bodyPr anchor="t" rtlCol="false" tIns="0" lIns="0" bIns="0" rIns="0">
            <a:spAutoFit/>
          </a:bodyPr>
          <a:lstStyle/>
          <a:p>
            <a:pPr algn="ctr">
              <a:lnSpc>
                <a:spcPts val="5599"/>
              </a:lnSpc>
            </a:pPr>
            <a:r>
              <a:rPr lang="en-US" sz="3999" b="true">
                <a:solidFill>
                  <a:srgbClr val="000000"/>
                </a:solidFill>
                <a:latin typeface="Helios Extended Bold"/>
                <a:ea typeface="Helios Extended Bold"/>
                <a:cs typeface="Helios Extended Bold"/>
                <a:sym typeface="Helios Extended Bold"/>
              </a:rPr>
              <a:t>Team Velocity</a:t>
            </a:r>
          </a:p>
        </p:txBody>
      </p:sp>
      <p:sp>
        <p:nvSpPr>
          <p:cNvPr name="TextBox 5" id="5"/>
          <p:cNvSpPr txBox="true"/>
          <p:nvPr/>
        </p:nvSpPr>
        <p:spPr>
          <a:xfrm rot="0">
            <a:off x="1751226" y="3601560"/>
            <a:ext cx="5747742" cy="29806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Total velocity of sprint 1: 28</a:t>
            </a:r>
          </a:p>
          <a:p>
            <a:pPr algn="ctr">
              <a:lnSpc>
                <a:spcPts val="4759"/>
              </a:lnSpc>
            </a:pPr>
          </a:p>
          <a:p>
            <a:pPr algn="ctr">
              <a:lnSpc>
                <a:spcPts val="4759"/>
              </a:lnSpc>
            </a:pPr>
            <a:r>
              <a:rPr lang="en-US" sz="3399">
                <a:solidFill>
                  <a:srgbClr val="000000"/>
                </a:solidFill>
                <a:latin typeface="Canva Sans"/>
                <a:ea typeface="Canva Sans"/>
                <a:cs typeface="Canva Sans"/>
                <a:sym typeface="Canva Sans"/>
              </a:rPr>
              <a:t>Total velocity of sprint 2: 34</a:t>
            </a:r>
          </a:p>
          <a:p>
            <a:pPr algn="ctr">
              <a:lnSpc>
                <a:spcPts val="4759"/>
              </a:lnSpc>
            </a:pPr>
          </a:p>
          <a:p>
            <a:pPr algn="ctr">
              <a:lnSpc>
                <a:spcPts val="4759"/>
              </a:lnSpc>
            </a:pPr>
            <a:r>
              <a:rPr lang="en-US" sz="3399">
                <a:solidFill>
                  <a:srgbClr val="000000"/>
                </a:solidFill>
                <a:latin typeface="Canva Sans"/>
                <a:ea typeface="Canva Sans"/>
                <a:cs typeface="Canva Sans"/>
                <a:sym typeface="Canva Sans"/>
              </a:rPr>
              <a:t>Average: 31 </a:t>
            </a:r>
          </a:p>
        </p:txBody>
      </p:sp>
      <p:grpSp>
        <p:nvGrpSpPr>
          <p:cNvPr name="Group 6" id="6"/>
          <p:cNvGrpSpPr/>
          <p:nvPr/>
        </p:nvGrpSpPr>
        <p:grpSpPr>
          <a:xfrm rot="0">
            <a:off x="143691" y="9683062"/>
            <a:ext cx="2003497" cy="422688"/>
            <a:chOff x="0" y="0"/>
            <a:chExt cx="2671330" cy="563585"/>
          </a:xfrm>
        </p:grpSpPr>
        <p:sp>
          <p:nvSpPr>
            <p:cNvPr name="Freeform 7" id="7"/>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551030" y="1743253"/>
            <a:ext cx="13185941" cy="7663941"/>
          </a:xfrm>
          <a:custGeom>
            <a:avLst/>
            <a:gdLst/>
            <a:ahLst/>
            <a:cxnLst/>
            <a:rect r="r" b="b" t="t" l="l"/>
            <a:pathLst>
              <a:path h="7663941" w="13185941">
                <a:moveTo>
                  <a:pt x="0" y="0"/>
                </a:moveTo>
                <a:lnTo>
                  <a:pt x="13185940" y="0"/>
                </a:lnTo>
                <a:lnTo>
                  <a:pt x="13185940" y="7663941"/>
                </a:lnTo>
                <a:lnTo>
                  <a:pt x="0" y="7663941"/>
                </a:lnTo>
                <a:lnTo>
                  <a:pt x="0" y="0"/>
                </a:lnTo>
                <a:close/>
              </a:path>
            </a:pathLst>
          </a:custGeom>
          <a:blipFill>
            <a:blip r:embed="rId2"/>
            <a:stretch>
              <a:fillRect l="0" t="0" r="0" b="0"/>
            </a:stretch>
          </a:blipFill>
        </p:spPr>
      </p:sp>
      <p:sp>
        <p:nvSpPr>
          <p:cNvPr name="TextBox 3" id="3"/>
          <p:cNvSpPr txBox="true"/>
          <p:nvPr/>
        </p:nvSpPr>
        <p:spPr>
          <a:xfrm rot="0">
            <a:off x="1979346" y="774383"/>
            <a:ext cx="14329308" cy="741045"/>
          </a:xfrm>
          <a:prstGeom prst="rect">
            <a:avLst/>
          </a:prstGeom>
        </p:spPr>
        <p:txBody>
          <a:bodyPr anchor="t" rtlCol="false" tIns="0" lIns="0" bIns="0" rIns="0">
            <a:spAutoFit/>
          </a:bodyPr>
          <a:lstStyle/>
          <a:p>
            <a:pPr algn="ctr">
              <a:lnSpc>
                <a:spcPts val="5880"/>
              </a:lnSpc>
            </a:pPr>
            <a:r>
              <a:rPr lang="en-US" b="true" sz="4200" spc="210">
                <a:solidFill>
                  <a:srgbClr val="000000"/>
                </a:solidFill>
                <a:latin typeface="Helios Extended Bold"/>
                <a:ea typeface="Helios Extended Bold"/>
                <a:cs typeface="Helios Extended Bold"/>
                <a:sym typeface="Helios Extended Bold"/>
              </a:rPr>
              <a:t>BURNDOWN STATUS</a:t>
            </a:r>
          </a:p>
        </p:txBody>
      </p:sp>
      <p:grpSp>
        <p:nvGrpSpPr>
          <p:cNvPr name="Group 4" id="4"/>
          <p:cNvGrpSpPr/>
          <p:nvPr/>
        </p:nvGrpSpPr>
        <p:grpSpPr>
          <a:xfrm rot="0">
            <a:off x="143691" y="9683062"/>
            <a:ext cx="2003497" cy="422688"/>
            <a:chOff x="0" y="0"/>
            <a:chExt cx="2671330" cy="563585"/>
          </a:xfrm>
        </p:grpSpPr>
        <p:sp>
          <p:nvSpPr>
            <p:cNvPr name="Freeform 5" id="5"/>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196953" y="774383"/>
            <a:ext cx="9894094" cy="741045"/>
          </a:xfrm>
          <a:prstGeom prst="rect">
            <a:avLst/>
          </a:prstGeom>
        </p:spPr>
        <p:txBody>
          <a:bodyPr anchor="t" rtlCol="false" tIns="0" lIns="0" bIns="0" rIns="0">
            <a:spAutoFit/>
          </a:bodyPr>
          <a:lstStyle/>
          <a:p>
            <a:pPr algn="ctr" marL="0" indent="0" lvl="0">
              <a:lnSpc>
                <a:spcPts val="5880"/>
              </a:lnSpc>
              <a:spcBef>
                <a:spcPct val="0"/>
              </a:spcBef>
            </a:pPr>
            <a:r>
              <a:rPr lang="en-US" b="true" sz="4200" spc="210" strike="noStrike" u="none">
                <a:solidFill>
                  <a:srgbClr val="000000"/>
                </a:solidFill>
                <a:latin typeface="Helios Extended Bold"/>
                <a:ea typeface="Helios Extended Bold"/>
                <a:cs typeface="Helios Extended Bold"/>
                <a:sym typeface="Helios Extended Bold"/>
              </a:rPr>
              <a:t>COMPLETED VS COMMITTED</a:t>
            </a:r>
          </a:p>
        </p:txBody>
      </p:sp>
      <p:pic>
        <p:nvPicPr>
          <p:cNvPr name="Picture 3" id="3"/>
          <p:cNvPicPr>
            <a:picLocks noChangeAspect="true"/>
          </p:cNvPicPr>
          <p:nvPr/>
        </p:nvPicPr>
        <p:blipFill>
          <a:blip r:embed="rId2"/>
          <a:stretch>
            <a:fillRect/>
          </a:stretch>
        </p:blipFill>
        <p:spPr>
          <a:xfrm rot="0">
            <a:off x="8104268" y="1197556"/>
            <a:ext cx="8823497" cy="8483057"/>
          </a:xfrm>
          <a:prstGeom prst="rect">
            <a:avLst/>
          </a:prstGeom>
        </p:spPr>
      </p:pic>
      <p:sp>
        <p:nvSpPr>
          <p:cNvPr name="TextBox 4" id="4"/>
          <p:cNvSpPr txBox="true"/>
          <p:nvPr/>
        </p:nvSpPr>
        <p:spPr>
          <a:xfrm rot="0">
            <a:off x="1738908" y="1866172"/>
            <a:ext cx="3872210" cy="6581140"/>
          </a:xfrm>
          <a:prstGeom prst="rect">
            <a:avLst/>
          </a:prstGeom>
        </p:spPr>
        <p:txBody>
          <a:bodyPr anchor="t" rtlCol="false" tIns="0" lIns="0" bIns="0" rIns="0">
            <a:spAutoFit/>
          </a:bodyPr>
          <a:lstStyle/>
          <a:p>
            <a:pPr algn="l">
              <a:lnSpc>
                <a:spcPts val="4759"/>
              </a:lnSpc>
            </a:pPr>
            <a:r>
              <a:rPr lang="en-US" sz="3399">
                <a:solidFill>
                  <a:srgbClr val="000000"/>
                </a:solidFill>
                <a:latin typeface="Canva Sans"/>
                <a:ea typeface="Canva Sans"/>
                <a:cs typeface="Canva Sans"/>
                <a:sym typeface="Canva Sans"/>
              </a:rPr>
              <a:t>Sprint 1:</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Committed: 41</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Completed: 28</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Ratio: 68.29%</a:t>
            </a:r>
          </a:p>
          <a:p>
            <a:pPr algn="l">
              <a:lnSpc>
                <a:spcPts val="4759"/>
              </a:lnSpc>
            </a:pPr>
          </a:p>
          <a:p>
            <a:pPr algn="l">
              <a:lnSpc>
                <a:spcPts val="4759"/>
              </a:lnSpc>
            </a:pPr>
            <a:r>
              <a:rPr lang="en-US" sz="3399">
                <a:solidFill>
                  <a:srgbClr val="000000"/>
                </a:solidFill>
                <a:latin typeface="Canva Sans"/>
                <a:ea typeface="Canva Sans"/>
                <a:cs typeface="Canva Sans"/>
                <a:sym typeface="Canva Sans"/>
              </a:rPr>
              <a:t>Sprint 2:</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Committed: 40</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Completed: 36</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Ratio: 85%</a:t>
            </a:r>
          </a:p>
          <a:p>
            <a:pPr algn="l">
              <a:lnSpc>
                <a:spcPts val="4759"/>
              </a:lnSpc>
            </a:pPr>
          </a:p>
          <a:p>
            <a:pPr algn="l">
              <a:lnSpc>
                <a:spcPts val="4759"/>
              </a:lnSpc>
            </a:pPr>
            <a:r>
              <a:rPr lang="en-US" sz="3399">
                <a:solidFill>
                  <a:srgbClr val="000000"/>
                </a:solidFill>
                <a:latin typeface="Canva Sans"/>
                <a:ea typeface="Canva Sans"/>
                <a:cs typeface="Canva Sans"/>
                <a:sym typeface="Canva Sans"/>
              </a:rPr>
              <a:t>Average: 76.65%</a:t>
            </a:r>
          </a:p>
        </p:txBody>
      </p:sp>
      <p:grpSp>
        <p:nvGrpSpPr>
          <p:cNvPr name="Group 5" id="5"/>
          <p:cNvGrpSpPr/>
          <p:nvPr/>
        </p:nvGrpSpPr>
        <p:grpSpPr>
          <a:xfrm rot="0">
            <a:off x="143691" y="9683062"/>
            <a:ext cx="2003497" cy="422688"/>
            <a:chOff x="0" y="0"/>
            <a:chExt cx="2671330" cy="563585"/>
          </a:xfrm>
        </p:grpSpPr>
        <p:sp>
          <p:nvSpPr>
            <p:cNvPr name="Freeform 6" id="6"/>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61724" y="1782040"/>
            <a:ext cx="17288351" cy="7631716"/>
            <a:chOff x="0" y="0"/>
            <a:chExt cx="4553331" cy="2010029"/>
          </a:xfrm>
        </p:grpSpPr>
        <p:sp>
          <p:nvSpPr>
            <p:cNvPr name="Freeform 3" id="3"/>
            <p:cNvSpPr/>
            <p:nvPr/>
          </p:nvSpPr>
          <p:spPr>
            <a:xfrm flipH="false" flipV="false" rot="0">
              <a:off x="0" y="0"/>
              <a:ext cx="4553331" cy="2010029"/>
            </a:xfrm>
            <a:custGeom>
              <a:avLst/>
              <a:gdLst/>
              <a:ahLst/>
              <a:cxnLst/>
              <a:rect r="r" b="b" t="t" l="l"/>
              <a:pathLst>
                <a:path h="2010029" w="4553331">
                  <a:moveTo>
                    <a:pt x="4553331" y="23286"/>
                  </a:moveTo>
                  <a:lnTo>
                    <a:pt x="4553331" y="1986743"/>
                  </a:lnTo>
                  <a:cubicBezTo>
                    <a:pt x="4553331" y="1999604"/>
                    <a:pt x="4542905" y="2010029"/>
                    <a:pt x="4530045" y="2010029"/>
                  </a:cubicBezTo>
                  <a:lnTo>
                    <a:pt x="23286" y="2010029"/>
                  </a:lnTo>
                  <a:cubicBezTo>
                    <a:pt x="10426" y="2010029"/>
                    <a:pt x="0" y="1999604"/>
                    <a:pt x="0" y="1986743"/>
                  </a:cubicBezTo>
                  <a:lnTo>
                    <a:pt x="0" y="23286"/>
                  </a:lnTo>
                  <a:cubicBezTo>
                    <a:pt x="0" y="10426"/>
                    <a:pt x="10426" y="0"/>
                    <a:pt x="23286" y="0"/>
                  </a:cubicBezTo>
                  <a:lnTo>
                    <a:pt x="4530045" y="0"/>
                  </a:lnTo>
                  <a:cubicBezTo>
                    <a:pt x="4542905" y="0"/>
                    <a:pt x="4553331" y="10426"/>
                    <a:pt x="4553331" y="23286"/>
                  </a:cubicBezTo>
                  <a:close/>
                </a:path>
              </a:pathLst>
            </a:custGeom>
            <a:solidFill>
              <a:srgbClr val="F2F1F1">
                <a:alpha val="80000"/>
              </a:srgbClr>
            </a:solidFill>
          </p:spPr>
        </p:sp>
        <p:sp>
          <p:nvSpPr>
            <p:cNvPr name="TextBox 4" id="4"/>
            <p:cNvSpPr txBox="true"/>
            <p:nvPr/>
          </p:nvSpPr>
          <p:spPr>
            <a:xfrm>
              <a:off x="0" y="-47625"/>
              <a:ext cx="4553331" cy="2057654"/>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902595" y="2696415"/>
            <a:ext cx="4796382" cy="6226503"/>
            <a:chOff x="0" y="0"/>
            <a:chExt cx="1263245" cy="1639902"/>
          </a:xfrm>
        </p:grpSpPr>
        <p:sp>
          <p:nvSpPr>
            <p:cNvPr name="Freeform 6" id="6"/>
            <p:cNvSpPr/>
            <p:nvPr/>
          </p:nvSpPr>
          <p:spPr>
            <a:xfrm flipH="false" flipV="false" rot="0">
              <a:off x="0" y="0"/>
              <a:ext cx="1263245" cy="1639902"/>
            </a:xfrm>
            <a:custGeom>
              <a:avLst/>
              <a:gdLst/>
              <a:ahLst/>
              <a:cxnLst/>
              <a:rect r="r" b="b" t="t" l="l"/>
              <a:pathLst>
                <a:path h="1639902" w="1263245">
                  <a:moveTo>
                    <a:pt x="38739" y="0"/>
                  </a:moveTo>
                  <a:lnTo>
                    <a:pt x="1224506" y="0"/>
                  </a:lnTo>
                  <a:cubicBezTo>
                    <a:pt x="1245901" y="0"/>
                    <a:pt x="1263245" y="17344"/>
                    <a:pt x="1263245" y="38739"/>
                  </a:cubicBezTo>
                  <a:lnTo>
                    <a:pt x="1263245" y="1601163"/>
                  </a:lnTo>
                  <a:cubicBezTo>
                    <a:pt x="1263245" y="1611437"/>
                    <a:pt x="1259163" y="1621291"/>
                    <a:pt x="1251898" y="1628556"/>
                  </a:cubicBezTo>
                  <a:cubicBezTo>
                    <a:pt x="1244633" y="1635821"/>
                    <a:pt x="1234780" y="1639902"/>
                    <a:pt x="1224506" y="1639902"/>
                  </a:cubicBezTo>
                  <a:lnTo>
                    <a:pt x="38739" y="1639902"/>
                  </a:lnTo>
                  <a:cubicBezTo>
                    <a:pt x="17344" y="1639902"/>
                    <a:pt x="0" y="1622558"/>
                    <a:pt x="0" y="1601163"/>
                  </a:cubicBezTo>
                  <a:lnTo>
                    <a:pt x="0" y="38739"/>
                  </a:lnTo>
                  <a:cubicBezTo>
                    <a:pt x="0" y="17344"/>
                    <a:pt x="17344" y="0"/>
                    <a:pt x="38739" y="0"/>
                  </a:cubicBezTo>
                  <a:close/>
                </a:path>
              </a:pathLst>
            </a:custGeom>
            <a:solidFill>
              <a:srgbClr val="FFFFFF"/>
            </a:solidFill>
            <a:ln w="57150" cap="rnd">
              <a:solidFill>
                <a:srgbClr val="0EA2A8"/>
              </a:solidFill>
              <a:prstDash val="solid"/>
              <a:round/>
            </a:ln>
          </p:spPr>
        </p:sp>
        <p:sp>
          <p:nvSpPr>
            <p:cNvPr name="TextBox 7" id="7"/>
            <p:cNvSpPr txBox="true"/>
            <p:nvPr/>
          </p:nvSpPr>
          <p:spPr>
            <a:xfrm>
              <a:off x="0" y="0"/>
              <a:ext cx="1263245" cy="1639902"/>
            </a:xfrm>
            <a:prstGeom prst="rect">
              <a:avLst/>
            </a:prstGeom>
          </p:spPr>
          <p:txBody>
            <a:bodyPr anchor="ctr" rtlCol="false" tIns="50800" lIns="50800" bIns="50800" rIns="50800"/>
            <a:lstStyle/>
            <a:p>
              <a:pPr algn="ctr">
                <a:lnSpc>
                  <a:spcPts val="2160"/>
                </a:lnSpc>
              </a:pPr>
            </a:p>
            <a:p>
              <a:pPr algn="ctr">
                <a:lnSpc>
                  <a:spcPts val="2160"/>
                </a:lnSpc>
              </a:pPr>
            </a:p>
          </p:txBody>
        </p:sp>
      </p:grpSp>
      <p:sp>
        <p:nvSpPr>
          <p:cNvPr name="TextBox 8" id="8"/>
          <p:cNvSpPr txBox="true"/>
          <p:nvPr/>
        </p:nvSpPr>
        <p:spPr>
          <a:xfrm rot="0">
            <a:off x="6416346" y="774383"/>
            <a:ext cx="5756562" cy="741045"/>
          </a:xfrm>
          <a:prstGeom prst="rect">
            <a:avLst/>
          </a:prstGeom>
        </p:spPr>
        <p:txBody>
          <a:bodyPr anchor="t" rtlCol="false" tIns="0" lIns="0" bIns="0" rIns="0">
            <a:spAutoFit/>
          </a:bodyPr>
          <a:lstStyle/>
          <a:p>
            <a:pPr algn="l" marL="0" indent="0" lvl="0">
              <a:lnSpc>
                <a:spcPts val="5880"/>
              </a:lnSpc>
            </a:pPr>
            <a:r>
              <a:rPr lang="en-US" b="true" sz="4200" spc="210">
                <a:solidFill>
                  <a:srgbClr val="000000"/>
                </a:solidFill>
                <a:latin typeface="Helios Extended Bold"/>
                <a:ea typeface="Helios Extended Bold"/>
                <a:cs typeface="Helios Extended Bold"/>
                <a:sym typeface="Helios Extended Bold"/>
              </a:rPr>
              <a:t>RETROSPECTIVE</a:t>
            </a:r>
          </a:p>
        </p:txBody>
      </p:sp>
      <p:grpSp>
        <p:nvGrpSpPr>
          <p:cNvPr name="Group 9" id="9"/>
          <p:cNvGrpSpPr/>
          <p:nvPr/>
        </p:nvGrpSpPr>
        <p:grpSpPr>
          <a:xfrm rot="0">
            <a:off x="1408077" y="2182207"/>
            <a:ext cx="3785418" cy="1028415"/>
            <a:chOff x="0" y="0"/>
            <a:chExt cx="2571057" cy="698500"/>
          </a:xfrm>
        </p:grpSpPr>
        <p:sp>
          <p:nvSpPr>
            <p:cNvPr name="Freeform 10" id="10"/>
            <p:cNvSpPr/>
            <p:nvPr/>
          </p:nvSpPr>
          <p:spPr>
            <a:xfrm flipH="false" flipV="false" rot="0">
              <a:off x="2207" y="0"/>
              <a:ext cx="2566644" cy="698500"/>
            </a:xfrm>
            <a:custGeom>
              <a:avLst/>
              <a:gdLst/>
              <a:ahLst/>
              <a:cxnLst/>
              <a:rect r="r" b="b" t="t" l="l"/>
              <a:pathLst>
                <a:path h="698500" w="2566644">
                  <a:moveTo>
                    <a:pt x="2564736" y="356321"/>
                  </a:moveTo>
                  <a:lnTo>
                    <a:pt x="2369764" y="691429"/>
                  </a:lnTo>
                  <a:cubicBezTo>
                    <a:pt x="2367217" y="695807"/>
                    <a:pt x="2362534" y="698500"/>
                    <a:pt x="2357469" y="698500"/>
                  </a:cubicBezTo>
                  <a:lnTo>
                    <a:pt x="209174" y="698500"/>
                  </a:lnTo>
                  <a:cubicBezTo>
                    <a:pt x="204109" y="698500"/>
                    <a:pt x="199426" y="695807"/>
                    <a:pt x="196879" y="691429"/>
                  </a:cubicBezTo>
                  <a:lnTo>
                    <a:pt x="1907" y="356321"/>
                  </a:lnTo>
                  <a:cubicBezTo>
                    <a:pt x="-636" y="351950"/>
                    <a:pt x="-636" y="346550"/>
                    <a:pt x="1907" y="342179"/>
                  </a:cubicBezTo>
                  <a:lnTo>
                    <a:pt x="196879" y="7071"/>
                  </a:lnTo>
                  <a:cubicBezTo>
                    <a:pt x="199426" y="2693"/>
                    <a:pt x="204109" y="0"/>
                    <a:pt x="209174" y="0"/>
                  </a:cubicBezTo>
                  <a:lnTo>
                    <a:pt x="2357469" y="0"/>
                  </a:lnTo>
                  <a:cubicBezTo>
                    <a:pt x="2362534" y="0"/>
                    <a:pt x="2367217" y="2693"/>
                    <a:pt x="2369764" y="7071"/>
                  </a:cubicBezTo>
                  <a:lnTo>
                    <a:pt x="2564736" y="342179"/>
                  </a:lnTo>
                  <a:cubicBezTo>
                    <a:pt x="2567279" y="346550"/>
                    <a:pt x="2567279" y="351950"/>
                    <a:pt x="2564736" y="356321"/>
                  </a:cubicBezTo>
                  <a:close/>
                </a:path>
              </a:pathLst>
            </a:custGeom>
            <a:solidFill>
              <a:srgbClr val="0EA2A8"/>
            </a:solidFill>
          </p:spPr>
        </p:sp>
        <p:sp>
          <p:nvSpPr>
            <p:cNvPr name="TextBox 11" id="11"/>
            <p:cNvSpPr txBox="true"/>
            <p:nvPr/>
          </p:nvSpPr>
          <p:spPr>
            <a:xfrm>
              <a:off x="114300" y="0"/>
              <a:ext cx="2342457" cy="698500"/>
            </a:xfrm>
            <a:prstGeom prst="rect">
              <a:avLst/>
            </a:prstGeom>
          </p:spPr>
          <p:txBody>
            <a:bodyPr anchor="ctr" rtlCol="false" tIns="50800" lIns="50800" bIns="50800" rIns="50800"/>
            <a:lstStyle/>
            <a:p>
              <a:pPr algn="ctr">
                <a:lnSpc>
                  <a:spcPts val="2160"/>
                </a:lnSpc>
              </a:pPr>
            </a:p>
          </p:txBody>
        </p:sp>
      </p:grpSp>
      <p:sp>
        <p:nvSpPr>
          <p:cNvPr name="AutoShape 12" id="12"/>
          <p:cNvSpPr/>
          <p:nvPr/>
        </p:nvSpPr>
        <p:spPr>
          <a:xfrm>
            <a:off x="1408077" y="4986650"/>
            <a:ext cx="3781747" cy="0"/>
          </a:xfrm>
          <a:prstGeom prst="line">
            <a:avLst/>
          </a:prstGeom>
          <a:ln cap="flat" w="19050">
            <a:solidFill>
              <a:srgbClr val="000000"/>
            </a:solidFill>
            <a:prstDash val="solid"/>
            <a:headEnd type="none" len="sm" w="sm"/>
            <a:tailEnd type="none" len="sm" w="sm"/>
          </a:ln>
        </p:spPr>
      </p:sp>
      <p:sp>
        <p:nvSpPr>
          <p:cNvPr name="AutoShape 13" id="13"/>
          <p:cNvSpPr/>
          <p:nvPr/>
        </p:nvSpPr>
        <p:spPr>
          <a:xfrm>
            <a:off x="1408077" y="6847200"/>
            <a:ext cx="3781747" cy="0"/>
          </a:xfrm>
          <a:prstGeom prst="line">
            <a:avLst/>
          </a:prstGeom>
          <a:ln cap="flat" w="19050">
            <a:solidFill>
              <a:srgbClr val="000000"/>
            </a:solidFill>
            <a:prstDash val="solid"/>
            <a:headEnd type="none" len="sm" w="sm"/>
            <a:tailEnd type="none" len="sm" w="sm"/>
          </a:ln>
        </p:spPr>
      </p:sp>
      <p:grpSp>
        <p:nvGrpSpPr>
          <p:cNvPr name="Group 14" id="14"/>
          <p:cNvGrpSpPr/>
          <p:nvPr/>
        </p:nvGrpSpPr>
        <p:grpSpPr>
          <a:xfrm rot="0">
            <a:off x="6745809" y="2711527"/>
            <a:ext cx="4796382" cy="6226503"/>
            <a:chOff x="0" y="0"/>
            <a:chExt cx="1263245" cy="1639902"/>
          </a:xfrm>
        </p:grpSpPr>
        <p:sp>
          <p:nvSpPr>
            <p:cNvPr name="Freeform 15" id="15"/>
            <p:cNvSpPr/>
            <p:nvPr/>
          </p:nvSpPr>
          <p:spPr>
            <a:xfrm flipH="false" flipV="false" rot="0">
              <a:off x="0" y="0"/>
              <a:ext cx="1263245" cy="1639902"/>
            </a:xfrm>
            <a:custGeom>
              <a:avLst/>
              <a:gdLst/>
              <a:ahLst/>
              <a:cxnLst/>
              <a:rect r="r" b="b" t="t" l="l"/>
              <a:pathLst>
                <a:path h="1639902" w="1263245">
                  <a:moveTo>
                    <a:pt x="38739" y="0"/>
                  </a:moveTo>
                  <a:lnTo>
                    <a:pt x="1224506" y="0"/>
                  </a:lnTo>
                  <a:cubicBezTo>
                    <a:pt x="1245901" y="0"/>
                    <a:pt x="1263245" y="17344"/>
                    <a:pt x="1263245" y="38739"/>
                  </a:cubicBezTo>
                  <a:lnTo>
                    <a:pt x="1263245" y="1601163"/>
                  </a:lnTo>
                  <a:cubicBezTo>
                    <a:pt x="1263245" y="1611437"/>
                    <a:pt x="1259163" y="1621291"/>
                    <a:pt x="1251898" y="1628556"/>
                  </a:cubicBezTo>
                  <a:cubicBezTo>
                    <a:pt x="1244633" y="1635821"/>
                    <a:pt x="1234780" y="1639902"/>
                    <a:pt x="1224506" y="1639902"/>
                  </a:cubicBezTo>
                  <a:lnTo>
                    <a:pt x="38739" y="1639902"/>
                  </a:lnTo>
                  <a:cubicBezTo>
                    <a:pt x="17344" y="1639902"/>
                    <a:pt x="0" y="1622558"/>
                    <a:pt x="0" y="1601163"/>
                  </a:cubicBezTo>
                  <a:lnTo>
                    <a:pt x="0" y="38739"/>
                  </a:lnTo>
                  <a:cubicBezTo>
                    <a:pt x="0" y="17344"/>
                    <a:pt x="17344" y="0"/>
                    <a:pt x="38739" y="0"/>
                  </a:cubicBezTo>
                  <a:close/>
                </a:path>
              </a:pathLst>
            </a:custGeom>
            <a:solidFill>
              <a:srgbClr val="FFFFFF"/>
            </a:solidFill>
            <a:ln w="57150" cap="rnd">
              <a:solidFill>
                <a:srgbClr val="1F8286"/>
              </a:solidFill>
              <a:prstDash val="solid"/>
              <a:round/>
            </a:ln>
          </p:spPr>
        </p:sp>
        <p:sp>
          <p:nvSpPr>
            <p:cNvPr name="TextBox 16" id="16"/>
            <p:cNvSpPr txBox="true"/>
            <p:nvPr/>
          </p:nvSpPr>
          <p:spPr>
            <a:xfrm>
              <a:off x="0" y="0"/>
              <a:ext cx="1263245" cy="1639902"/>
            </a:xfrm>
            <a:prstGeom prst="rect">
              <a:avLst/>
            </a:prstGeom>
          </p:spPr>
          <p:txBody>
            <a:bodyPr anchor="ctr" rtlCol="false" tIns="50800" lIns="50800" bIns="50800" rIns="50800"/>
            <a:lstStyle/>
            <a:p>
              <a:pPr algn="ctr">
                <a:lnSpc>
                  <a:spcPts val="2160"/>
                </a:lnSpc>
              </a:pPr>
            </a:p>
          </p:txBody>
        </p:sp>
      </p:grpSp>
      <p:grpSp>
        <p:nvGrpSpPr>
          <p:cNvPr name="Group 17" id="17"/>
          <p:cNvGrpSpPr/>
          <p:nvPr/>
        </p:nvGrpSpPr>
        <p:grpSpPr>
          <a:xfrm rot="0">
            <a:off x="7251291" y="2197319"/>
            <a:ext cx="3785418" cy="1028415"/>
            <a:chOff x="0" y="0"/>
            <a:chExt cx="2571057" cy="698500"/>
          </a:xfrm>
        </p:grpSpPr>
        <p:sp>
          <p:nvSpPr>
            <p:cNvPr name="Freeform 18" id="18"/>
            <p:cNvSpPr/>
            <p:nvPr/>
          </p:nvSpPr>
          <p:spPr>
            <a:xfrm flipH="false" flipV="false" rot="0">
              <a:off x="2207" y="0"/>
              <a:ext cx="2566644" cy="698500"/>
            </a:xfrm>
            <a:custGeom>
              <a:avLst/>
              <a:gdLst/>
              <a:ahLst/>
              <a:cxnLst/>
              <a:rect r="r" b="b" t="t" l="l"/>
              <a:pathLst>
                <a:path h="698500" w="2566644">
                  <a:moveTo>
                    <a:pt x="2564736" y="356321"/>
                  </a:moveTo>
                  <a:lnTo>
                    <a:pt x="2369764" y="691429"/>
                  </a:lnTo>
                  <a:cubicBezTo>
                    <a:pt x="2367217" y="695807"/>
                    <a:pt x="2362534" y="698500"/>
                    <a:pt x="2357469" y="698500"/>
                  </a:cubicBezTo>
                  <a:lnTo>
                    <a:pt x="209174" y="698500"/>
                  </a:lnTo>
                  <a:cubicBezTo>
                    <a:pt x="204109" y="698500"/>
                    <a:pt x="199426" y="695807"/>
                    <a:pt x="196879" y="691429"/>
                  </a:cubicBezTo>
                  <a:lnTo>
                    <a:pt x="1907" y="356321"/>
                  </a:lnTo>
                  <a:cubicBezTo>
                    <a:pt x="-636" y="351950"/>
                    <a:pt x="-636" y="346550"/>
                    <a:pt x="1907" y="342179"/>
                  </a:cubicBezTo>
                  <a:lnTo>
                    <a:pt x="196879" y="7071"/>
                  </a:lnTo>
                  <a:cubicBezTo>
                    <a:pt x="199426" y="2693"/>
                    <a:pt x="204109" y="0"/>
                    <a:pt x="209174" y="0"/>
                  </a:cubicBezTo>
                  <a:lnTo>
                    <a:pt x="2357469" y="0"/>
                  </a:lnTo>
                  <a:cubicBezTo>
                    <a:pt x="2362534" y="0"/>
                    <a:pt x="2367217" y="2693"/>
                    <a:pt x="2369764" y="7071"/>
                  </a:cubicBezTo>
                  <a:lnTo>
                    <a:pt x="2564736" y="342179"/>
                  </a:lnTo>
                  <a:cubicBezTo>
                    <a:pt x="2567279" y="346550"/>
                    <a:pt x="2567279" y="351950"/>
                    <a:pt x="2564736" y="356321"/>
                  </a:cubicBezTo>
                  <a:close/>
                </a:path>
              </a:pathLst>
            </a:custGeom>
            <a:solidFill>
              <a:srgbClr val="1F8286"/>
            </a:solidFill>
          </p:spPr>
        </p:sp>
        <p:sp>
          <p:nvSpPr>
            <p:cNvPr name="TextBox 19" id="19"/>
            <p:cNvSpPr txBox="true"/>
            <p:nvPr/>
          </p:nvSpPr>
          <p:spPr>
            <a:xfrm>
              <a:off x="114300" y="0"/>
              <a:ext cx="2342457" cy="698500"/>
            </a:xfrm>
            <a:prstGeom prst="rect">
              <a:avLst/>
            </a:prstGeom>
          </p:spPr>
          <p:txBody>
            <a:bodyPr anchor="ctr" rtlCol="false" tIns="50800" lIns="50800" bIns="50800" rIns="50800"/>
            <a:lstStyle/>
            <a:p>
              <a:pPr algn="ctr">
                <a:lnSpc>
                  <a:spcPts val="2160"/>
                </a:lnSpc>
              </a:pPr>
            </a:p>
          </p:txBody>
        </p:sp>
      </p:grpSp>
      <p:sp>
        <p:nvSpPr>
          <p:cNvPr name="AutoShape 20" id="20"/>
          <p:cNvSpPr/>
          <p:nvPr/>
        </p:nvSpPr>
        <p:spPr>
          <a:xfrm>
            <a:off x="7251291" y="5001761"/>
            <a:ext cx="3781747" cy="0"/>
          </a:xfrm>
          <a:prstGeom prst="line">
            <a:avLst/>
          </a:prstGeom>
          <a:ln cap="flat" w="19050">
            <a:solidFill>
              <a:srgbClr val="000000"/>
            </a:solidFill>
            <a:prstDash val="solid"/>
            <a:headEnd type="none" len="sm" w="sm"/>
            <a:tailEnd type="none" len="sm" w="sm"/>
          </a:ln>
        </p:spPr>
      </p:sp>
      <p:sp>
        <p:nvSpPr>
          <p:cNvPr name="AutoShape 21" id="21"/>
          <p:cNvSpPr/>
          <p:nvPr/>
        </p:nvSpPr>
        <p:spPr>
          <a:xfrm>
            <a:off x="7251291" y="6862311"/>
            <a:ext cx="3781747" cy="0"/>
          </a:xfrm>
          <a:prstGeom prst="line">
            <a:avLst/>
          </a:prstGeom>
          <a:ln cap="flat" w="19050">
            <a:solidFill>
              <a:srgbClr val="000000"/>
            </a:solidFill>
            <a:prstDash val="solid"/>
            <a:headEnd type="none" len="sm" w="sm"/>
            <a:tailEnd type="none" len="sm" w="sm"/>
          </a:ln>
        </p:spPr>
      </p:sp>
      <p:grpSp>
        <p:nvGrpSpPr>
          <p:cNvPr name="Group 22" id="22"/>
          <p:cNvGrpSpPr/>
          <p:nvPr/>
        </p:nvGrpSpPr>
        <p:grpSpPr>
          <a:xfrm rot="0">
            <a:off x="12589023" y="2726639"/>
            <a:ext cx="4796382" cy="6226503"/>
            <a:chOff x="0" y="0"/>
            <a:chExt cx="1263245" cy="1639902"/>
          </a:xfrm>
        </p:grpSpPr>
        <p:sp>
          <p:nvSpPr>
            <p:cNvPr name="Freeform 23" id="23"/>
            <p:cNvSpPr/>
            <p:nvPr/>
          </p:nvSpPr>
          <p:spPr>
            <a:xfrm flipH="false" flipV="false" rot="0">
              <a:off x="0" y="0"/>
              <a:ext cx="1263245" cy="1639902"/>
            </a:xfrm>
            <a:custGeom>
              <a:avLst/>
              <a:gdLst/>
              <a:ahLst/>
              <a:cxnLst/>
              <a:rect r="r" b="b" t="t" l="l"/>
              <a:pathLst>
                <a:path h="1639902" w="1263245">
                  <a:moveTo>
                    <a:pt x="38739" y="0"/>
                  </a:moveTo>
                  <a:lnTo>
                    <a:pt x="1224506" y="0"/>
                  </a:lnTo>
                  <a:cubicBezTo>
                    <a:pt x="1245901" y="0"/>
                    <a:pt x="1263245" y="17344"/>
                    <a:pt x="1263245" y="38739"/>
                  </a:cubicBezTo>
                  <a:lnTo>
                    <a:pt x="1263245" y="1601163"/>
                  </a:lnTo>
                  <a:cubicBezTo>
                    <a:pt x="1263245" y="1611437"/>
                    <a:pt x="1259163" y="1621291"/>
                    <a:pt x="1251898" y="1628556"/>
                  </a:cubicBezTo>
                  <a:cubicBezTo>
                    <a:pt x="1244633" y="1635821"/>
                    <a:pt x="1234780" y="1639902"/>
                    <a:pt x="1224506" y="1639902"/>
                  </a:cubicBezTo>
                  <a:lnTo>
                    <a:pt x="38739" y="1639902"/>
                  </a:lnTo>
                  <a:cubicBezTo>
                    <a:pt x="17344" y="1639902"/>
                    <a:pt x="0" y="1622558"/>
                    <a:pt x="0" y="1601163"/>
                  </a:cubicBezTo>
                  <a:lnTo>
                    <a:pt x="0" y="38739"/>
                  </a:lnTo>
                  <a:cubicBezTo>
                    <a:pt x="0" y="17344"/>
                    <a:pt x="17344" y="0"/>
                    <a:pt x="38739" y="0"/>
                  </a:cubicBezTo>
                  <a:close/>
                </a:path>
              </a:pathLst>
            </a:custGeom>
            <a:solidFill>
              <a:srgbClr val="FEFEFE"/>
            </a:solidFill>
            <a:ln w="57150" cap="rnd">
              <a:solidFill>
                <a:srgbClr val="066B72"/>
              </a:solidFill>
              <a:prstDash val="solid"/>
              <a:round/>
            </a:ln>
          </p:spPr>
        </p:sp>
        <p:sp>
          <p:nvSpPr>
            <p:cNvPr name="TextBox 24" id="24"/>
            <p:cNvSpPr txBox="true"/>
            <p:nvPr/>
          </p:nvSpPr>
          <p:spPr>
            <a:xfrm>
              <a:off x="0" y="0"/>
              <a:ext cx="1263245" cy="1639902"/>
            </a:xfrm>
            <a:prstGeom prst="rect">
              <a:avLst/>
            </a:prstGeom>
          </p:spPr>
          <p:txBody>
            <a:bodyPr anchor="ctr" rtlCol="false" tIns="50800" lIns="50800" bIns="50800" rIns="50800"/>
            <a:lstStyle/>
            <a:p>
              <a:pPr algn="ctr">
                <a:lnSpc>
                  <a:spcPts val="2160"/>
                </a:lnSpc>
              </a:pPr>
            </a:p>
          </p:txBody>
        </p:sp>
      </p:grpSp>
      <p:grpSp>
        <p:nvGrpSpPr>
          <p:cNvPr name="Group 25" id="25"/>
          <p:cNvGrpSpPr/>
          <p:nvPr/>
        </p:nvGrpSpPr>
        <p:grpSpPr>
          <a:xfrm rot="0">
            <a:off x="13094505" y="2212431"/>
            <a:ext cx="3785418" cy="1028415"/>
            <a:chOff x="0" y="0"/>
            <a:chExt cx="2571057" cy="698500"/>
          </a:xfrm>
        </p:grpSpPr>
        <p:sp>
          <p:nvSpPr>
            <p:cNvPr name="Freeform 26" id="26"/>
            <p:cNvSpPr/>
            <p:nvPr/>
          </p:nvSpPr>
          <p:spPr>
            <a:xfrm flipH="false" flipV="false" rot="0">
              <a:off x="2207" y="0"/>
              <a:ext cx="2566644" cy="698500"/>
            </a:xfrm>
            <a:custGeom>
              <a:avLst/>
              <a:gdLst/>
              <a:ahLst/>
              <a:cxnLst/>
              <a:rect r="r" b="b" t="t" l="l"/>
              <a:pathLst>
                <a:path h="698500" w="2566644">
                  <a:moveTo>
                    <a:pt x="2564736" y="356321"/>
                  </a:moveTo>
                  <a:lnTo>
                    <a:pt x="2369764" y="691429"/>
                  </a:lnTo>
                  <a:cubicBezTo>
                    <a:pt x="2367217" y="695807"/>
                    <a:pt x="2362534" y="698500"/>
                    <a:pt x="2357469" y="698500"/>
                  </a:cubicBezTo>
                  <a:lnTo>
                    <a:pt x="209174" y="698500"/>
                  </a:lnTo>
                  <a:cubicBezTo>
                    <a:pt x="204109" y="698500"/>
                    <a:pt x="199426" y="695807"/>
                    <a:pt x="196879" y="691429"/>
                  </a:cubicBezTo>
                  <a:lnTo>
                    <a:pt x="1907" y="356321"/>
                  </a:lnTo>
                  <a:cubicBezTo>
                    <a:pt x="-636" y="351950"/>
                    <a:pt x="-636" y="346550"/>
                    <a:pt x="1907" y="342179"/>
                  </a:cubicBezTo>
                  <a:lnTo>
                    <a:pt x="196879" y="7071"/>
                  </a:lnTo>
                  <a:cubicBezTo>
                    <a:pt x="199426" y="2693"/>
                    <a:pt x="204109" y="0"/>
                    <a:pt x="209174" y="0"/>
                  </a:cubicBezTo>
                  <a:lnTo>
                    <a:pt x="2357469" y="0"/>
                  </a:lnTo>
                  <a:cubicBezTo>
                    <a:pt x="2362534" y="0"/>
                    <a:pt x="2367217" y="2693"/>
                    <a:pt x="2369764" y="7071"/>
                  </a:cubicBezTo>
                  <a:lnTo>
                    <a:pt x="2564736" y="342179"/>
                  </a:lnTo>
                  <a:cubicBezTo>
                    <a:pt x="2567279" y="346550"/>
                    <a:pt x="2567279" y="351950"/>
                    <a:pt x="2564736" y="356321"/>
                  </a:cubicBezTo>
                  <a:close/>
                </a:path>
              </a:pathLst>
            </a:custGeom>
            <a:solidFill>
              <a:srgbClr val="066B72"/>
            </a:solidFill>
          </p:spPr>
        </p:sp>
        <p:sp>
          <p:nvSpPr>
            <p:cNvPr name="TextBox 27" id="27"/>
            <p:cNvSpPr txBox="true"/>
            <p:nvPr/>
          </p:nvSpPr>
          <p:spPr>
            <a:xfrm>
              <a:off x="114300" y="0"/>
              <a:ext cx="2342457" cy="698500"/>
            </a:xfrm>
            <a:prstGeom prst="rect">
              <a:avLst/>
            </a:prstGeom>
          </p:spPr>
          <p:txBody>
            <a:bodyPr anchor="ctr" rtlCol="false" tIns="50800" lIns="50800" bIns="50800" rIns="50800"/>
            <a:lstStyle/>
            <a:p>
              <a:pPr algn="ctr">
                <a:lnSpc>
                  <a:spcPts val="2160"/>
                </a:lnSpc>
              </a:pPr>
            </a:p>
          </p:txBody>
        </p:sp>
      </p:grpSp>
      <p:sp>
        <p:nvSpPr>
          <p:cNvPr name="AutoShape 28" id="28"/>
          <p:cNvSpPr/>
          <p:nvPr/>
        </p:nvSpPr>
        <p:spPr>
          <a:xfrm>
            <a:off x="13094505" y="5016873"/>
            <a:ext cx="3781747" cy="0"/>
          </a:xfrm>
          <a:prstGeom prst="line">
            <a:avLst/>
          </a:prstGeom>
          <a:ln cap="flat" w="19050">
            <a:solidFill>
              <a:srgbClr val="000000"/>
            </a:solidFill>
            <a:prstDash val="solid"/>
            <a:headEnd type="none" len="sm" w="sm"/>
            <a:tailEnd type="none" len="sm" w="sm"/>
          </a:ln>
        </p:spPr>
      </p:sp>
      <p:sp>
        <p:nvSpPr>
          <p:cNvPr name="AutoShape 29" id="29"/>
          <p:cNvSpPr/>
          <p:nvPr/>
        </p:nvSpPr>
        <p:spPr>
          <a:xfrm>
            <a:off x="13094505" y="6877423"/>
            <a:ext cx="3781747" cy="0"/>
          </a:xfrm>
          <a:prstGeom prst="line">
            <a:avLst/>
          </a:prstGeom>
          <a:ln cap="flat" w="19050">
            <a:solidFill>
              <a:srgbClr val="000000"/>
            </a:solidFill>
            <a:prstDash val="solid"/>
            <a:headEnd type="none" len="sm" w="sm"/>
            <a:tailEnd type="none" len="sm" w="sm"/>
          </a:ln>
        </p:spPr>
      </p:sp>
      <p:sp>
        <p:nvSpPr>
          <p:cNvPr name="TextBox 30" id="30"/>
          <p:cNvSpPr txBox="true"/>
          <p:nvPr/>
        </p:nvSpPr>
        <p:spPr>
          <a:xfrm rot="0">
            <a:off x="1368945" y="2454480"/>
            <a:ext cx="3824550" cy="398145"/>
          </a:xfrm>
          <a:prstGeom prst="rect">
            <a:avLst/>
          </a:prstGeom>
        </p:spPr>
        <p:txBody>
          <a:bodyPr anchor="t" rtlCol="false" tIns="0" lIns="0" bIns="0" rIns="0">
            <a:spAutoFit/>
          </a:bodyPr>
          <a:lstStyle/>
          <a:p>
            <a:pPr algn="ctr">
              <a:lnSpc>
                <a:spcPts val="3360"/>
              </a:lnSpc>
            </a:pPr>
            <a:r>
              <a:rPr lang="en-US" sz="2100" spc="210">
                <a:solidFill>
                  <a:srgbClr val="000000"/>
                </a:solidFill>
                <a:latin typeface="Lato"/>
                <a:ea typeface="Lato"/>
                <a:cs typeface="Lato"/>
                <a:sym typeface="Lato"/>
              </a:rPr>
              <a:t>WHAT WENT WELL</a:t>
            </a:r>
          </a:p>
        </p:txBody>
      </p:sp>
      <p:sp>
        <p:nvSpPr>
          <p:cNvPr name="TextBox 31" id="31"/>
          <p:cNvSpPr txBox="true"/>
          <p:nvPr/>
        </p:nvSpPr>
        <p:spPr>
          <a:xfrm rot="0">
            <a:off x="7251291" y="2275154"/>
            <a:ext cx="3824550" cy="817245"/>
          </a:xfrm>
          <a:prstGeom prst="rect">
            <a:avLst/>
          </a:prstGeom>
        </p:spPr>
        <p:txBody>
          <a:bodyPr anchor="t" rtlCol="false" tIns="0" lIns="0" bIns="0" rIns="0">
            <a:spAutoFit/>
          </a:bodyPr>
          <a:lstStyle/>
          <a:p>
            <a:pPr algn="ctr">
              <a:lnSpc>
                <a:spcPts val="3360"/>
              </a:lnSpc>
            </a:pPr>
            <a:r>
              <a:rPr lang="en-US" sz="2100" spc="210">
                <a:solidFill>
                  <a:srgbClr val="000000"/>
                </a:solidFill>
                <a:latin typeface="Lato"/>
                <a:ea typeface="Lato"/>
                <a:cs typeface="Lato"/>
                <a:sym typeface="Lato"/>
              </a:rPr>
              <a:t>WHAT COULD BE IMPROVED?</a:t>
            </a:r>
          </a:p>
        </p:txBody>
      </p:sp>
      <p:sp>
        <p:nvSpPr>
          <p:cNvPr name="TextBox 32" id="32"/>
          <p:cNvSpPr txBox="true"/>
          <p:nvPr/>
        </p:nvSpPr>
        <p:spPr>
          <a:xfrm rot="0">
            <a:off x="13094766" y="2275154"/>
            <a:ext cx="3824550" cy="817245"/>
          </a:xfrm>
          <a:prstGeom prst="rect">
            <a:avLst/>
          </a:prstGeom>
        </p:spPr>
        <p:txBody>
          <a:bodyPr anchor="t" rtlCol="false" tIns="0" lIns="0" bIns="0" rIns="0">
            <a:spAutoFit/>
          </a:bodyPr>
          <a:lstStyle/>
          <a:p>
            <a:pPr algn="ctr">
              <a:lnSpc>
                <a:spcPts val="3360"/>
              </a:lnSpc>
            </a:pPr>
            <a:r>
              <a:rPr lang="en-US" sz="2100" spc="210">
                <a:solidFill>
                  <a:srgbClr val="000000"/>
                </a:solidFill>
                <a:latin typeface="Lato"/>
                <a:ea typeface="Lato"/>
                <a:cs typeface="Lato"/>
                <a:sym typeface="Lato"/>
              </a:rPr>
              <a:t>ACTIONS FOR NEXT SPRINT </a:t>
            </a:r>
          </a:p>
        </p:txBody>
      </p:sp>
      <p:sp>
        <p:nvSpPr>
          <p:cNvPr name="TextBox 33" id="33"/>
          <p:cNvSpPr txBox="true"/>
          <p:nvPr/>
        </p:nvSpPr>
        <p:spPr>
          <a:xfrm rot="0">
            <a:off x="1419375" y="3977943"/>
            <a:ext cx="3762821" cy="630555"/>
          </a:xfrm>
          <a:prstGeom prst="rect">
            <a:avLst/>
          </a:prstGeom>
        </p:spPr>
        <p:txBody>
          <a:bodyPr anchor="t" rtlCol="false" tIns="0" lIns="0" bIns="0" rIns="0">
            <a:spAutoFit/>
          </a:bodyPr>
          <a:lstStyle/>
          <a:p>
            <a:pPr algn="ctr">
              <a:lnSpc>
                <a:spcPts val="2520"/>
              </a:lnSpc>
            </a:pPr>
            <a:r>
              <a:rPr lang="en-US" sz="1800">
                <a:solidFill>
                  <a:srgbClr val="000000"/>
                </a:solidFill>
                <a:latin typeface="Lato"/>
                <a:ea typeface="Lato"/>
                <a:cs typeface="Lato"/>
                <a:sym typeface="Lato"/>
              </a:rPr>
              <a:t>Daily stan</a:t>
            </a:r>
            <a:r>
              <a:rPr lang="en-US" sz="1800">
                <a:solidFill>
                  <a:srgbClr val="000000"/>
                </a:solidFill>
                <a:latin typeface="Lato"/>
                <a:ea typeface="Lato"/>
                <a:cs typeface="Lato"/>
                <a:sym typeface="Lato"/>
              </a:rPr>
              <a:t>d-ups are more structured </a:t>
            </a:r>
          </a:p>
          <a:p>
            <a:pPr algn="ctr">
              <a:lnSpc>
                <a:spcPts val="2520"/>
              </a:lnSpc>
            </a:pPr>
            <a:r>
              <a:rPr lang="en-US" sz="1800">
                <a:solidFill>
                  <a:srgbClr val="000000"/>
                </a:solidFill>
                <a:latin typeface="Lato"/>
                <a:ea typeface="Lato"/>
                <a:cs typeface="Lato"/>
                <a:sym typeface="Lato"/>
              </a:rPr>
              <a:t>and focused on blockers and progress</a:t>
            </a:r>
          </a:p>
        </p:txBody>
      </p:sp>
      <p:sp>
        <p:nvSpPr>
          <p:cNvPr name="TextBox 34" id="34"/>
          <p:cNvSpPr txBox="true"/>
          <p:nvPr/>
        </p:nvSpPr>
        <p:spPr>
          <a:xfrm rot="0">
            <a:off x="7306630" y="5608058"/>
            <a:ext cx="3730079" cy="630555"/>
          </a:xfrm>
          <a:prstGeom prst="rect">
            <a:avLst/>
          </a:prstGeom>
        </p:spPr>
        <p:txBody>
          <a:bodyPr anchor="t" rtlCol="false" tIns="0" lIns="0" bIns="0" rIns="0">
            <a:spAutoFit/>
          </a:bodyPr>
          <a:lstStyle/>
          <a:p>
            <a:pPr algn="ctr">
              <a:lnSpc>
                <a:spcPts val="2520"/>
              </a:lnSpc>
            </a:pPr>
            <a:r>
              <a:rPr lang="en-US" sz="1800">
                <a:solidFill>
                  <a:srgbClr val="000000"/>
                </a:solidFill>
                <a:latin typeface="Lato"/>
                <a:ea typeface="Lato"/>
                <a:cs typeface="Lato"/>
                <a:sym typeface="Lato"/>
              </a:rPr>
              <a:t>Communication co</a:t>
            </a:r>
            <a:r>
              <a:rPr lang="en-US" sz="1800">
                <a:solidFill>
                  <a:srgbClr val="000000"/>
                </a:solidFill>
                <a:latin typeface="Lato"/>
                <a:ea typeface="Lato"/>
                <a:cs typeface="Lato"/>
                <a:sym typeface="Lato"/>
              </a:rPr>
              <a:t>uld be more consi-</a:t>
            </a:r>
          </a:p>
          <a:p>
            <a:pPr algn="ctr">
              <a:lnSpc>
                <a:spcPts val="2520"/>
              </a:lnSpc>
            </a:pPr>
            <a:r>
              <a:rPr lang="en-US" sz="1800">
                <a:solidFill>
                  <a:srgbClr val="000000"/>
                </a:solidFill>
                <a:latin typeface="Lato"/>
                <a:ea typeface="Lato"/>
                <a:cs typeface="Lato"/>
                <a:sym typeface="Lato"/>
              </a:rPr>
              <a:t>stent across the team</a:t>
            </a:r>
          </a:p>
        </p:txBody>
      </p:sp>
      <p:sp>
        <p:nvSpPr>
          <p:cNvPr name="TextBox 35" id="35"/>
          <p:cNvSpPr txBox="true"/>
          <p:nvPr/>
        </p:nvSpPr>
        <p:spPr>
          <a:xfrm rot="0">
            <a:off x="1238636" y="5577835"/>
            <a:ext cx="4101703" cy="630555"/>
          </a:xfrm>
          <a:prstGeom prst="rect">
            <a:avLst/>
          </a:prstGeom>
        </p:spPr>
        <p:txBody>
          <a:bodyPr anchor="t" rtlCol="false" tIns="0" lIns="0" bIns="0" rIns="0">
            <a:spAutoFit/>
          </a:bodyPr>
          <a:lstStyle/>
          <a:p>
            <a:pPr algn="ctr">
              <a:lnSpc>
                <a:spcPts val="2520"/>
              </a:lnSpc>
            </a:pPr>
            <a:r>
              <a:rPr lang="en-US" sz="1800">
                <a:solidFill>
                  <a:srgbClr val="000000"/>
                </a:solidFill>
                <a:latin typeface="Lato"/>
                <a:ea typeface="Lato"/>
                <a:cs typeface="Lato"/>
                <a:sym typeface="Lato"/>
              </a:rPr>
              <a:t>Better</a:t>
            </a:r>
            <a:r>
              <a:rPr lang="en-US" sz="1800">
                <a:solidFill>
                  <a:srgbClr val="000000"/>
                </a:solidFill>
                <a:latin typeface="Lato"/>
                <a:ea typeface="Lato"/>
                <a:cs typeface="Lato"/>
                <a:sym typeface="Lato"/>
              </a:rPr>
              <a:t> collaboration between co-owners </a:t>
            </a:r>
          </a:p>
          <a:p>
            <a:pPr algn="ctr">
              <a:lnSpc>
                <a:spcPts val="2520"/>
              </a:lnSpc>
            </a:pPr>
            <a:r>
              <a:rPr lang="en-US" sz="1800">
                <a:solidFill>
                  <a:srgbClr val="000000"/>
                </a:solidFill>
                <a:latin typeface="Lato"/>
                <a:ea typeface="Lato"/>
                <a:cs typeface="Lato"/>
                <a:sym typeface="Lato"/>
              </a:rPr>
              <a:t>on shared tasks</a:t>
            </a:r>
          </a:p>
        </p:txBody>
      </p:sp>
      <p:sp>
        <p:nvSpPr>
          <p:cNvPr name="TextBox 36" id="36"/>
          <p:cNvSpPr txBox="true"/>
          <p:nvPr/>
        </p:nvSpPr>
        <p:spPr>
          <a:xfrm rot="0">
            <a:off x="1387180" y="7177727"/>
            <a:ext cx="3782020" cy="630555"/>
          </a:xfrm>
          <a:prstGeom prst="rect">
            <a:avLst/>
          </a:prstGeom>
        </p:spPr>
        <p:txBody>
          <a:bodyPr anchor="t" rtlCol="false" tIns="0" lIns="0" bIns="0" rIns="0">
            <a:spAutoFit/>
          </a:bodyPr>
          <a:lstStyle/>
          <a:p>
            <a:pPr algn="ctr">
              <a:lnSpc>
                <a:spcPts val="2520"/>
              </a:lnSpc>
            </a:pPr>
            <a:r>
              <a:rPr lang="en-US" sz="1800">
                <a:solidFill>
                  <a:srgbClr val="000000"/>
                </a:solidFill>
                <a:latin typeface="Lato"/>
                <a:ea typeface="Lato"/>
                <a:cs typeface="Lato"/>
                <a:sym typeface="Lato"/>
              </a:rPr>
              <a:t>Team</a:t>
            </a:r>
            <a:r>
              <a:rPr lang="en-US" sz="1800">
                <a:solidFill>
                  <a:srgbClr val="000000"/>
                </a:solidFill>
                <a:latin typeface="Lato"/>
                <a:ea typeface="Lato"/>
                <a:cs typeface="Lato"/>
                <a:sym typeface="Lato"/>
              </a:rPr>
              <a:t> members supported each other </a:t>
            </a:r>
          </a:p>
          <a:p>
            <a:pPr algn="ctr">
              <a:lnSpc>
                <a:spcPts val="2520"/>
              </a:lnSpc>
            </a:pPr>
            <a:r>
              <a:rPr lang="en-US" sz="1800">
                <a:solidFill>
                  <a:srgbClr val="000000"/>
                </a:solidFill>
                <a:latin typeface="Lato"/>
                <a:ea typeface="Lato"/>
                <a:cs typeface="Lato"/>
                <a:sym typeface="Lato"/>
              </a:rPr>
              <a:t>when blocked</a:t>
            </a:r>
          </a:p>
        </p:txBody>
      </p:sp>
      <p:sp>
        <p:nvSpPr>
          <p:cNvPr name="TextBox 37" id="37"/>
          <p:cNvSpPr txBox="true"/>
          <p:nvPr/>
        </p:nvSpPr>
        <p:spPr>
          <a:xfrm rot="0">
            <a:off x="7529004" y="4135105"/>
            <a:ext cx="3531245" cy="630555"/>
          </a:xfrm>
          <a:prstGeom prst="rect">
            <a:avLst/>
          </a:prstGeom>
        </p:spPr>
        <p:txBody>
          <a:bodyPr anchor="t" rtlCol="false" tIns="0" lIns="0" bIns="0" rIns="0">
            <a:spAutoFit/>
          </a:bodyPr>
          <a:lstStyle/>
          <a:p>
            <a:pPr algn="ctr">
              <a:lnSpc>
                <a:spcPts val="2520"/>
              </a:lnSpc>
            </a:pPr>
            <a:r>
              <a:rPr lang="en-US" sz="1800">
                <a:solidFill>
                  <a:srgbClr val="000000"/>
                </a:solidFill>
                <a:latin typeface="Lato"/>
                <a:ea typeface="Lato"/>
                <a:cs typeface="Lato"/>
                <a:sym typeface="Lato"/>
              </a:rPr>
              <a:t>Earlier start on documentation and </a:t>
            </a:r>
          </a:p>
          <a:p>
            <a:pPr algn="ctr">
              <a:lnSpc>
                <a:spcPts val="2520"/>
              </a:lnSpc>
            </a:pPr>
            <a:r>
              <a:rPr lang="en-US" sz="1800">
                <a:solidFill>
                  <a:srgbClr val="000000"/>
                </a:solidFill>
                <a:latin typeface="Lato"/>
                <a:ea typeface="Lato"/>
                <a:cs typeface="Lato"/>
                <a:sym typeface="Lato"/>
              </a:rPr>
              <a:t>slides</a:t>
            </a:r>
          </a:p>
        </p:txBody>
      </p:sp>
      <p:sp>
        <p:nvSpPr>
          <p:cNvPr name="TextBox 38" id="38"/>
          <p:cNvSpPr txBox="true"/>
          <p:nvPr/>
        </p:nvSpPr>
        <p:spPr>
          <a:xfrm rot="0">
            <a:off x="13403567" y="4135105"/>
            <a:ext cx="3206948" cy="630555"/>
          </a:xfrm>
          <a:prstGeom prst="rect">
            <a:avLst/>
          </a:prstGeom>
        </p:spPr>
        <p:txBody>
          <a:bodyPr anchor="t" rtlCol="false" tIns="0" lIns="0" bIns="0" rIns="0">
            <a:spAutoFit/>
          </a:bodyPr>
          <a:lstStyle/>
          <a:p>
            <a:pPr algn="ctr">
              <a:lnSpc>
                <a:spcPts val="2520"/>
              </a:lnSpc>
            </a:pPr>
            <a:r>
              <a:rPr lang="en-US" sz="1800">
                <a:solidFill>
                  <a:srgbClr val="000000"/>
                </a:solidFill>
                <a:latin typeface="Lato"/>
                <a:ea typeface="Lato"/>
                <a:cs typeface="Lato"/>
                <a:sym typeface="Lato"/>
              </a:rPr>
              <a:t>Beg</a:t>
            </a:r>
            <a:r>
              <a:rPr lang="en-US" sz="1800">
                <a:solidFill>
                  <a:srgbClr val="000000"/>
                </a:solidFill>
                <a:latin typeface="Lato"/>
                <a:ea typeface="Lato"/>
                <a:cs typeface="Lato"/>
                <a:sym typeface="Lato"/>
              </a:rPr>
              <a:t>in documentation alongside </a:t>
            </a:r>
          </a:p>
          <a:p>
            <a:pPr algn="ctr">
              <a:lnSpc>
                <a:spcPts val="2520"/>
              </a:lnSpc>
            </a:pPr>
            <a:r>
              <a:rPr lang="en-US" sz="1800">
                <a:solidFill>
                  <a:srgbClr val="000000"/>
                </a:solidFill>
                <a:latin typeface="Lato"/>
                <a:ea typeface="Lato"/>
                <a:cs typeface="Lato"/>
                <a:sym typeface="Lato"/>
              </a:rPr>
              <a:t>development</a:t>
            </a:r>
          </a:p>
        </p:txBody>
      </p:sp>
      <p:sp>
        <p:nvSpPr>
          <p:cNvPr name="TextBox 39" id="39"/>
          <p:cNvSpPr txBox="true"/>
          <p:nvPr/>
        </p:nvSpPr>
        <p:spPr>
          <a:xfrm rot="0">
            <a:off x="13234870" y="5608058"/>
            <a:ext cx="3544342" cy="630555"/>
          </a:xfrm>
          <a:prstGeom prst="rect">
            <a:avLst/>
          </a:prstGeom>
        </p:spPr>
        <p:txBody>
          <a:bodyPr anchor="t" rtlCol="false" tIns="0" lIns="0" bIns="0" rIns="0">
            <a:spAutoFit/>
          </a:bodyPr>
          <a:lstStyle/>
          <a:p>
            <a:pPr algn="ctr">
              <a:lnSpc>
                <a:spcPts val="2520"/>
              </a:lnSpc>
            </a:pPr>
            <a:r>
              <a:rPr lang="en-US" sz="1800">
                <a:solidFill>
                  <a:srgbClr val="000000"/>
                </a:solidFill>
                <a:latin typeface="Lato"/>
                <a:ea typeface="Lato"/>
                <a:cs typeface="Lato"/>
                <a:sym typeface="Lato"/>
              </a:rPr>
              <a:t>Increase activity on communication</a:t>
            </a:r>
          </a:p>
          <a:p>
            <a:pPr algn="ctr">
              <a:lnSpc>
                <a:spcPts val="2520"/>
              </a:lnSpc>
            </a:pPr>
            <a:r>
              <a:rPr lang="en-US" sz="1800">
                <a:solidFill>
                  <a:srgbClr val="000000"/>
                </a:solidFill>
                <a:latin typeface="Lato"/>
                <a:ea typeface="Lato"/>
                <a:cs typeface="Lato"/>
                <a:sym typeface="Lato"/>
              </a:rPr>
              <a:t>platform </a:t>
            </a:r>
          </a:p>
        </p:txBody>
      </p:sp>
      <p:sp>
        <p:nvSpPr>
          <p:cNvPr name="TextBox 40" id="40"/>
          <p:cNvSpPr txBox="true"/>
          <p:nvPr/>
        </p:nvSpPr>
        <p:spPr>
          <a:xfrm rot="0">
            <a:off x="7456363" y="7282808"/>
            <a:ext cx="3299073" cy="316230"/>
          </a:xfrm>
          <a:prstGeom prst="rect">
            <a:avLst/>
          </a:prstGeom>
        </p:spPr>
        <p:txBody>
          <a:bodyPr anchor="t" rtlCol="false" tIns="0" lIns="0" bIns="0" rIns="0">
            <a:spAutoFit/>
          </a:bodyPr>
          <a:lstStyle/>
          <a:p>
            <a:pPr algn="ctr">
              <a:lnSpc>
                <a:spcPts val="2520"/>
              </a:lnSpc>
            </a:pPr>
            <a:r>
              <a:rPr lang="en-US" sz="1800">
                <a:solidFill>
                  <a:srgbClr val="000000"/>
                </a:solidFill>
                <a:latin typeface="Lato"/>
                <a:ea typeface="Lato"/>
                <a:cs typeface="Lato"/>
                <a:sym typeface="Lato"/>
              </a:rPr>
              <a:t>Im</a:t>
            </a:r>
            <a:r>
              <a:rPr lang="en-US" sz="1800">
                <a:solidFill>
                  <a:srgbClr val="000000"/>
                </a:solidFill>
                <a:latin typeface="Lato"/>
                <a:ea typeface="Lato"/>
                <a:cs typeface="Lato"/>
                <a:sym typeface="Lato"/>
              </a:rPr>
              <a:t>prove sprint planning accuracy</a:t>
            </a:r>
          </a:p>
        </p:txBody>
      </p:sp>
      <p:sp>
        <p:nvSpPr>
          <p:cNvPr name="TextBox 41" id="41"/>
          <p:cNvSpPr txBox="true"/>
          <p:nvPr/>
        </p:nvSpPr>
        <p:spPr>
          <a:xfrm rot="0">
            <a:off x="13275218" y="7387890"/>
            <a:ext cx="3316784" cy="630555"/>
          </a:xfrm>
          <a:prstGeom prst="rect">
            <a:avLst/>
          </a:prstGeom>
        </p:spPr>
        <p:txBody>
          <a:bodyPr anchor="t" rtlCol="false" tIns="0" lIns="0" bIns="0" rIns="0">
            <a:spAutoFit/>
          </a:bodyPr>
          <a:lstStyle/>
          <a:p>
            <a:pPr algn="ctr">
              <a:lnSpc>
                <a:spcPts val="2520"/>
              </a:lnSpc>
            </a:pPr>
            <a:r>
              <a:rPr lang="en-US" sz="1800">
                <a:solidFill>
                  <a:srgbClr val="000000"/>
                </a:solidFill>
                <a:latin typeface="Lato"/>
                <a:ea typeface="Lato"/>
                <a:cs typeface="Lato"/>
                <a:sym typeface="Lato"/>
              </a:rPr>
              <a:t>Im</a:t>
            </a:r>
            <a:r>
              <a:rPr lang="en-US" sz="1800">
                <a:solidFill>
                  <a:srgbClr val="000000"/>
                </a:solidFill>
                <a:latin typeface="Lato"/>
                <a:ea typeface="Lato"/>
                <a:cs typeface="Lato"/>
                <a:sym typeface="Lato"/>
              </a:rPr>
              <a:t>prove estimation during sprint </a:t>
            </a:r>
          </a:p>
          <a:p>
            <a:pPr algn="ctr">
              <a:lnSpc>
                <a:spcPts val="2520"/>
              </a:lnSpc>
            </a:pPr>
            <a:r>
              <a:rPr lang="en-US" sz="1800">
                <a:solidFill>
                  <a:srgbClr val="000000"/>
                </a:solidFill>
                <a:latin typeface="Lato"/>
                <a:ea typeface="Lato"/>
                <a:cs typeface="Lato"/>
                <a:sym typeface="Lato"/>
              </a:rPr>
              <a:t>planning</a:t>
            </a:r>
          </a:p>
        </p:txBody>
      </p:sp>
      <p:grpSp>
        <p:nvGrpSpPr>
          <p:cNvPr name="Group 42" id="42"/>
          <p:cNvGrpSpPr/>
          <p:nvPr/>
        </p:nvGrpSpPr>
        <p:grpSpPr>
          <a:xfrm rot="0">
            <a:off x="143691" y="9683062"/>
            <a:ext cx="2003497" cy="422688"/>
            <a:chOff x="0" y="0"/>
            <a:chExt cx="2671330" cy="563585"/>
          </a:xfrm>
        </p:grpSpPr>
        <p:sp>
          <p:nvSpPr>
            <p:cNvPr name="Freeform 43" id="43"/>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4" id="44"/>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045869" y="4524375"/>
            <a:ext cx="8139113" cy="1076325"/>
          </a:xfrm>
          <a:prstGeom prst="rect">
            <a:avLst/>
          </a:prstGeom>
        </p:spPr>
        <p:txBody>
          <a:bodyPr anchor="t" rtlCol="false" tIns="0" lIns="0" bIns="0" rIns="0">
            <a:spAutoFit/>
          </a:bodyPr>
          <a:lstStyle/>
          <a:p>
            <a:pPr algn="l" marL="0" indent="0" lvl="0">
              <a:lnSpc>
                <a:spcPts val="8400"/>
              </a:lnSpc>
            </a:pPr>
            <a:r>
              <a:rPr lang="en-US" b="true" sz="6000" spc="300" u="sng">
                <a:solidFill>
                  <a:srgbClr val="000000"/>
                </a:solidFill>
                <a:latin typeface="Helios Extended Bold"/>
                <a:ea typeface="Helios Extended Bold"/>
                <a:cs typeface="Helios Extended Bold"/>
                <a:sym typeface="Helios Extended Bold"/>
                <a:hlinkClick r:id="rId2" tooltip="https://github.com/htmw/2026S-Nexus/wiki"/>
              </a:rPr>
              <a:t>WIKI PAGE LINK</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045869" y="4524375"/>
            <a:ext cx="8139113" cy="1076325"/>
          </a:xfrm>
          <a:prstGeom prst="rect">
            <a:avLst/>
          </a:prstGeom>
        </p:spPr>
        <p:txBody>
          <a:bodyPr anchor="t" rtlCol="false" tIns="0" lIns="0" bIns="0" rIns="0">
            <a:spAutoFit/>
          </a:bodyPr>
          <a:lstStyle/>
          <a:p>
            <a:pPr algn="ctr" marL="0" indent="0" lvl="0">
              <a:lnSpc>
                <a:spcPts val="8400"/>
              </a:lnSpc>
            </a:pPr>
            <a:r>
              <a:rPr lang="en-US" b="true" sz="6000" spc="300" u="sng">
                <a:solidFill>
                  <a:srgbClr val="000000"/>
                </a:solidFill>
                <a:latin typeface="Helios Extended Bold"/>
                <a:ea typeface="Helios Extended Bold"/>
                <a:cs typeface="Helios Extended Bold"/>
                <a:sym typeface="Helios Extended Bold"/>
                <a:hlinkClick r:id="rId2" tooltip="https://youtu.be/KfUrnQxYIyY?si=NbWz5MAF7ZNi5ot7"/>
              </a:rPr>
              <a:t> DEMO</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944078" y="1326430"/>
            <a:ext cx="21203378" cy="7634140"/>
            <a:chOff x="0" y="0"/>
            <a:chExt cx="1128752" cy="406400"/>
          </a:xfrm>
        </p:grpSpPr>
        <p:sp>
          <p:nvSpPr>
            <p:cNvPr name="Freeform 3" id="3"/>
            <p:cNvSpPr/>
            <p:nvPr/>
          </p:nvSpPr>
          <p:spPr>
            <a:xfrm flipH="false" flipV="false" rot="0">
              <a:off x="0" y="0"/>
              <a:ext cx="1128752" cy="406400"/>
            </a:xfrm>
            <a:custGeom>
              <a:avLst/>
              <a:gdLst/>
              <a:ahLst/>
              <a:cxnLst/>
              <a:rect r="r" b="b" t="t" l="l"/>
              <a:pathLst>
                <a:path h="406400" w="1128752">
                  <a:moveTo>
                    <a:pt x="925552" y="0"/>
                  </a:moveTo>
                  <a:cubicBezTo>
                    <a:pt x="1037776" y="0"/>
                    <a:pt x="1128752" y="90976"/>
                    <a:pt x="1128752" y="203200"/>
                  </a:cubicBezTo>
                  <a:cubicBezTo>
                    <a:pt x="1128752" y="315424"/>
                    <a:pt x="1037776" y="406400"/>
                    <a:pt x="925552" y="406400"/>
                  </a:cubicBezTo>
                  <a:lnTo>
                    <a:pt x="203200" y="406400"/>
                  </a:lnTo>
                  <a:cubicBezTo>
                    <a:pt x="90976" y="406400"/>
                    <a:pt x="0" y="315424"/>
                    <a:pt x="0" y="203200"/>
                  </a:cubicBezTo>
                  <a:cubicBezTo>
                    <a:pt x="0" y="90976"/>
                    <a:pt x="90976" y="0"/>
                    <a:pt x="203200" y="0"/>
                  </a:cubicBezTo>
                  <a:close/>
                </a:path>
              </a:pathLst>
            </a:custGeom>
            <a:solidFill>
              <a:srgbClr val="F2F1F1">
                <a:alpha val="80000"/>
              </a:srgbClr>
            </a:solidFill>
          </p:spPr>
        </p:sp>
        <p:sp>
          <p:nvSpPr>
            <p:cNvPr name="TextBox 4" id="4"/>
            <p:cNvSpPr txBox="true"/>
            <p:nvPr/>
          </p:nvSpPr>
          <p:spPr>
            <a:xfrm>
              <a:off x="0" y="-47625"/>
              <a:ext cx="1128752" cy="454025"/>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7600950" y="6932479"/>
            <a:ext cx="3086100" cy="804358"/>
            <a:chOff x="0" y="0"/>
            <a:chExt cx="812800" cy="211847"/>
          </a:xfrm>
        </p:grpSpPr>
        <p:sp>
          <p:nvSpPr>
            <p:cNvPr name="Freeform 6" id="6"/>
            <p:cNvSpPr/>
            <p:nvPr/>
          </p:nvSpPr>
          <p:spPr>
            <a:xfrm flipH="false" flipV="false" rot="0">
              <a:off x="0" y="0"/>
              <a:ext cx="812800" cy="211847"/>
            </a:xfrm>
            <a:custGeom>
              <a:avLst/>
              <a:gdLst/>
              <a:ahLst/>
              <a:cxnLst/>
              <a:rect r="r" b="b" t="t" l="l"/>
              <a:pathLst>
                <a:path h="211847" w="812800">
                  <a:moveTo>
                    <a:pt x="50173" y="0"/>
                  </a:moveTo>
                  <a:lnTo>
                    <a:pt x="762627" y="0"/>
                  </a:lnTo>
                  <a:cubicBezTo>
                    <a:pt x="775934" y="0"/>
                    <a:pt x="788695" y="5286"/>
                    <a:pt x="798105" y="14695"/>
                  </a:cubicBezTo>
                  <a:cubicBezTo>
                    <a:pt x="807514" y="24105"/>
                    <a:pt x="812800" y="36866"/>
                    <a:pt x="812800" y="50173"/>
                  </a:cubicBezTo>
                  <a:lnTo>
                    <a:pt x="812800" y="161675"/>
                  </a:lnTo>
                  <a:cubicBezTo>
                    <a:pt x="812800" y="174981"/>
                    <a:pt x="807514" y="187743"/>
                    <a:pt x="798105" y="197152"/>
                  </a:cubicBezTo>
                  <a:cubicBezTo>
                    <a:pt x="788695" y="206561"/>
                    <a:pt x="775934" y="211847"/>
                    <a:pt x="762627" y="211847"/>
                  </a:cubicBezTo>
                  <a:lnTo>
                    <a:pt x="50173" y="211847"/>
                  </a:lnTo>
                  <a:cubicBezTo>
                    <a:pt x="36866" y="211847"/>
                    <a:pt x="24105" y="206561"/>
                    <a:pt x="14695" y="197152"/>
                  </a:cubicBezTo>
                  <a:cubicBezTo>
                    <a:pt x="5286" y="187743"/>
                    <a:pt x="0" y="174981"/>
                    <a:pt x="0" y="161675"/>
                  </a:cubicBezTo>
                  <a:lnTo>
                    <a:pt x="0" y="50173"/>
                  </a:lnTo>
                  <a:cubicBezTo>
                    <a:pt x="0" y="36866"/>
                    <a:pt x="5286" y="24105"/>
                    <a:pt x="14695" y="14695"/>
                  </a:cubicBezTo>
                  <a:cubicBezTo>
                    <a:pt x="24105" y="5286"/>
                    <a:pt x="36866" y="0"/>
                    <a:pt x="50173" y="0"/>
                  </a:cubicBezTo>
                  <a:close/>
                </a:path>
              </a:pathLst>
            </a:custGeom>
            <a:solidFill>
              <a:srgbClr val="006D77"/>
            </a:solidFill>
          </p:spPr>
        </p:sp>
        <p:sp>
          <p:nvSpPr>
            <p:cNvPr name="TextBox 7" id="7"/>
            <p:cNvSpPr txBox="true"/>
            <p:nvPr/>
          </p:nvSpPr>
          <p:spPr>
            <a:xfrm>
              <a:off x="0" y="-47625"/>
              <a:ext cx="812800" cy="259472"/>
            </a:xfrm>
            <a:prstGeom prst="rect">
              <a:avLst/>
            </a:prstGeom>
          </p:spPr>
          <p:txBody>
            <a:bodyPr anchor="ctr" rtlCol="false" tIns="50800" lIns="50800" bIns="50800" rIns="50800"/>
            <a:lstStyle/>
            <a:p>
              <a:pPr algn="ctr">
                <a:lnSpc>
                  <a:spcPts val="3079"/>
                </a:lnSpc>
              </a:pPr>
              <a:r>
                <a:rPr lang="en-US" sz="2199" spc="219">
                  <a:solidFill>
                    <a:srgbClr val="FFFFFF"/>
                  </a:solidFill>
                  <a:latin typeface="Lato"/>
                  <a:ea typeface="Lato"/>
                  <a:cs typeface="Lato"/>
                  <a:sym typeface="Lato"/>
                </a:rPr>
                <a:t>17 April, 2026</a:t>
              </a:r>
            </a:p>
          </p:txBody>
        </p:sp>
      </p:grpSp>
      <p:sp>
        <p:nvSpPr>
          <p:cNvPr name="Freeform 8" id="8"/>
          <p:cNvSpPr/>
          <p:nvPr/>
        </p:nvSpPr>
        <p:spPr>
          <a:xfrm flipH="false" flipV="false" rot="0">
            <a:off x="7591425" y="1188033"/>
            <a:ext cx="2889609" cy="2889609"/>
          </a:xfrm>
          <a:custGeom>
            <a:avLst/>
            <a:gdLst/>
            <a:ahLst/>
            <a:cxnLst/>
            <a:rect r="r" b="b" t="t" l="l"/>
            <a:pathLst>
              <a:path h="2889609" w="2889609">
                <a:moveTo>
                  <a:pt x="0" y="0"/>
                </a:moveTo>
                <a:lnTo>
                  <a:pt x="2889609" y="0"/>
                </a:lnTo>
                <a:lnTo>
                  <a:pt x="2889609" y="2889609"/>
                </a:lnTo>
                <a:lnTo>
                  <a:pt x="0" y="2889609"/>
                </a:lnTo>
                <a:lnTo>
                  <a:pt x="0" y="0"/>
                </a:lnTo>
                <a:close/>
              </a:path>
            </a:pathLst>
          </a:custGeom>
          <a:blipFill>
            <a:blip r:embed="rId2"/>
            <a:stretch>
              <a:fillRect l="0" t="0" r="0" b="0"/>
            </a:stretch>
          </a:blipFill>
        </p:spPr>
      </p:sp>
      <p:sp>
        <p:nvSpPr>
          <p:cNvPr name="TextBox 9" id="9"/>
          <p:cNvSpPr txBox="true"/>
          <p:nvPr/>
        </p:nvSpPr>
        <p:spPr>
          <a:xfrm rot="0">
            <a:off x="2958126" y="4454396"/>
            <a:ext cx="12371749" cy="1076325"/>
          </a:xfrm>
          <a:prstGeom prst="rect">
            <a:avLst/>
          </a:prstGeom>
        </p:spPr>
        <p:txBody>
          <a:bodyPr anchor="t" rtlCol="false" tIns="0" lIns="0" bIns="0" rIns="0">
            <a:spAutoFit/>
          </a:bodyPr>
          <a:lstStyle/>
          <a:p>
            <a:pPr algn="ctr" marL="0" indent="0" lvl="0">
              <a:lnSpc>
                <a:spcPts val="8400"/>
              </a:lnSpc>
            </a:pPr>
            <a:r>
              <a:rPr lang="en-US" b="true" sz="6000" spc="300">
                <a:solidFill>
                  <a:srgbClr val="000000"/>
                </a:solidFill>
                <a:latin typeface="Helios Extended Bold"/>
                <a:ea typeface="Helios Extended Bold"/>
                <a:cs typeface="Helios Extended Bold"/>
                <a:sym typeface="Helios Extended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DAHGaY8xY90</dc:identifier>
  <dcterms:modified xsi:type="dcterms:W3CDTF">2011-08-01T06:04:30Z</dcterms:modified>
  <cp:revision>1</cp:revision>
  <dc:title>Mind Mirror Sprint 2</dc:title>
</cp:coreProperties>
</file>